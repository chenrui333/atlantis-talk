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Masters/conference_slideMaster1.xml" ContentType="application/vnd.openxmlformats-officedocument.presentationml.slideMaster+xml"/>
  <Override PartName="/ppt/theme/conference_theme1.xml" ContentType="application/vnd.openxmlformats-officedocument.theme+xml"/>
  <Override PartName="/ppt/slideLayouts/conference_slideLayout1.xml" ContentType="application/vnd.openxmlformats-officedocument.presentationml.slideLayout+xml"/>
  <Override PartName="/ppt/slideLayouts/conference_slideLayout2.xml" ContentType="application/vnd.openxmlformats-officedocument.presentationml.slideLayout+xml"/>
  <Override PartName="/ppt/slideLayouts/conference_slideLayout3.xml" ContentType="application/vnd.openxmlformats-officedocument.presentationml.slideLayout+xml"/>
  <Override PartName="/ppt/slideLayouts/conference_slideLayout4.xml" ContentType="application/vnd.openxmlformats-officedocument.presentationml.slideLayout+xml"/>
  <Override PartName="/ppt/slideLayouts/conference_slideLayout5.xml" ContentType="application/vnd.openxmlformats-officedocument.presentationml.slideLayout+xml"/>
  <Override PartName="/ppt/slideLayouts/conference_slideLayout6.xml" ContentType="application/vnd.openxmlformats-officedocument.presentationml.slideLayout+xml"/>
  <Override PartName="/ppt/slideLayouts/conference_slideLayout7.xml" ContentType="application/vnd.openxmlformats-officedocument.presentationml.slideLayout+xml"/>
  <Override PartName="/ppt/slideLayouts/conference_slideLayout8.xml" ContentType="application/vnd.openxmlformats-officedocument.presentationml.slideLayout+xml"/>
  <Override PartName="/ppt/slideLayouts/conference_slideLayout9.xml" ContentType="application/vnd.openxmlformats-officedocument.presentationml.slideLayout+xml"/>
  <Override PartName="/ppt/slideLayouts/conference_slideLayout10.xml" ContentType="application/vnd.openxmlformats-officedocument.presentationml.slideLayout+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conference_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0:00–0:20 (20 seconds)
Chinese characters: 58; see timing.md for English terms
提示: 先定义 Atlantis。
大家好，我是 Rui，Atlantis 的维护者。Atlantis 是一个开源服务，让团队在拉取请求里完成 Terraform 和 OpenTofu 的计划与执行。核心想法很简单：基础设施变更，也应该进入代码评审流程。
Transition: Advance after the final sentence.
Emergency cuts:
None; retain this slide’s narration.
Reference notes (not spoken):
C01/C02: Atlantis definition and maintainer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0:20–1:10 (50 seconds)
Chinese characters: 114; see timing.md for English terms
提示: 沿图只走一遍；区分编排与执行。
很多团队已经有基础设施自动化。Atlantis 解决的是：把计划、评审、执行和结果放在同一个流程里。开发者提交拉取请求，Git 平台发出 webhook，Atlantis 调用 Terraform 或 OpenTofu 生成计划，再贴回请求。大家一起看代码和计划，有权限的人发出 atlantis apply。Atlantis 检查配置好的条件，执行变更，再回传结果。它负责组织流程，底层工具负责云 API 和状态管理。
Transition: Advance after the final sentence.
Emergency cuts:
None; retain this slide’s narration.
Reference notes (not spoken):
C01/C05/C06: Atlantis orchestrates VCS interaction, affected-project workflows, command requirements and reporting. Terraform/OpenTofu handles provider APIs and remote state/backend operations. The diagram combines plan and apply result arrows; they are separate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1:10–1:45 (35 seconds)
Chinese characters: 98; see timing.md for English terms
提示: 变更小不等于安全。
看一个数据库扩容的例子：不新增、不销毁，只修改一个资源。但变更小，不代表风险小。评审者要看完整计划，确认是否重建实例、是否影响服务。批准、执行请求和结果，都在这段对话中。执行失败，可以在原请求里修正。这个例子是在合并之前执行。
Transition: Advance after the final sentence.
Emergency cuts:
执行失败，可以在原请求里修正。
Reference notes (not spoken):
C06: Illustrative PR, configured approval, apply before merge; small changes still require full-plan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1:45–2:10 (25 seconds)
Chinese characters: 78; see timing.md for English terms
提示: 开发者提议，平台规则控制。
对平台团队来说，这是一个协作模式：开发者提议变更，平台规则控制执行，计划和结果公开可见。凭据与执行集中管理，锁定机制帮助协调并发变更。但集中执行仍然需要可信仓库和合理权限。
Transition: Advance after the final sentence.
Emergency cuts:
None; retain this slide’s narration.
Reference notes (not spoken):
C18: Provider credentials are supplied to the Atlantis execution environment; this does not assert that all developer credentials disappear. Repo/server configuration controls requirements. Atlantis locks a directory/workspace across PRs; this is separate from Terraform state locking. Plan execution also needs trusted repositories and restricted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2:10–2:45 (35 seconds)
Chinese characters: 66; see timing.md for English terms
提示: Git 接入与云 Provider 是两层。
这里要分清两种集成。上游接 Git 平台，比如自建 GitLab，也支持 Gitea 和 Forgejo。下游由 Terraform 或 OpenTofu 的 Provider 连接阿里云、腾讯云等基础设施。这不是 Atlantis 自带的云接口；具体版本、资源范围和凭据，要按 Provider 文档配置。
Transition: Advance after the final sentence.
Emergency cuts:
这不是 Atlantis 自带的云接口；具体版本、资源范围和凭据，要按 Provider 文档配置。
Reference notes (not spoken):
P01–P03/C04/C18: Current hosts: GitHub, GitLab, Bitbucket Cloud and Server, Azure DevOps, Gitea and compatible forks such as Forgejo. Examples on screen are not exhaustive. Terraform and OpenTofu are selectable distributions. Terragrunt requires its binary and custom workflow commands; it is not a peer provider. Project discovery/planning, apply coordination, locking and VCS comments are purpose-built behaviors, not capabilities exclusive to Atlantis. CN01–CN03: Alibaba Cloud and Tencent Cloud are provider targets, not Atlantis plugins. Gitee is not listed in official Git-host requirements; Git protocol support does not imply webhook/API compatibility. This does not rule out third-party adapters or forks.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2:45–3:10 (25 seconds)
Chinese characters: 63; see timing.md for English terms
提示: 策略、成本是配置后的扩展。
平台规则也可以扩展。比如通过 Conftest 检查策略，用 Infracost 提供成本信息，或通过自定义工作流接入 Terragrunt。这些是可以组合的工具，需要配置，不是安装之后就自动开启的检查。
Transition: Advance after the final sentence.
Emergency cuts:
这些是可以组合的工具，需要配置，不是安装之后就自动开启的检查。
Reference notes (not spoken):
P04/P05/P07: Examples, not an exhaustive ecosystem: Conftest policy evaluation and Infracost cost estimation. Custom workflow run steps invoke external tools. Server-side pre/post workflow hooks support surrounding scripts; unlike workflow output, hooks do not automatically post their output as PR comments. Pre-hook errors do not block workflows by default; fail-on-pre-workflow-hook-error changes that behavior. Infracost integration requires configured tooling/hooks or workflow steps; it is not enabled by installing Atlantis. Custom validation or notification scripts are possible mechanisms, not bundled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3:10–3:35 (25 seconds)
Chinese characters: 61; see timing.md for English terms
提示: 运行位置不决定管理目标。
Atlantis 本身是自托管服务，可以用官方 Helm chart、容器镜像，或者二进制部署。Kubernetes 是一种运行选择，不是前提。它运行在哪里，和它能管理哪些基础设施，是两回事；后者由 Provider 决定。
Transition: Advance after the final sentence.
Emergency cuts:
None; retain this slide’s narration.
Reference notes (not spoken):
P06: Official Helm chart, official container image and Go binary deployment. Hosting is distinct from Terraform/OpenTofu provider targets. No cloud-provider compatibility list is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3:35–4:05 (30 seconds)
Chinese characters: 79; see timing.md for English terms
提示: 强调 2024 年和 354 份回复。
生态也有社区反馈作为参考。二〇二四年调查收到三百五十四份回复。GitHub 最多，GitLab 也有相当一部分。Terraform 占主导，约一半还使用 Terragrunt，OpenTofu 也在获得采用。不同工具组合，共享同一套协作流程。这是历史调查，不是市场份额。
Transition: Advance after the final sentence.
Emergency cuts:
不同工具组合，共享同一套协作流程。
Reference notes (not spoken):
S01–S05: Official 2024 survey: 354 responses, not organizations or market share. GitHub most common; sizeable GitLab, then Bitbucket/others. Terraform dominant; about half additionally use Terragrunt; OpenTofu gaining ground. Kubernetes and/or AWS common. Published Markdown links WebP chart images, with no raw numeric table or downloadable dataset; no chart estimates used. Visible examples summarize breadth; complete qualitative findings remain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4:05–4:25 (20 seconds)
Chinese characters: 68; see timing.md for English terms
提示: 规划不等于已发布。
接下来，项目正在讨论走向一点零的兼容性约定：稳定性、向后兼容，以及破坏性变更应该对应主版本升级。这还是规划讨论，不是发布公告，也没有在这里承诺发布日期。
Transition: Advance after the final sentence.
Emergency cuts:
None; retain this slide’s narration.
Reference notes (not spoken):
R01: Draft PR #5296 says 1.0 is not expected to differ from a usual 0.x feature release; it signals stability/backwards compatibility. Proposed semantics: bug fixes patch, features minor, backwards-incompatible changes major. Server settings, repo config, API and core execution behavior are examples of compatibility boundaries. Draft and unmerged; no release date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4:25–4:55 (30 seconds)
Chinese characters: 86; see timing.md for English terms
提示: 指向社区与展台；结束后保持页面。
欢迎从文档开始，也欢迎贡献代码、文档，分享中国团队的使用经验。社区议程和日历链接都在这里。周二十点半到下午两点半，欢迎来 Grand Ballroom One 的 T 十展台交流。基础设施就是代码。先计划，再评审，再执行。都在拉取请求里完成。
Transition: Hold the closing slide.
Emergency cuts:
社区议程和日历链接都在这里。
Reference notes (not spoken):
E03: Project Pavilion T-10, Tuesday September 8, 10:30–14:30, Grand Ballroom I. The slot extends into afternoon. This does not promise Rui is continuously present during the whole pavilion slot. Community meetings: every two weeks on Wednesday at 16:00 UTC. Official agenda/notes and calendar access: https://docs.google.com/document/d/1EzseHmT4Zarj-_7MO8ud5mHByIJGIHS7JdoNNK9ZckU/edit (verified against the public document and official v0.37.0 release announcement). Rui reconfirmed Grand Ballroom I, T-10, Tuesday 10:30–14:30 for China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conference_slideLayout1.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2.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3.xml.rels><?xml version="1.0" encoding="utf-8"?><Relationships xmlns="http://schemas.openxmlformats.org/package/2006/relationships"><Relationship Id="rId3" Type="http://schemas.openxmlformats.org/officeDocument/2006/relationships/image" Target="../media/conference_image5.png"/><Relationship Id="rId2" Type="http://schemas.openxmlformats.org/officeDocument/2006/relationships/image" Target="../media/conference_image4.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4.xml.rels><?xml version="1.0" encoding="utf-8"?><Relationships xmlns="http://schemas.openxmlformats.org/package/2006/relationships"><Relationship Id="rId3" Type="http://schemas.openxmlformats.org/officeDocument/2006/relationships/image" Target="../media/conference_image7.png"/><Relationship Id="rId2" Type="http://schemas.openxmlformats.org/officeDocument/2006/relationships/image" Target="../media/conference_image6.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5.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6.xml.rels><?xml version="1.0" encoding="utf-8"?><Relationships xmlns="http://schemas.openxmlformats.org/package/2006/relationships"><Relationship Id="rId3" Type="http://schemas.openxmlformats.org/officeDocument/2006/relationships/image" Target="../media/conference_image3.svg"/><Relationship Id="rId2" Type="http://schemas.openxmlformats.org/officeDocument/2006/relationships/image" Target="../media/conference_image2.png"/><Relationship Id="rId1" Type="http://schemas.openxmlformats.org/officeDocument/2006/relationships/slideMaster" Target="../slideMasters/conference_slideMaster1.xml"/></Relationships>
</file>

<file path=ppt/slideLayouts/_rels/conference_slideLayout7.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8.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9.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10.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0.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conference_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083E4F"/>
        </a:solidFill>
        <a:effectLst/>
      </p:bgPr>
    </p:bg>
    <p:spTree>
      <p:nvGrpSpPr>
        <p:cNvPr id="1" name="Shape 9"/>
        <p:cNvGrpSpPr/>
        <p:nvPr/>
      </p:nvGrpSpPr>
      <p:grpSpPr>
        <a:xfrm>
          <a:off x="0" y="0"/>
          <a:ext cx="0" cy="0"/>
          <a:chOff x="0" y="0"/>
          <a:chExt cx="0" cy="0"/>
        </a:xfrm>
      </p:grpSpPr>
      <p:grpSp>
        <p:nvGrpSpPr>
          <p:cNvPr id="10" name="Google Shape;10;p12"/>
          <p:cNvGrpSpPr/>
          <p:nvPr/>
        </p:nvGrpSpPr>
        <p:grpSpPr>
          <a:xfrm>
            <a:off x="0" y="0"/>
            <a:ext cx="12192000" cy="6861416"/>
            <a:chOff x="0" y="0"/>
            <a:chExt cx="12192000" cy="6861416"/>
          </a:xfrm>
        </p:grpSpPr>
        <p:pic>
          <p:nvPicPr>
            <p:cNvPr id="11" name="Google Shape;11;p12"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12" name="Google Shape;12;p12"/>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13" name="Google Shape;13;p12"/>
          <p:cNvSpPr txBox="1">
            <a:spLocks noGrp="1"/>
          </p:cNvSpPr>
          <p:nvPr>
            <p:ph type="ctrTitle"/>
          </p:nvPr>
        </p:nvSpPr>
        <p:spPr>
          <a:xfrm>
            <a:off x="414953" y="1668595"/>
            <a:ext cx="10680268" cy="1940237"/>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14" name="Google Shape;14;p12"/>
          <p:cNvSpPr txBox="1">
            <a:spLocks noGrp="1"/>
          </p:cNvSpPr>
          <p:nvPr>
            <p:ph type="subTitle" idx="1"/>
          </p:nvPr>
        </p:nvSpPr>
        <p:spPr>
          <a:xfrm>
            <a:off x="414952" y="3608832"/>
            <a:ext cx="10680268" cy="812339"/>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sp>
        <p:nvSpPr>
          <p:cNvPr id="15" name="Google Shape;15;p12"/>
          <p:cNvSpPr txBox="1"/>
          <p:nvPr/>
        </p:nvSpPr>
        <p:spPr>
          <a:xfrm>
            <a:off x="6096000" y="238043"/>
            <a:ext cx="5673420" cy="615499"/>
          </a:xfrm>
          <a:prstGeom prst="rect">
            <a:avLst/>
          </a:prstGeom>
          <a:noFill/>
          <a:ln>
            <a:noFill/>
          </a:ln>
        </p:spPr>
        <p:txBody>
          <a:bodyPr spcFirstLastPara="1" wrap="square" lIns="121900" tIns="60933" rIns="121900" bIns="60933" anchor="t" anchorCtr="0">
            <a:spAutoFit/>
          </a:bodyPr>
          <a:lstStyle/>
          <a:p>
            <a:pPr marL="0" marR="0" lvl="0" indent="0" algn="r" defTabSz="12192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lt1"/>
                </a:solidFill>
                <a:latin typeface="Arial"/>
                <a:ea typeface="Arial"/>
                <a:cs typeface="Arial"/>
                <a:sym typeface="Arial"/>
              </a:rPr>
              <a:t>#</a:t>
            </a:r>
            <a:r>
              <a:rPr lang="en" sz="1600" b="0" i="0" u="none" strike="noStrike" cap="none" dirty="0" err="1">
                <a:solidFill>
                  <a:schemeClr val="lt1"/>
                </a:solidFill>
                <a:latin typeface="Arial"/>
                <a:ea typeface="Arial"/>
                <a:cs typeface="Arial"/>
                <a:sym typeface="Arial"/>
              </a:rPr>
              <a:t>KubeCon</a:t>
            </a:r>
            <a:r>
              <a:rPr lang="en" sz="1600" b="0" i="0" u="none" strike="noStrike" cap="none" dirty="0">
                <a:solidFill>
                  <a:schemeClr val="lt1"/>
                </a:solidFill>
                <a:latin typeface="Arial"/>
                <a:ea typeface="Arial"/>
                <a:cs typeface="Arial"/>
                <a:sym typeface="Arial"/>
              </a:rPr>
              <a:t> #</a:t>
            </a:r>
            <a:r>
              <a:rPr lang="en" sz="1600" b="0" i="0" u="none" strike="noStrike" cap="none" dirty="0" err="1">
                <a:solidFill>
                  <a:schemeClr val="lt1"/>
                </a:solidFill>
                <a:latin typeface="Arial"/>
                <a:ea typeface="Arial"/>
                <a:cs typeface="Arial"/>
                <a:sym typeface="Arial"/>
              </a:rPr>
              <a:t>CloudNativeCon</a:t>
            </a:r>
            <a:br>
              <a:rPr lang="en" sz="1600" b="0" i="0" u="none" strike="noStrike" cap="none" dirty="0">
                <a:solidFill>
                  <a:schemeClr val="lt1"/>
                </a:solidFill>
                <a:latin typeface="Arial"/>
                <a:ea typeface="Arial"/>
                <a:cs typeface="Arial"/>
                <a:sym typeface="Arial"/>
              </a:rPr>
            </a:br>
            <a:r>
              <a:rPr lang="en-GB" sz="1600" b="0" i="0" u="none" strike="noStrike" cap="none" dirty="0">
                <a:solidFill>
                  <a:schemeClr val="lt1"/>
                </a:solidFill>
                <a:latin typeface="Arial"/>
                <a:ea typeface="Arial"/>
                <a:cs typeface="Arial"/>
                <a:sym typeface="Arial"/>
              </a:rPr>
              <a:t>#</a:t>
            </a:r>
            <a:r>
              <a:rPr lang="en-GB" sz="1600" b="0" i="0" u="none" strike="noStrike" cap="none" dirty="0" err="1">
                <a:solidFill>
                  <a:schemeClr val="lt1"/>
                </a:solidFill>
                <a:latin typeface="Arial"/>
                <a:ea typeface="Arial"/>
                <a:cs typeface="Arial"/>
                <a:sym typeface="Arial"/>
              </a:rPr>
              <a:t>OpenInfraSummit</a:t>
            </a:r>
            <a:r>
              <a:rPr lang="en-GB" sz="1600" b="0" i="0" u="none" strike="noStrike" cap="none" dirty="0">
                <a:solidFill>
                  <a:schemeClr val="lt1"/>
                </a:solidFill>
                <a:latin typeface="Arial"/>
                <a:ea typeface="Arial"/>
                <a:cs typeface="Arial"/>
                <a:sym typeface="Arial"/>
              </a:rPr>
              <a:t> #</a:t>
            </a:r>
            <a:r>
              <a:rPr lang="en-GB" sz="1600" b="0" i="0" u="none" strike="noStrike" cap="none" dirty="0" err="1">
                <a:solidFill>
                  <a:schemeClr val="lt1"/>
                </a:solidFill>
                <a:latin typeface="Arial"/>
                <a:ea typeface="Arial"/>
                <a:cs typeface="Arial"/>
                <a:sym typeface="Arial"/>
              </a:rPr>
              <a:t>PyTorchCon</a:t>
            </a:r>
            <a:endParaRPr sz="1600" b="0" i="0" u="none" strike="noStrike" cap="none" dirty="0">
              <a:solidFill>
                <a:schemeClr val="lt1"/>
              </a:solidFill>
              <a:latin typeface="Arial"/>
              <a:ea typeface="Arial"/>
              <a:cs typeface="Arial"/>
              <a:sym typeface="Arial"/>
            </a:endParaRPr>
          </a:p>
        </p:txBody>
      </p:sp>
      <p:pic>
        <p:nvPicPr>
          <p:cNvPr id="4" name="Graphic 3">
            <a:extLst>
              <a:ext uri="{FF2B5EF4-FFF2-40B4-BE49-F238E27FC236}">
                <a16:creationId xmlns:a16="http://schemas.microsoft.com/office/drawing/2014/main" id="{626DCC9B-2A07-45D4-4017-DC6D4710845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083E4F"/>
        </a:solidFill>
        <a:effectLst/>
      </p:bgPr>
    </p:bg>
    <p:spTree>
      <p:nvGrpSpPr>
        <p:cNvPr id="1" name="Shape 17"/>
        <p:cNvGrpSpPr/>
        <p:nvPr/>
      </p:nvGrpSpPr>
      <p:grpSpPr>
        <a:xfrm>
          <a:off x="0" y="0"/>
          <a:ext cx="0" cy="0"/>
          <a:chOff x="0" y="0"/>
          <a:chExt cx="0" cy="0"/>
        </a:xfrm>
      </p:grpSpPr>
      <p:grpSp>
        <p:nvGrpSpPr>
          <p:cNvPr id="18" name="Google Shape;18;p13"/>
          <p:cNvGrpSpPr/>
          <p:nvPr/>
        </p:nvGrpSpPr>
        <p:grpSpPr>
          <a:xfrm>
            <a:off x="0" y="0"/>
            <a:ext cx="12192000" cy="6861416"/>
            <a:chOff x="0" y="0"/>
            <a:chExt cx="12192000" cy="6861416"/>
          </a:xfrm>
        </p:grpSpPr>
        <p:pic>
          <p:nvPicPr>
            <p:cNvPr id="19" name="Google Shape;19;p13"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20" name="Google Shape;20;p13"/>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21" name="Google Shape;21;p13"/>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pic>
        <p:nvPicPr>
          <p:cNvPr id="2" name="Graphic 1">
            <a:extLst>
              <a:ext uri="{FF2B5EF4-FFF2-40B4-BE49-F238E27FC236}">
                <a16:creationId xmlns:a16="http://schemas.microsoft.com/office/drawing/2014/main" id="{FE2330E7-5222-0892-9C8D-9687A11B437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3.xml><?xml version="1.0" encoding="utf-8"?>
<p:sldLayout xmlns:a="http://schemas.openxmlformats.org/drawingml/2006/main" xmlns:r="http://schemas.openxmlformats.org/officeDocument/2006/relationships" xmlns:p="http://schemas.openxmlformats.org/presentationml/2006/main" matchingName="Section header">
  <p:cSld name="1_Section header">
    <p:bg>
      <p:bgPr>
        <a:solidFill>
          <a:srgbClr val="083E4F"/>
        </a:solidFill>
        <a:effectLst/>
      </p:bgPr>
    </p:bg>
    <p:spTree>
      <p:nvGrpSpPr>
        <p:cNvPr id="1" name="Shape 23"/>
        <p:cNvGrpSpPr/>
        <p:nvPr/>
      </p:nvGrpSpPr>
      <p:grpSpPr>
        <a:xfrm>
          <a:off x="0" y="0"/>
          <a:ext cx="0" cy="0"/>
          <a:chOff x="0" y="0"/>
          <a:chExt cx="0" cy="0"/>
        </a:xfrm>
      </p:grpSpPr>
      <p:sp>
        <p:nvSpPr>
          <p:cNvPr id="24" name="Google Shape;24;p14"/>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grpSp>
        <p:nvGrpSpPr>
          <p:cNvPr id="26" name="Google Shape;26;p14"/>
          <p:cNvGrpSpPr/>
          <p:nvPr/>
        </p:nvGrpSpPr>
        <p:grpSpPr>
          <a:xfrm>
            <a:off x="0" y="3998132"/>
            <a:ext cx="12192000" cy="2859868"/>
            <a:chOff x="133979" y="4029559"/>
            <a:chExt cx="12058021" cy="2828441"/>
          </a:xfrm>
        </p:grpSpPr>
        <p:pic>
          <p:nvPicPr>
            <p:cNvPr id="27" name="Google Shape;27;p14"/>
            <p:cNvPicPr preferRelativeResize="0"/>
            <p:nvPr/>
          </p:nvPicPr>
          <p:blipFill rotWithShape="1">
            <a:blip r:embed="rId2">
              <a:alphaModFix/>
            </a:blip>
            <a:srcRect r="14460"/>
            <a:stretch/>
          </p:blipFill>
          <p:spPr>
            <a:xfrm>
              <a:off x="3714663" y="4029559"/>
              <a:ext cx="8477337" cy="2828441"/>
            </a:xfrm>
            <a:prstGeom prst="rect">
              <a:avLst/>
            </a:prstGeom>
            <a:noFill/>
            <a:ln>
              <a:noFill/>
            </a:ln>
          </p:spPr>
        </p:pic>
        <p:pic>
          <p:nvPicPr>
            <p:cNvPr id="28" name="Google Shape;28;p14"/>
            <p:cNvPicPr preferRelativeResize="0"/>
            <p:nvPr/>
          </p:nvPicPr>
          <p:blipFill rotWithShape="1">
            <a:blip r:embed="rId3">
              <a:alphaModFix/>
            </a:blip>
            <a:srcRect l="64144"/>
            <a:stretch/>
          </p:blipFill>
          <p:spPr>
            <a:xfrm>
              <a:off x="133979" y="5443779"/>
              <a:ext cx="3580685" cy="1414221"/>
            </a:xfrm>
            <a:prstGeom prst="rect">
              <a:avLst/>
            </a:prstGeom>
            <a:noFill/>
            <a:ln>
              <a:noFill/>
            </a:ln>
          </p:spPr>
        </p:pic>
      </p:grpSp>
      <p:pic>
        <p:nvPicPr>
          <p:cNvPr id="2" name="Graphic 1">
            <a:extLst>
              <a:ext uri="{FF2B5EF4-FFF2-40B4-BE49-F238E27FC236}">
                <a16:creationId xmlns:a16="http://schemas.microsoft.com/office/drawing/2014/main" id="{53859CBE-6B18-D927-EE94-D8A879AB2F7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4.xml><?xml version="1.0" encoding="utf-8"?>
<p:sldLayout xmlns:a="http://schemas.openxmlformats.org/drawingml/2006/main" xmlns:r="http://schemas.openxmlformats.org/officeDocument/2006/relationships" xmlns:p="http://schemas.openxmlformats.org/presentationml/2006/main" matchingName="Section header">
  <p:cSld name="1_Section header 2">
    <p:bg>
      <p:bgPr>
        <a:solidFill>
          <a:srgbClr val="083E4F"/>
        </a:solidFill>
        <a:effectLst/>
      </p:bgPr>
    </p:bg>
    <p:spTree>
      <p:nvGrpSpPr>
        <p:cNvPr id="1" name="Shape 29"/>
        <p:cNvGrpSpPr/>
        <p:nvPr/>
      </p:nvGrpSpPr>
      <p:grpSpPr>
        <a:xfrm>
          <a:off x="0" y="0"/>
          <a:ext cx="0" cy="0"/>
          <a:chOff x="0" y="0"/>
          <a:chExt cx="0" cy="0"/>
        </a:xfrm>
      </p:grpSpPr>
      <p:sp>
        <p:nvSpPr>
          <p:cNvPr id="30" name="Google Shape;30;p15"/>
          <p:cNvSpPr txBox="1">
            <a:spLocks noGrp="1"/>
          </p:cNvSpPr>
          <p:nvPr>
            <p:ph type="ctrTitle"/>
          </p:nvPr>
        </p:nvSpPr>
        <p:spPr>
          <a:xfrm>
            <a:off x="531069" y="1831156"/>
            <a:ext cx="10680268" cy="2699251"/>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a:solidFill>
                  <a:schemeClr val="lt1"/>
                </a:solidFil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31" name="Google Shape;31;p15"/>
          <p:cNvSpPr txBox="1">
            <a:spLocks noGrp="1"/>
          </p:cNvSpPr>
          <p:nvPr>
            <p:ph type="subTitle" idx="1"/>
          </p:nvPr>
        </p:nvSpPr>
        <p:spPr>
          <a:xfrm>
            <a:off x="531068" y="4530407"/>
            <a:ext cx="10680268" cy="893572"/>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a:solidFill>
                  <a:schemeClr val="lt1"/>
                </a:solidFil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pic>
        <p:nvPicPr>
          <p:cNvPr id="32" name="Google Shape;32;p15"/>
          <p:cNvPicPr preferRelativeResize="0"/>
          <p:nvPr/>
        </p:nvPicPr>
        <p:blipFill rotWithShape="1">
          <a:blip r:embed="rId2">
            <a:alphaModFix/>
          </a:blip>
          <a:srcRect/>
          <a:stretch/>
        </p:blipFill>
        <p:spPr>
          <a:xfrm>
            <a:off x="6721097" y="604044"/>
            <a:ext cx="3454400" cy="1574800"/>
          </a:xfrm>
          <a:prstGeom prst="rect">
            <a:avLst/>
          </a:prstGeom>
          <a:noFill/>
          <a:ln>
            <a:noFill/>
          </a:ln>
        </p:spPr>
      </p:pic>
      <p:pic>
        <p:nvPicPr>
          <p:cNvPr id="33" name="Google Shape;33;p15"/>
          <p:cNvPicPr preferRelativeResize="0"/>
          <p:nvPr/>
        </p:nvPicPr>
        <p:blipFill rotWithShape="1">
          <a:blip r:embed="rId2">
            <a:alphaModFix/>
          </a:blip>
          <a:srcRect l="41002" b="9974"/>
          <a:stretch/>
        </p:blipFill>
        <p:spPr>
          <a:xfrm>
            <a:off x="-1" y="5440279"/>
            <a:ext cx="2038047" cy="1417721"/>
          </a:xfrm>
          <a:prstGeom prst="rect">
            <a:avLst/>
          </a:prstGeom>
          <a:noFill/>
          <a:ln>
            <a:noFill/>
          </a:ln>
        </p:spPr>
      </p:pic>
      <p:pic>
        <p:nvPicPr>
          <p:cNvPr id="35" name="Google Shape;35;p15"/>
          <p:cNvPicPr preferRelativeResize="0"/>
          <p:nvPr/>
        </p:nvPicPr>
        <p:blipFill rotWithShape="1">
          <a:blip r:embed="rId3">
            <a:alphaModFix/>
          </a:blip>
          <a:srcRect t="40037" r="35395" b="24793"/>
          <a:stretch/>
        </p:blipFill>
        <p:spPr>
          <a:xfrm>
            <a:off x="7853935" y="-1"/>
            <a:ext cx="4338067" cy="6858001"/>
          </a:xfrm>
          <a:prstGeom prst="rect">
            <a:avLst/>
          </a:prstGeom>
          <a:noFill/>
          <a:ln>
            <a:noFill/>
          </a:ln>
        </p:spPr>
      </p:pic>
      <p:pic>
        <p:nvPicPr>
          <p:cNvPr id="2" name="Graphic 1">
            <a:extLst>
              <a:ext uri="{FF2B5EF4-FFF2-40B4-BE49-F238E27FC236}">
                <a16:creationId xmlns:a16="http://schemas.microsoft.com/office/drawing/2014/main" id="{D0016DEC-A700-C8D3-8ED7-2F40D152C3D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chemeClr val="lt1"/>
        </a:solidFill>
        <a:effectLst/>
      </p:bgPr>
    </p:bg>
    <p:spTree>
      <p:nvGrpSpPr>
        <p:cNvPr id="1" name="Shape 36"/>
        <p:cNvGrpSpPr/>
        <p:nvPr/>
      </p:nvGrpSpPr>
      <p:grpSpPr>
        <a:xfrm>
          <a:off x="0" y="0"/>
          <a:ext cx="0" cy="0"/>
          <a:chOff x="0" y="0"/>
          <a:chExt cx="0" cy="0"/>
        </a:xfrm>
      </p:grpSpPr>
      <p:sp>
        <p:nvSpPr>
          <p:cNvPr id="37" name="Google Shape;37;p16"/>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38" name="Google Shape;38;p16"/>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39" name="Google Shape;39;p16"/>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4" name="Graphic 3">
            <a:extLst>
              <a:ext uri="{FF2B5EF4-FFF2-40B4-BE49-F238E27FC236}">
                <a16:creationId xmlns:a16="http://schemas.microsoft.com/office/drawing/2014/main" id="{6854D43B-6AB1-147E-1BEF-3B7B8CA552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6.xml><?xml version="1.0" encoding="utf-8"?>
<p:sldLayout xmlns:a="http://schemas.openxmlformats.org/drawingml/2006/main" xmlns:r="http://schemas.openxmlformats.org/officeDocument/2006/relationships" xmlns:p="http://schemas.openxmlformats.org/presentationml/2006/main" matchingName="Title and body">
  <p:cSld name="1_Title and body">
    <p:bg>
      <p:bgPr>
        <a:solidFill>
          <a:schemeClr val="lt1"/>
        </a:solidFill>
        <a:effectLst/>
      </p:bgPr>
    </p:bg>
    <p:spTree>
      <p:nvGrpSpPr>
        <p:cNvPr id="1" name="Shape 41"/>
        <p:cNvGrpSpPr/>
        <p:nvPr/>
      </p:nvGrpSpPr>
      <p:grpSpPr>
        <a:xfrm>
          <a:off x="0" y="0"/>
          <a:ext cx="0" cy="0"/>
          <a:chOff x="0" y="0"/>
          <a:chExt cx="0" cy="0"/>
        </a:xfrm>
      </p:grpSpPr>
      <p:sp>
        <p:nvSpPr>
          <p:cNvPr id="42" name="Google Shape;42;p17"/>
          <p:cNvSpPr/>
          <p:nvPr/>
        </p:nvSpPr>
        <p:spPr>
          <a:xfrm>
            <a:off x="9467" y="7500"/>
            <a:ext cx="12182533" cy="1397200"/>
          </a:xfrm>
          <a:prstGeom prst="rect">
            <a:avLst/>
          </a:prstGeom>
          <a:solidFill>
            <a:srgbClr val="083E4F"/>
          </a:solid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867"/>
              <a:buFont typeface="Arial"/>
              <a:buNone/>
            </a:pPr>
            <a:endParaRPr sz="1867" b="0" i="0" u="none" strike="noStrike" cap="none">
              <a:solidFill>
                <a:srgbClr val="000000"/>
              </a:solidFill>
              <a:latin typeface="Arial"/>
              <a:ea typeface="Arial"/>
              <a:cs typeface="Arial"/>
              <a:sym typeface="Arial"/>
            </a:endParaRPr>
          </a:p>
        </p:txBody>
      </p:sp>
      <p:sp>
        <p:nvSpPr>
          <p:cNvPr id="43" name="Google Shape;43;p17"/>
          <p:cNvSpPr txBox="1">
            <a:spLocks noGrp="1"/>
          </p:cNvSpPr>
          <p:nvPr>
            <p:ph type="title"/>
          </p:nvPr>
        </p:nvSpPr>
        <p:spPr>
          <a:xfrm>
            <a:off x="415601" y="0"/>
            <a:ext cx="6869864" cy="13972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3733"/>
              <a:buNone/>
              <a:defRPr>
                <a:solidFill>
                  <a:schemeClr val="lt1"/>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dirty="0"/>
          </a:p>
        </p:txBody>
      </p:sp>
      <p:sp>
        <p:nvSpPr>
          <p:cNvPr id="44" name="Google Shape;44;p17"/>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45" name="Google Shape;45;p17"/>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D78742C-108D-9408-D6DB-E8F8B8A0748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606375" y="361489"/>
            <a:ext cx="4264715" cy="697500"/>
          </a:xfrm>
          <a:prstGeom prst="rect">
            <a:avLst/>
          </a:prstGeom>
        </p:spPr>
      </p:pic>
    </p:spTree>
  </p:cSld>
  <p:clrMapOvr>
    <a:masterClrMapping/>
  </p:clrMapOvr>
</p:sldLayout>
</file>

<file path=ppt/slideLayouts/conference_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chemeClr val="lt1"/>
        </a:solidFill>
        <a:effectLst/>
      </p:bgPr>
    </p:bg>
    <p:spTree>
      <p:nvGrpSpPr>
        <p:cNvPr id="1" name="Shape 47"/>
        <p:cNvGrpSpPr/>
        <p:nvPr/>
      </p:nvGrpSpPr>
      <p:grpSpPr>
        <a:xfrm>
          <a:off x="0" y="0"/>
          <a:ext cx="0" cy="0"/>
          <a:chOff x="0" y="0"/>
          <a:chExt cx="0" cy="0"/>
        </a:xfrm>
      </p:grpSpPr>
      <p:sp>
        <p:nvSpPr>
          <p:cNvPr id="48" name="Google Shape;48;p18"/>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49" name="Google Shape;49;p18"/>
          <p:cNvSpPr txBox="1">
            <a:spLocks noGrp="1"/>
          </p:cNvSpPr>
          <p:nvPr>
            <p:ph type="body" idx="1"/>
          </p:nvPr>
        </p:nvSpPr>
        <p:spPr>
          <a:xfrm>
            <a:off x="4156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0" name="Google Shape;50;p18"/>
          <p:cNvSpPr txBox="1">
            <a:spLocks noGrp="1"/>
          </p:cNvSpPr>
          <p:nvPr>
            <p:ph type="body" idx="2"/>
          </p:nvPr>
        </p:nvSpPr>
        <p:spPr>
          <a:xfrm>
            <a:off x="64432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1" name="Google Shape;51;p18"/>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 name="Graphic 1">
            <a:extLst>
              <a:ext uri="{FF2B5EF4-FFF2-40B4-BE49-F238E27FC236}">
                <a16:creationId xmlns:a16="http://schemas.microsoft.com/office/drawing/2014/main" id="{5AE44EE6-2B97-D0C3-B694-1E87082403C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53"/>
        <p:cNvGrpSpPr/>
        <p:nvPr/>
      </p:nvGrpSpPr>
      <p:grpSpPr>
        <a:xfrm>
          <a:off x="0" y="0"/>
          <a:ext cx="0" cy="0"/>
          <a:chOff x="0" y="0"/>
          <a:chExt cx="0" cy="0"/>
        </a:xfrm>
      </p:grpSpPr>
      <p:sp>
        <p:nvSpPr>
          <p:cNvPr id="54" name="Google Shape;54;p19"/>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55" name="Google Shape;55;p19"/>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C85FDC8E-54F0-6F05-42EE-9D2C823888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20"/>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E1DFC6C-6771-8459-E441-CFAEECF17AB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10.xml><?xml version="1.0" encoding="utf-8"?>
<p:sldLayout xmlns:a="http://schemas.openxmlformats.org/drawingml/2006/main" xmlns:r="http://schemas.openxmlformats.org/officeDocument/2006/relationships" xmlns:p="http://schemas.openxmlformats.org/presentationml/2006/main" matchingName="Section header">
  <p:cSld name="Logo">
    <p:bg>
      <p:bgPr>
        <a:solidFill>
          <a:srgbClr val="00737C"/>
        </a:solidFill>
        <a:effectLst/>
      </p:bgPr>
    </p:bg>
    <p:spTree>
      <p:nvGrpSpPr>
        <p:cNvPr id="1" name="Shape 60"/>
        <p:cNvGrpSpPr/>
        <p:nvPr/>
      </p:nvGrpSpPr>
      <p:grpSpPr>
        <a:xfrm>
          <a:off x="0" y="0"/>
          <a:ext cx="0" cy="0"/>
          <a:chOff x="0" y="0"/>
          <a:chExt cx="0" cy="0"/>
        </a:xfrm>
      </p:grpSpPr>
      <p:pic>
        <p:nvPicPr>
          <p:cNvPr id="61" name="Google Shape;61;p21"/>
          <p:cNvPicPr preferRelativeResize="0"/>
          <p:nvPr/>
        </p:nvPicPr>
        <p:blipFill rotWithShape="1">
          <a:blip r:embed="rId2">
            <a:alphaModFix/>
          </a:blip>
          <a:srcRect/>
          <a:stretch/>
        </p:blipFill>
        <p:spPr>
          <a:xfrm>
            <a:off x="-15089" y="0"/>
            <a:ext cx="12222179" cy="6858000"/>
          </a:xfrm>
          <a:prstGeom prst="rect">
            <a:avLst/>
          </a:prstGeom>
          <a:noFill/>
          <a:ln>
            <a:noFill/>
          </a:ln>
        </p:spPr>
      </p:pic>
      <p:pic>
        <p:nvPicPr>
          <p:cNvPr id="4" name="Graphic 3">
            <a:extLst>
              <a:ext uri="{FF2B5EF4-FFF2-40B4-BE49-F238E27FC236}">
                <a16:creationId xmlns:a16="http://schemas.microsoft.com/office/drawing/2014/main" id="{1BD2A404-4005-F016-A8A5-790A1FBDB8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1" y="238015"/>
            <a:ext cx="5673420" cy="927896"/>
          </a:xfrm>
          <a:prstGeom prst="rect">
            <a:avLst/>
          </a:prstGeom>
        </p:spPr>
      </p:pic>
    </p:spTree>
  </p:cSld>
  <p:clrMapOvr>
    <a:masterClrMapping/>
  </p:clrMapOvr>
</p:sldLayout>
</file>

<file path=ppt/slideMasters/_rels/conference_slideMaster1.xml.rels><?xml version="1.0" encoding="utf-8"?><Relationships xmlns="http://schemas.openxmlformats.org/package/2006/relationships"><Relationship Id="rId8" Type="http://schemas.openxmlformats.org/officeDocument/2006/relationships/slideLayout" Target="../slideLayouts/conference_slideLayout8.xml"/><Relationship Id="rId3" Type="http://schemas.openxmlformats.org/officeDocument/2006/relationships/slideLayout" Target="../slideLayouts/conference_slideLayout3.xml"/><Relationship Id="rId7" Type="http://schemas.openxmlformats.org/officeDocument/2006/relationships/slideLayout" Target="../slideLayouts/conference_slideLayout7.xml"/><Relationship Id="rId2" Type="http://schemas.openxmlformats.org/officeDocument/2006/relationships/slideLayout" Target="../slideLayouts/conference_slideLayout2.xml"/><Relationship Id="rId1" Type="http://schemas.openxmlformats.org/officeDocument/2006/relationships/slideLayout" Target="../slideLayouts/conference_slideLayout1.xml"/><Relationship Id="rId6" Type="http://schemas.openxmlformats.org/officeDocument/2006/relationships/slideLayout" Target="../slideLayouts/conference_slideLayout6.xml"/><Relationship Id="rId11" Type="http://schemas.openxmlformats.org/officeDocument/2006/relationships/theme" Target="../theme/conference_theme1.xml"/><Relationship Id="rId5" Type="http://schemas.openxmlformats.org/officeDocument/2006/relationships/slideLayout" Target="../slideLayouts/conference_slideLayout5.xml"/><Relationship Id="rId10" Type="http://schemas.openxmlformats.org/officeDocument/2006/relationships/slideLayout" Target="../slideLayouts/conference_slideLayout10.xml"/><Relationship Id="rId4" Type="http://schemas.openxmlformats.org/officeDocument/2006/relationships/slideLayout" Target="../slideLayouts/conference_slideLayout4.xml"/><Relationship Id="rId9" Type="http://schemas.openxmlformats.org/officeDocument/2006/relationships/slideLayout" Target="../slideLayouts/conference_slideLayout9.xml"/></Relationships>
</file>

<file path=ppt/slideMasters/conference_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1"/>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accent1"/>
              </a:buClr>
              <a:buSzPts val="3733"/>
              <a:buFont typeface="Arial"/>
              <a:buNone/>
              <a:defRPr sz="3733" b="1" i="0" u="none" strike="noStrike" cap="none">
                <a:solidFill>
                  <a:schemeClr val="accent1"/>
                </a:solidFill>
                <a:latin typeface="Arial"/>
                <a:ea typeface="Arial"/>
                <a:cs typeface="Arial"/>
                <a:sym typeface="Arial"/>
              </a:defRPr>
            </a:lvl1pPr>
            <a:lvl2pPr marR="0" lvl="1"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2pPr>
            <a:lvl3pPr marR="0" lvl="2"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3pPr>
            <a:lvl4pPr marR="0" lvl="3"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4pPr>
            <a:lvl5pPr marR="0" lvl="4"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5pPr>
            <a:lvl6pPr marR="0" lvl="5"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9pPr>
          </a:lstStyle>
          <a:p>
            <a:endParaRPr/>
          </a:p>
        </p:txBody>
      </p:sp>
      <p:sp>
        <p:nvSpPr>
          <p:cNvPr id="7" name="Google Shape;7;p11"/>
          <p:cNvSpPr txBox="1">
            <a:spLocks noGrp="1"/>
          </p:cNvSpPr>
          <p:nvPr>
            <p:ph type="body" idx="1"/>
          </p:nvPr>
        </p:nvSpPr>
        <p:spPr>
          <a:xfrm>
            <a:off x="415600" y="1536633"/>
            <a:ext cx="11360800" cy="4555200"/>
          </a:xfrm>
          <a:prstGeom prst="rect">
            <a:avLst/>
          </a:prstGeom>
          <a:noFill/>
          <a:ln>
            <a:noFill/>
          </a:ln>
        </p:spPr>
        <p:txBody>
          <a:bodyPr spcFirstLastPara="1" wrap="square" lIns="0" tIns="0" rIns="0" bIns="0" anchor="t" anchorCtr="0">
            <a:noAutofit/>
          </a:bodyPr>
          <a:lstStyle>
            <a:lvl1pPr marL="609600" marR="0" lvl="0" indent="-457200" algn="l" rtl="0">
              <a:lnSpc>
                <a:spcPct val="115000"/>
              </a:lnSpc>
              <a:spcBef>
                <a:spcPts val="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1pPr>
            <a:lvl2pPr marL="1219200" marR="0" lvl="1"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2pPr>
            <a:lvl3pPr marL="1828800" marR="0" lvl="2"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3pPr>
            <a:lvl4pPr marL="2438400" marR="0" lvl="3"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4pPr>
            <a:lvl5pPr marL="3048000" marR="0" lvl="4"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5pPr>
            <a:lvl6pPr marL="3657600" marR="0" lvl="5"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6pPr>
            <a:lvl7pPr marL="4267200" marR="0" lvl="6"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7pPr>
            <a:lvl8pPr marL="4876800" marR="0" lvl="7"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8pPr>
            <a:lvl9pPr marL="5486400" marR="0" lvl="8"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9pPr>
          </a:lstStyle>
          <a:p>
            <a:endParaRPr/>
          </a:p>
        </p:txBody>
      </p:sp>
      <p:sp>
        <p:nvSpPr>
          <p:cNvPr id="8" name="Google Shape;8;p11"/>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3" Type="http://schemas.openxmlformats.org/officeDocument/2006/relationships/hyperlink" Target="https://github.com/chenrui333" TargetMode="External"/><Relationship Id="rId1" Type="http://schemas.openxmlformats.org/officeDocument/2006/relationships/image" Target="../media/image-1-1.png"/><Relationship Id="rId2" Type="http://schemas.openxmlformats.org/officeDocument/2006/relationships/image" Target="../media/image-1-2.svg"/><Relationship Id="rId4" Type="http://schemas.openxmlformats.org/officeDocument/2006/relationships/slideLayout" Target="../slideLayouts/conference_slideLayout2.xml"/><Relationship Id="rId5"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hyperlink" Target="https://www.runatlantis.io/blog/2024/april-2024-survey-results" TargetMode="External"/><Relationship Id="rId2" Type="http://schemas.openxmlformats.org/officeDocument/2006/relationships/slideLayout" Target="../slideLayouts/conference_slideLayout5.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hyperlink" Target="https://github.com/runatlantis/atlantis/pull/5296" TargetMode="External"/><Relationship Id="rId2" Type="http://schemas.openxmlformats.org/officeDocument/2006/relationships/slideLayout" Target="../slideLayouts/conference_slideLayout5.xml"/><Relationship Id="rId3"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hyperlink" Target="https://www.runatlantis.io/docs" TargetMode="External"/><Relationship Id="rId2" Type="http://schemas.openxmlformats.org/officeDocument/2006/relationships/hyperlink" Target="https://github.com/runatlantis/atlantis" TargetMode="External"/><Relationship Id="rId4" Type="http://schemas.openxmlformats.org/officeDocument/2006/relationships/hyperlink" Target="https://www.runatlantis.io/" TargetMode="External"/><Relationship Id="rId5" Type="http://schemas.openxmlformats.org/officeDocument/2006/relationships/hyperlink" Target="https://docs.google.com/document/d/1EzseHmT4Zarj-_7MO8ud5mHByIJGIHS7JdoNNK9ZckU/edit" TargetMode="External"/><Relationship Id="rId6" Type="http://schemas.openxmlformats.org/officeDocument/2006/relationships/hyperlink" Target="https://www.lfopensource.cn/kubecon-cloudnativecon-openinfra-summit-pytorch-conference-china/features-add-ons/project-engagement/#project-table-directory" TargetMode="External"/><Relationship Id="rId3" Type="http://schemas.openxmlformats.org/officeDocument/2006/relationships/image" Target="../media/image-10-1.png"/><Relationship Id="rId7" Type="http://schemas.openxmlformats.org/officeDocument/2006/relationships/slideLayout" Target="../slideLayouts/conference_slideLayout5.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66928" y="1389888"/>
            <a:ext cx="8229600" cy="329184"/>
          </a:xfrm>
          <a:prstGeom prst="rect">
            <a:avLst/>
          </a:prstGeom>
          <a:noFill/>
          <a:ln/>
        </p:spPr>
        <p:txBody>
          <a:bodyPr wrap="square" lIns="0" tIns="0" rIns="0" bIns="0" rtlCol="0" anchor="ctr"/>
          <a:lstStyle/>
          <a:p>
            <a:pPr indent="0" marL="0">
              <a:buNone/>
            </a:pPr>
            <a:r>
              <a:rPr lang="en-US" sz="1800" b="1" spc="100" kern="0" dirty="0">
                <a:solidFill>
                  <a:srgbClr val="FFFFFF"/>
                </a:solidFill>
                <a:latin typeface="Arial" pitchFamily="34" charset="0"/>
                <a:ea typeface="Arial" pitchFamily="34" charset="-122"/>
                <a:cs typeface="Arial" pitchFamily="34" charset="-120"/>
              </a:rPr>
              <a:t>PROJECT LIGHTNING TALK:</a:t>
            </a:r>
            <a:endParaRPr lang="en-US" sz="1800" dirty="0"/>
          </a:p>
        </p:txBody>
      </p:sp>
      <p:sp>
        <p:nvSpPr>
          <p:cNvPr id="3" name="Text 1"/>
          <p:cNvSpPr/>
          <p:nvPr/>
        </p:nvSpPr>
        <p:spPr>
          <a:xfrm>
            <a:off x="566928" y="1856232"/>
            <a:ext cx="7955280" cy="886968"/>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Atlantis:</a:t>
            </a:r>
            <a:endParaRPr lang="en-US" sz="6000" dirty="0"/>
          </a:p>
        </p:txBody>
      </p:sp>
      <p:pic>
        <p:nvPicPr>
          <p:cNvPr id="4" name="Image 0" descr="Official Atlantis project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858000" y="1563624"/>
            <a:ext cx="1143000" cy="1143000"/>
          </a:xfrm>
          <a:prstGeom prst="rect">
            <a:avLst/>
          </a:prstGeom>
        </p:spPr>
      </p:pic>
      <p:sp>
        <p:nvSpPr>
          <p:cNvPr id="5" name="Text 2"/>
          <p:cNvSpPr/>
          <p:nvPr/>
        </p:nvSpPr>
        <p:spPr>
          <a:xfrm>
            <a:off x="566928" y="2898648"/>
            <a:ext cx="8229600" cy="1024128"/>
          </a:xfrm>
          <a:prstGeom prst="rect">
            <a:avLst/>
          </a:prstGeom>
          <a:noFill/>
          <a:ln/>
        </p:spPr>
        <p:txBody>
          <a:bodyPr wrap="square" lIns="0" tIns="0" rIns="0" bIns="0" rtlCol="0" anchor="ctr"/>
          <a:lstStyle/>
          <a:p>
            <a:pPr indent="0" marL="0">
              <a:buNone/>
            </a:pPr>
            <a:r>
              <a:rPr lang="en-US" sz="3100" b="1" dirty="0">
                <a:solidFill>
                  <a:srgbClr val="FFFFFF"/>
                </a:solidFill>
                <a:latin typeface="Arial" pitchFamily="34" charset="0"/>
                <a:ea typeface="Arial" pitchFamily="34" charset="-122"/>
                <a:cs typeface="Arial" pitchFamily="34" charset="-120"/>
              </a:rPr>
              <a:t>Terraform Pull Request Automation</a:t>
            </a:r>
            <a:endParaRPr lang="en-US" sz="3100" dirty="0"/>
          </a:p>
          <a:p>
            <a:pPr indent="0" marL="0">
              <a:buNone/>
            </a:pPr>
            <a:r>
              <a:rPr lang="en-US" sz="3100" b="1" dirty="0">
                <a:solidFill>
                  <a:srgbClr val="FFFFFF"/>
                </a:solidFill>
                <a:latin typeface="Arial" pitchFamily="34" charset="0"/>
                <a:ea typeface="Arial" pitchFamily="34" charset="-122"/>
                <a:cs typeface="Arial" pitchFamily="34" charset="-120"/>
              </a:rPr>
              <a:t>for Cloud Native Teams</a:t>
            </a:r>
            <a:endParaRPr lang="en-US" sz="3100" dirty="0"/>
          </a:p>
        </p:txBody>
      </p:sp>
      <p:sp>
        <p:nvSpPr>
          <p:cNvPr id="6" name="Text 3"/>
          <p:cNvSpPr/>
          <p:nvPr/>
        </p:nvSpPr>
        <p:spPr>
          <a:xfrm>
            <a:off x="566928" y="4197096"/>
            <a:ext cx="9601200" cy="384048"/>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Rui Chen  ·  Atlantis Maintainer  ·  </a:t>
            </a:r>
            <a:pPr indent="0" marL="0">
              <a:buNone/>
            </a:pPr>
            <a:r>
              <a:rPr lang="en-US" sz="2400" u="sng" dirty="0">
                <a:solidFill>
                  <a:srgbClr val="FFFFF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@chenrui333</a:t>
            </a:r>
            <a:endParaRPr lang="en-US" sz="2400" dirty="0"/>
          </a:p>
        </p:txBody>
      </p:sp>
      <p:sp>
        <p:nvSpPr>
          <p:cNvPr id="7" name="Text 4"/>
          <p:cNvSpPr/>
          <p:nvPr/>
        </p:nvSpPr>
        <p:spPr>
          <a:xfrm>
            <a:off x="566928" y="4672584"/>
            <a:ext cx="8229600" cy="30175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Shanghai, China  ·  September 8,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PLAN → REVIEW → APPLY</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The pull request becomes the workflow.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02</a:t>
            </a:r>
            <a:endParaRPr lang="en-US" sz="1200" dirty="0"/>
          </a:p>
        </p:txBody>
      </p:sp>
      <p:sp>
        <p:nvSpPr>
          <p:cNvPr id="5" name="Shape 3"/>
          <p:cNvSpPr/>
          <p:nvPr/>
        </p:nvSpPr>
        <p:spPr>
          <a:xfrm>
            <a:off x="731520" y="2423160"/>
            <a:ext cx="3337560" cy="1234440"/>
          </a:xfrm>
          <a:prstGeom prst="rect">
            <a:avLst/>
          </a:prstGeom>
          <a:solidFill>
            <a:srgbClr val="EAF1F3"/>
          </a:solidFill>
          <a:ln w="12700">
            <a:solidFill>
              <a:srgbClr val="EAF1F3"/>
            </a:solidFill>
            <a:prstDash val="solid"/>
          </a:ln>
        </p:spPr>
      </p:sp>
      <p:sp>
        <p:nvSpPr>
          <p:cNvPr id="6" name="Text 4"/>
          <p:cNvSpPr/>
          <p:nvPr/>
        </p:nvSpPr>
        <p:spPr>
          <a:xfrm>
            <a:off x="932688" y="2560320"/>
            <a:ext cx="293522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Pull request</a:t>
            </a:r>
            <a:endParaRPr lang="en-US" sz="2700" dirty="0"/>
          </a:p>
        </p:txBody>
      </p:sp>
      <p:sp>
        <p:nvSpPr>
          <p:cNvPr id="7" name="Text 5"/>
          <p:cNvSpPr/>
          <p:nvPr/>
        </p:nvSpPr>
        <p:spPr>
          <a:xfrm>
            <a:off x="932688" y="3044952"/>
            <a:ext cx="293522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Code + plan review</a:t>
            </a:r>
            <a:endParaRPr lang="en-US" sz="1900" dirty="0"/>
          </a:p>
        </p:txBody>
      </p:sp>
      <p:sp>
        <p:nvSpPr>
          <p:cNvPr id="8" name="Shape 6"/>
          <p:cNvSpPr/>
          <p:nvPr/>
        </p:nvSpPr>
        <p:spPr>
          <a:xfrm>
            <a:off x="7589520" y="2423160"/>
            <a:ext cx="3794760" cy="1234440"/>
          </a:xfrm>
          <a:prstGeom prst="rect">
            <a:avLst/>
          </a:prstGeom>
          <a:solidFill>
            <a:srgbClr val="EAF1F3"/>
          </a:solidFill>
          <a:ln w="12700">
            <a:solidFill>
              <a:srgbClr val="EAF1F3"/>
            </a:solidFill>
            <a:prstDash val="solid"/>
          </a:ln>
        </p:spPr>
      </p:sp>
      <p:sp>
        <p:nvSpPr>
          <p:cNvPr id="9" name="Text 7"/>
          <p:cNvSpPr/>
          <p:nvPr/>
        </p:nvSpPr>
        <p:spPr>
          <a:xfrm>
            <a:off x="7790688" y="2560320"/>
            <a:ext cx="339242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Atlantis</a:t>
            </a:r>
            <a:endParaRPr lang="en-US" sz="2700" dirty="0"/>
          </a:p>
        </p:txBody>
      </p:sp>
      <p:sp>
        <p:nvSpPr>
          <p:cNvPr id="10" name="Text 8"/>
          <p:cNvSpPr/>
          <p:nvPr/>
        </p:nvSpPr>
        <p:spPr>
          <a:xfrm>
            <a:off x="7790688" y="3044952"/>
            <a:ext cx="339242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PR orchestration</a:t>
            </a:r>
            <a:endParaRPr lang="en-US" sz="1900" dirty="0"/>
          </a:p>
        </p:txBody>
      </p:sp>
      <p:sp>
        <p:nvSpPr>
          <p:cNvPr id="11" name="Shape 9"/>
          <p:cNvSpPr/>
          <p:nvPr/>
        </p:nvSpPr>
        <p:spPr>
          <a:xfrm>
            <a:off x="4251960" y="2788920"/>
            <a:ext cx="3154680" cy="0"/>
          </a:xfrm>
          <a:prstGeom prst="line">
            <a:avLst/>
          </a:prstGeom>
          <a:noFill/>
          <a:ln w="25400">
            <a:solidFill>
              <a:srgbClr val="086679"/>
            </a:solidFill>
            <a:prstDash val="solid"/>
            <a:headEnd type="none"/>
            <a:tailEnd type="triangle"/>
          </a:ln>
        </p:spPr>
      </p:sp>
      <p:sp>
        <p:nvSpPr>
          <p:cNvPr id="12" name="Text 10"/>
          <p:cNvSpPr/>
          <p:nvPr/>
        </p:nvSpPr>
        <p:spPr>
          <a:xfrm>
            <a:off x="4160520" y="2286000"/>
            <a:ext cx="3337560" cy="411480"/>
          </a:xfrm>
          <a:prstGeom prst="rect">
            <a:avLst/>
          </a:prstGeom>
          <a:noFill/>
          <a:ln/>
        </p:spPr>
        <p:txBody>
          <a:bodyPr wrap="square" lIns="0" tIns="0" rIns="0" bIns="0" rtlCol="0" anchor="ctr"/>
          <a:lstStyle/>
          <a:p>
            <a:pPr algn="ctr" indent="0" marL="0">
              <a:buNone/>
            </a:pPr>
            <a:r>
              <a:rPr lang="en-US" sz="2100" dirty="0">
                <a:solidFill>
                  <a:srgbClr val="086679"/>
                </a:solidFill>
                <a:latin typeface="Arial" pitchFamily="34" charset="0"/>
                <a:ea typeface="Arial" pitchFamily="34" charset="-122"/>
                <a:cs typeface="Arial" pitchFamily="34" charset="-120"/>
              </a:rPr>
              <a:t>Webhook · apply request</a:t>
            </a:r>
            <a:endParaRPr lang="en-US" sz="2100" dirty="0"/>
          </a:p>
        </p:txBody>
      </p:sp>
      <p:sp>
        <p:nvSpPr>
          <p:cNvPr id="13" name="Shape 11"/>
          <p:cNvSpPr/>
          <p:nvPr/>
        </p:nvSpPr>
        <p:spPr>
          <a:xfrm>
            <a:off x="7406640" y="3566160"/>
            <a:ext cx="-3154680" cy="0"/>
          </a:xfrm>
          <a:prstGeom prst="line">
            <a:avLst/>
          </a:prstGeom>
          <a:noFill/>
          <a:ln w="25400">
            <a:solidFill>
              <a:srgbClr val="086679"/>
            </a:solidFill>
            <a:prstDash val="solid"/>
            <a:headEnd type="none"/>
            <a:tailEnd type="triangle"/>
          </a:ln>
        </p:spPr>
      </p:sp>
      <p:sp>
        <p:nvSpPr>
          <p:cNvPr id="14" name="Text 12"/>
          <p:cNvSpPr/>
          <p:nvPr/>
        </p:nvSpPr>
        <p:spPr>
          <a:xfrm>
            <a:off x="4160520" y="3063240"/>
            <a:ext cx="3337560" cy="411480"/>
          </a:xfrm>
          <a:prstGeom prst="rect">
            <a:avLst/>
          </a:prstGeom>
          <a:noFill/>
          <a:ln/>
        </p:spPr>
        <p:txBody>
          <a:bodyPr wrap="square" lIns="0" tIns="0" rIns="0" bIns="0" rtlCol="0" anchor="ctr"/>
          <a:lstStyle/>
          <a:p>
            <a:pPr algn="ctr" indent="0" marL="0">
              <a:buNone/>
            </a:pPr>
            <a:r>
              <a:rPr lang="en-US" sz="2100" dirty="0">
                <a:solidFill>
                  <a:srgbClr val="086679"/>
                </a:solidFill>
                <a:latin typeface="Arial" pitchFamily="34" charset="0"/>
                <a:ea typeface="Arial" pitchFamily="34" charset="-122"/>
                <a:cs typeface="Arial" pitchFamily="34" charset="-120"/>
              </a:rPr>
              <a:t>Plan + apply results</a:t>
            </a:r>
            <a:endParaRPr lang="en-US" sz="2100" dirty="0"/>
          </a:p>
        </p:txBody>
      </p:sp>
      <p:sp>
        <p:nvSpPr>
          <p:cNvPr id="15" name="Text 13"/>
          <p:cNvSpPr/>
          <p:nvPr/>
        </p:nvSpPr>
        <p:spPr>
          <a:xfrm>
            <a:off x="7589520" y="3822192"/>
            <a:ext cx="3794760" cy="365760"/>
          </a:xfrm>
          <a:prstGeom prst="rect">
            <a:avLst/>
          </a:prstGeom>
          <a:noFill/>
          <a:ln/>
        </p:spPr>
        <p:txBody>
          <a:bodyPr wrap="square" lIns="0" tIns="0" rIns="0" bIns="0" rtlCol="0" anchor="ctr"/>
          <a:lstStyle/>
          <a:p>
            <a:pPr algn="ctr" indent="0" marL="0">
              <a:buNone/>
            </a:pPr>
            <a:r>
              <a:rPr lang="en-US" sz="2200" dirty="0">
                <a:solidFill>
                  <a:srgbClr val="086679"/>
                </a:solidFill>
                <a:latin typeface="Arial" pitchFamily="34" charset="0"/>
                <a:ea typeface="Arial" pitchFamily="34" charset="-122"/>
                <a:cs typeface="Arial" pitchFamily="34" charset="-120"/>
              </a:rPr>
              <a:t>Configured requirements</a:t>
            </a:r>
            <a:endParaRPr lang="en-US" sz="2200" dirty="0"/>
          </a:p>
        </p:txBody>
      </p:sp>
      <p:sp>
        <p:nvSpPr>
          <p:cNvPr id="16" name="Shape 14"/>
          <p:cNvSpPr/>
          <p:nvPr/>
        </p:nvSpPr>
        <p:spPr>
          <a:xfrm>
            <a:off x="9491472" y="4370832"/>
            <a:ext cx="0" cy="347472"/>
          </a:xfrm>
          <a:prstGeom prst="line">
            <a:avLst/>
          </a:prstGeom>
          <a:noFill/>
          <a:ln w="25400">
            <a:solidFill>
              <a:srgbClr val="086679"/>
            </a:solidFill>
            <a:prstDash val="solid"/>
            <a:headEnd type="none"/>
            <a:tailEnd type="triangle"/>
          </a:ln>
        </p:spPr>
      </p:sp>
      <p:sp>
        <p:nvSpPr>
          <p:cNvPr id="17" name="Text 15"/>
          <p:cNvSpPr/>
          <p:nvPr/>
        </p:nvSpPr>
        <p:spPr>
          <a:xfrm>
            <a:off x="7498080" y="4800600"/>
            <a:ext cx="3977640" cy="457200"/>
          </a:xfrm>
          <a:prstGeom prst="rect">
            <a:avLst/>
          </a:prstGeom>
          <a:noFill/>
          <a:ln/>
        </p:spPr>
        <p:txBody>
          <a:bodyPr wrap="square" lIns="0" tIns="0" rIns="0" bIns="0" rtlCol="0" anchor="ctr"/>
          <a:lstStyle/>
          <a:p>
            <a:pPr algn="ctr" indent="0" marL="0">
              <a:buNone/>
            </a:pPr>
            <a:r>
              <a:rPr lang="en-US" sz="2600" b="1" dirty="0">
                <a:solidFill>
                  <a:srgbClr val="083E4F"/>
                </a:solidFill>
                <a:latin typeface="Arial" pitchFamily="34" charset="0"/>
                <a:ea typeface="Arial" pitchFamily="34" charset="-122"/>
                <a:cs typeface="Arial" pitchFamily="34" charset="-120"/>
              </a:rPr>
              <a:t>Terraform / OpenTofu</a:t>
            </a:r>
            <a:endParaRPr lang="en-US" sz="2600" dirty="0"/>
          </a:p>
        </p:txBody>
      </p:sp>
      <p:sp>
        <p:nvSpPr>
          <p:cNvPr id="18" name="Text 16"/>
          <p:cNvSpPr/>
          <p:nvPr/>
        </p:nvSpPr>
        <p:spPr>
          <a:xfrm>
            <a:off x="7388352" y="5394960"/>
            <a:ext cx="4206240" cy="365760"/>
          </a:xfrm>
          <a:prstGeom prst="rect">
            <a:avLst/>
          </a:prstGeom>
          <a:noFill/>
          <a:ln/>
        </p:spPr>
        <p:txBody>
          <a:bodyPr wrap="square" lIns="0" tIns="0" rIns="0" bIns="0" rtlCol="0" anchor="ctr"/>
          <a:lstStyle/>
          <a:p>
            <a:pPr algn="ctr" indent="0" marL="0">
              <a:buNone/>
            </a:pPr>
            <a:r>
              <a:rPr lang="en-US" sz="2100" dirty="0">
                <a:solidFill>
                  <a:srgbClr val="405965"/>
                </a:solidFill>
                <a:latin typeface="Arial" pitchFamily="34" charset="0"/>
                <a:ea typeface="Arial" pitchFamily="34" charset="-122"/>
                <a:cs typeface="Arial" pitchFamily="34" charset="-120"/>
              </a:rPr>
              <a:t>Providers · state · infrastructure</a:t>
            </a:r>
            <a:endParaRPr lang="en-US" sz="2100" dirty="0"/>
          </a:p>
        </p:txBody>
      </p:sp>
      <p:sp>
        <p:nvSpPr>
          <p:cNvPr id="19" name="Shape 17"/>
          <p:cNvSpPr/>
          <p:nvPr/>
        </p:nvSpPr>
        <p:spPr>
          <a:xfrm>
            <a:off x="914400" y="3977640"/>
            <a:ext cx="0" cy="1353312"/>
          </a:xfrm>
          <a:prstGeom prst="line">
            <a:avLst/>
          </a:prstGeom>
          <a:noFill/>
          <a:ln w="25400">
            <a:solidFill>
              <a:srgbClr val="A6BAC1"/>
            </a:solidFill>
            <a:prstDash val="solid"/>
            <a:headEnd type="none"/>
            <a:tailEnd type="none"/>
          </a:ln>
        </p:spPr>
      </p:sp>
      <p:sp>
        <p:nvSpPr>
          <p:cNvPr id="20" name="Text 18"/>
          <p:cNvSpPr/>
          <p:nvPr/>
        </p:nvSpPr>
        <p:spPr>
          <a:xfrm>
            <a:off x="1188720" y="4370832"/>
            <a:ext cx="5669280" cy="960120"/>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Results stay with</a:t>
            </a:r>
            <a:endParaRPr lang="en-US" sz="3100" dirty="0"/>
          </a:p>
          <a:p>
            <a:pPr indent="0" marL="0">
              <a:buNone/>
            </a:pPr>
            <a:r>
              <a:rPr lang="en-US" sz="3100" b="1" dirty="0">
                <a:solidFill>
                  <a:srgbClr val="086679"/>
                </a:solidFill>
                <a:latin typeface="Arial" pitchFamily="34" charset="0"/>
                <a:ea typeface="Arial" pitchFamily="34" charset="-122"/>
                <a:cs typeface="Arial" pitchFamily="34" charset="-120"/>
              </a:rPr>
              <a:t>the pull request.</a:t>
            </a:r>
            <a:endParaRPr lang="en-US" sz="3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ENGINEER EXPERIENCE</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One change. One PR conversation.</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03</a:t>
            </a:r>
            <a:endParaRPr lang="en-US" sz="1200" dirty="0"/>
          </a:p>
        </p:txBody>
      </p:sp>
      <p:sp>
        <p:nvSpPr>
          <p:cNvPr id="5" name="Text 3"/>
          <p:cNvSpPr/>
          <p:nvPr/>
        </p:nvSpPr>
        <p:spPr>
          <a:xfrm>
            <a:off x="804672" y="2148840"/>
            <a:ext cx="10789920" cy="457200"/>
          </a:xfrm>
          <a:prstGeom prst="rect">
            <a:avLst/>
          </a:prstGeom>
          <a:noFill/>
          <a:ln/>
        </p:spPr>
        <p:txBody>
          <a:bodyPr wrap="square" lIns="0" tIns="0" rIns="0" bIns="0" rtlCol="0" anchor="ctr"/>
          <a:lstStyle/>
          <a:p>
            <a:pPr indent="0" marL="0">
              <a:buNone/>
            </a:pPr>
            <a:r>
              <a:rPr lang="en-US" sz="2800" b="1" dirty="0">
                <a:solidFill>
                  <a:srgbClr val="083E4F"/>
                </a:solidFill>
                <a:latin typeface="Arial" pitchFamily="34" charset="0"/>
                <a:ea typeface="Arial" pitchFamily="34" charset="-122"/>
                <a:cs typeface="Arial" pitchFamily="34" charset="-120"/>
              </a:rPr>
              <a:t>infra: resize production database</a:t>
            </a:r>
            <a:endParaRPr lang="en-US" sz="2800" dirty="0"/>
          </a:p>
        </p:txBody>
      </p:sp>
      <p:sp>
        <p:nvSpPr>
          <p:cNvPr id="6" name="Shape 4"/>
          <p:cNvSpPr/>
          <p:nvPr/>
        </p:nvSpPr>
        <p:spPr>
          <a:xfrm>
            <a:off x="987552" y="2926080"/>
            <a:ext cx="0" cy="2130552"/>
          </a:xfrm>
          <a:prstGeom prst="line">
            <a:avLst/>
          </a:prstGeom>
          <a:noFill/>
          <a:ln w="25400">
            <a:solidFill>
              <a:srgbClr val="A6BAC1"/>
            </a:solidFill>
            <a:prstDash val="solid"/>
            <a:headEnd type="none"/>
            <a:tailEnd type="none"/>
          </a:ln>
        </p:spPr>
      </p:sp>
      <p:sp>
        <p:nvSpPr>
          <p:cNvPr id="7" name="Shape 5"/>
          <p:cNvSpPr/>
          <p:nvPr/>
        </p:nvSpPr>
        <p:spPr>
          <a:xfrm>
            <a:off x="886968" y="2862072"/>
            <a:ext cx="201168" cy="201168"/>
          </a:xfrm>
          <a:prstGeom prst="ellipse">
            <a:avLst/>
          </a:prstGeom>
          <a:solidFill>
            <a:srgbClr val="086679"/>
          </a:solidFill>
          <a:ln w="12700">
            <a:solidFill>
              <a:srgbClr val="086679"/>
            </a:solidFill>
            <a:prstDash val="solid"/>
          </a:ln>
        </p:spPr>
      </p:sp>
      <p:sp>
        <p:nvSpPr>
          <p:cNvPr id="8" name="Text 6"/>
          <p:cNvSpPr/>
          <p:nvPr/>
        </p:nvSpPr>
        <p:spPr>
          <a:xfrm>
            <a:off x="1353312" y="2761488"/>
            <a:ext cx="1645920" cy="41148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Atlantis</a:t>
            </a:r>
            <a:endParaRPr lang="en-US" sz="2200" dirty="0"/>
          </a:p>
        </p:txBody>
      </p:sp>
      <p:sp>
        <p:nvSpPr>
          <p:cNvPr id="9" name="Shape 7"/>
          <p:cNvSpPr/>
          <p:nvPr/>
        </p:nvSpPr>
        <p:spPr>
          <a:xfrm>
            <a:off x="3063240" y="2688336"/>
            <a:ext cx="8183880" cy="530352"/>
          </a:xfrm>
          <a:prstGeom prst="rect">
            <a:avLst/>
          </a:prstGeom>
          <a:solidFill>
            <a:srgbClr val="EAF1F3"/>
          </a:solidFill>
          <a:ln w="12700">
            <a:solidFill>
              <a:srgbClr val="EAF1F3"/>
            </a:solidFill>
            <a:prstDash val="solid"/>
          </a:ln>
        </p:spPr>
      </p:sp>
      <p:sp>
        <p:nvSpPr>
          <p:cNvPr id="10" name="Text 8"/>
          <p:cNvSpPr/>
          <p:nvPr/>
        </p:nvSpPr>
        <p:spPr>
          <a:xfrm>
            <a:off x="3246120" y="2761488"/>
            <a:ext cx="7863840" cy="411480"/>
          </a:xfrm>
          <a:prstGeom prst="rect">
            <a:avLst/>
          </a:prstGeom>
          <a:noFill/>
          <a:ln/>
        </p:spPr>
        <p:txBody>
          <a:bodyPr wrap="square" lIns="0" tIns="0" rIns="0" bIns="0" rtlCol="0" anchor="ctr"/>
          <a:lstStyle/>
          <a:p>
            <a:pPr indent="0" marL="0">
              <a:buNone/>
            </a:pPr>
            <a:r>
              <a:rPr lang="en-US" sz="2500" b="1" dirty="0">
                <a:solidFill>
                  <a:srgbClr val="083E4F"/>
                </a:solidFill>
                <a:latin typeface="Arial" pitchFamily="34" charset="0"/>
                <a:ea typeface="Arial" pitchFamily="34" charset="-122"/>
                <a:cs typeface="Arial" pitchFamily="34" charset="-120"/>
              </a:rPr>
              <a:t>Plan: 0 to add, 1 to change, 0 to destroy</a:t>
            </a:r>
            <a:endParaRPr lang="en-US" sz="2500" dirty="0"/>
          </a:p>
        </p:txBody>
      </p:sp>
      <p:sp>
        <p:nvSpPr>
          <p:cNvPr id="11" name="Shape 9"/>
          <p:cNvSpPr/>
          <p:nvPr/>
        </p:nvSpPr>
        <p:spPr>
          <a:xfrm>
            <a:off x="886968" y="3566160"/>
            <a:ext cx="201168" cy="201168"/>
          </a:xfrm>
          <a:prstGeom prst="ellipse">
            <a:avLst/>
          </a:prstGeom>
          <a:solidFill>
            <a:srgbClr val="086679"/>
          </a:solidFill>
          <a:ln w="12700">
            <a:solidFill>
              <a:srgbClr val="086679"/>
            </a:solidFill>
            <a:prstDash val="solid"/>
          </a:ln>
        </p:spPr>
      </p:sp>
      <p:sp>
        <p:nvSpPr>
          <p:cNvPr id="12" name="Text 10"/>
          <p:cNvSpPr/>
          <p:nvPr/>
        </p:nvSpPr>
        <p:spPr>
          <a:xfrm>
            <a:off x="1353312" y="3465576"/>
            <a:ext cx="1645920" cy="41148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Reviewer</a:t>
            </a:r>
            <a:endParaRPr lang="en-US" sz="2200" dirty="0"/>
          </a:p>
        </p:txBody>
      </p:sp>
      <p:sp>
        <p:nvSpPr>
          <p:cNvPr id="13" name="Text 11"/>
          <p:cNvSpPr/>
          <p:nvPr/>
        </p:nvSpPr>
        <p:spPr>
          <a:xfrm>
            <a:off x="3246120" y="3465576"/>
            <a:ext cx="7863840" cy="41148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Approved</a:t>
            </a:r>
            <a:endParaRPr lang="en-US" sz="2500" dirty="0"/>
          </a:p>
        </p:txBody>
      </p:sp>
      <p:sp>
        <p:nvSpPr>
          <p:cNvPr id="14" name="Shape 12"/>
          <p:cNvSpPr/>
          <p:nvPr/>
        </p:nvSpPr>
        <p:spPr>
          <a:xfrm>
            <a:off x="886968" y="4270248"/>
            <a:ext cx="201168" cy="201168"/>
          </a:xfrm>
          <a:prstGeom prst="ellipse">
            <a:avLst/>
          </a:prstGeom>
          <a:solidFill>
            <a:srgbClr val="086679"/>
          </a:solidFill>
          <a:ln w="12700">
            <a:solidFill>
              <a:srgbClr val="086679"/>
            </a:solidFill>
            <a:prstDash val="solid"/>
          </a:ln>
        </p:spPr>
      </p:sp>
      <p:sp>
        <p:nvSpPr>
          <p:cNvPr id="15" name="Text 13"/>
          <p:cNvSpPr/>
          <p:nvPr/>
        </p:nvSpPr>
        <p:spPr>
          <a:xfrm>
            <a:off x="1353312" y="4169664"/>
            <a:ext cx="1645920" cy="41148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Rui</a:t>
            </a:r>
            <a:endParaRPr lang="en-US" sz="2200" dirty="0"/>
          </a:p>
        </p:txBody>
      </p:sp>
      <p:sp>
        <p:nvSpPr>
          <p:cNvPr id="16" name="Shape 14"/>
          <p:cNvSpPr/>
          <p:nvPr/>
        </p:nvSpPr>
        <p:spPr>
          <a:xfrm>
            <a:off x="3063240" y="4096512"/>
            <a:ext cx="8183880" cy="530352"/>
          </a:xfrm>
          <a:prstGeom prst="rect">
            <a:avLst/>
          </a:prstGeom>
          <a:solidFill>
            <a:srgbClr val="EAF1F3"/>
          </a:solidFill>
          <a:ln w="12700">
            <a:solidFill>
              <a:srgbClr val="EAF1F3"/>
            </a:solidFill>
            <a:prstDash val="solid"/>
          </a:ln>
        </p:spPr>
      </p:sp>
      <p:sp>
        <p:nvSpPr>
          <p:cNvPr id="17" name="Text 15"/>
          <p:cNvSpPr/>
          <p:nvPr/>
        </p:nvSpPr>
        <p:spPr>
          <a:xfrm>
            <a:off x="3246120" y="4169664"/>
            <a:ext cx="7863840" cy="411480"/>
          </a:xfrm>
          <a:prstGeom prst="rect">
            <a:avLst/>
          </a:prstGeom>
          <a:noFill/>
          <a:ln/>
        </p:spPr>
        <p:txBody>
          <a:bodyPr wrap="square" lIns="0" tIns="0" rIns="0" bIns="0" rtlCol="0" anchor="ctr"/>
          <a:lstStyle/>
          <a:p>
            <a:pPr indent="0" marL="0">
              <a:buNone/>
            </a:pPr>
            <a:r>
              <a:rPr lang="en-US" sz="2500" b="1" dirty="0">
                <a:solidFill>
                  <a:srgbClr val="083E4F"/>
                </a:solidFill>
                <a:latin typeface="Arial" pitchFamily="34" charset="0"/>
                <a:ea typeface="Arial" pitchFamily="34" charset="-122"/>
                <a:cs typeface="Arial" pitchFamily="34" charset="-120"/>
              </a:rPr>
              <a:t>atlantis apply</a:t>
            </a:r>
            <a:endParaRPr lang="en-US" sz="2500" dirty="0"/>
          </a:p>
        </p:txBody>
      </p:sp>
      <p:sp>
        <p:nvSpPr>
          <p:cNvPr id="18" name="Shape 16"/>
          <p:cNvSpPr/>
          <p:nvPr/>
        </p:nvSpPr>
        <p:spPr>
          <a:xfrm>
            <a:off x="886968" y="4974336"/>
            <a:ext cx="201168" cy="201168"/>
          </a:xfrm>
          <a:prstGeom prst="ellipse">
            <a:avLst/>
          </a:prstGeom>
          <a:solidFill>
            <a:srgbClr val="086679"/>
          </a:solidFill>
          <a:ln w="12700">
            <a:solidFill>
              <a:srgbClr val="086679"/>
            </a:solidFill>
            <a:prstDash val="solid"/>
          </a:ln>
        </p:spPr>
      </p:sp>
      <p:sp>
        <p:nvSpPr>
          <p:cNvPr id="19" name="Text 17"/>
          <p:cNvSpPr/>
          <p:nvPr/>
        </p:nvSpPr>
        <p:spPr>
          <a:xfrm>
            <a:off x="1353312" y="4873752"/>
            <a:ext cx="1645920" cy="411480"/>
          </a:xfrm>
          <a:prstGeom prst="rect">
            <a:avLst/>
          </a:prstGeom>
          <a:noFill/>
          <a:ln/>
        </p:spPr>
        <p:txBody>
          <a:bodyPr wrap="square" lIns="0" tIns="0" rIns="0" bIns="0" rtlCol="0" anchor="ctr"/>
          <a:lstStyle/>
          <a:p>
            <a:pPr indent="0" marL="0">
              <a:buNone/>
            </a:pPr>
            <a:r>
              <a:rPr lang="en-US" sz="2200" dirty="0">
                <a:solidFill>
                  <a:srgbClr val="405965"/>
                </a:solidFill>
                <a:latin typeface="Arial" pitchFamily="34" charset="0"/>
                <a:ea typeface="Arial" pitchFamily="34" charset="-122"/>
                <a:cs typeface="Arial" pitchFamily="34" charset="-120"/>
              </a:rPr>
              <a:t>Atlantis</a:t>
            </a:r>
            <a:endParaRPr lang="en-US" sz="2200" dirty="0"/>
          </a:p>
        </p:txBody>
      </p:sp>
      <p:sp>
        <p:nvSpPr>
          <p:cNvPr id="20" name="Text 18"/>
          <p:cNvSpPr/>
          <p:nvPr/>
        </p:nvSpPr>
        <p:spPr>
          <a:xfrm>
            <a:off x="3246120" y="4873752"/>
            <a:ext cx="7863840" cy="41148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Apply complete.</a:t>
            </a:r>
            <a:endParaRPr lang="en-US" sz="2500" dirty="0"/>
          </a:p>
        </p:txBody>
      </p:sp>
      <p:sp>
        <p:nvSpPr>
          <p:cNvPr id="21" name="Text 19"/>
          <p:cNvSpPr/>
          <p:nvPr/>
        </p:nvSpPr>
        <p:spPr>
          <a:xfrm>
            <a:off x="804672" y="5650992"/>
            <a:ext cx="10698480" cy="320040"/>
          </a:xfrm>
          <a:prstGeom prst="rect">
            <a:avLst/>
          </a:prstGeom>
          <a:noFill/>
          <a:ln/>
        </p:spPr>
        <p:txBody>
          <a:bodyPr wrap="square" lIns="0" tIns="0" rIns="0" bIns="0" rtlCol="0" anchor="ctr"/>
          <a:lstStyle/>
          <a:p>
            <a:pPr indent="0" marL="0">
              <a:buNone/>
            </a:pPr>
            <a:r>
              <a:rPr lang="en-US" sz="1800" dirty="0">
                <a:solidFill>
                  <a:srgbClr val="405965"/>
                </a:solidFill>
                <a:latin typeface="Arial" pitchFamily="34" charset="0"/>
                <a:ea typeface="Arial" pitchFamily="34" charset="-122"/>
                <a:cs typeface="Arial" pitchFamily="34" charset="-120"/>
              </a:rPr>
              <a:t>Illustrative PR · approval requirement configured · apply before merge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PLATFORM TEAMS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Shared review. Controlled execution.</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04</a:t>
            </a:r>
            <a:endParaRPr lang="en-US" sz="1200" dirty="0"/>
          </a:p>
        </p:txBody>
      </p:sp>
      <p:sp>
        <p:nvSpPr>
          <p:cNvPr id="5" name="Shape 3"/>
          <p:cNvSpPr/>
          <p:nvPr/>
        </p:nvSpPr>
        <p:spPr>
          <a:xfrm>
            <a:off x="877824" y="2587752"/>
            <a:ext cx="219456" cy="219456"/>
          </a:xfrm>
          <a:prstGeom prst="ellipse">
            <a:avLst/>
          </a:prstGeom>
          <a:solidFill>
            <a:srgbClr val="086679"/>
          </a:solidFill>
          <a:ln w="12700">
            <a:solidFill>
              <a:srgbClr val="086679"/>
            </a:solidFill>
            <a:prstDash val="solid"/>
          </a:ln>
        </p:spPr>
      </p:sp>
      <p:sp>
        <p:nvSpPr>
          <p:cNvPr id="6" name="Shape 4"/>
          <p:cNvSpPr/>
          <p:nvPr/>
        </p:nvSpPr>
        <p:spPr>
          <a:xfrm>
            <a:off x="987552" y="2880360"/>
            <a:ext cx="0" cy="649224"/>
          </a:xfrm>
          <a:prstGeom prst="line">
            <a:avLst/>
          </a:prstGeom>
          <a:noFill/>
          <a:ln w="25400">
            <a:solidFill>
              <a:srgbClr val="086679"/>
            </a:solidFill>
            <a:prstDash val="solid"/>
            <a:headEnd type="none"/>
            <a:tailEnd type="triangle"/>
          </a:ln>
        </p:spPr>
      </p:sp>
      <p:sp>
        <p:nvSpPr>
          <p:cNvPr id="7" name="Text 5"/>
          <p:cNvSpPr/>
          <p:nvPr/>
        </p:nvSpPr>
        <p:spPr>
          <a:xfrm>
            <a:off x="1417320" y="2423160"/>
            <a:ext cx="3246120" cy="502920"/>
          </a:xfrm>
          <a:prstGeom prst="rect">
            <a:avLst/>
          </a:prstGeom>
          <a:noFill/>
          <a:ln/>
        </p:spPr>
        <p:txBody>
          <a:bodyPr wrap="square" lIns="0" tIns="0" rIns="0" bIns="0" rtlCol="0" anchor="ctr"/>
          <a:lstStyle/>
          <a:p>
            <a:pPr indent="0" marL="0">
              <a:buNone/>
            </a:pPr>
            <a:r>
              <a:rPr lang="en-US" sz="2900" b="1" dirty="0">
                <a:solidFill>
                  <a:srgbClr val="086679"/>
                </a:solidFill>
                <a:latin typeface="Arial" pitchFamily="34" charset="0"/>
                <a:ea typeface="Arial" pitchFamily="34" charset="-122"/>
                <a:cs typeface="Arial" pitchFamily="34" charset="-120"/>
              </a:rPr>
              <a:t>Collaborative</a:t>
            </a:r>
            <a:endParaRPr lang="en-US" sz="2900" dirty="0"/>
          </a:p>
        </p:txBody>
      </p:sp>
      <p:sp>
        <p:nvSpPr>
          <p:cNvPr id="8" name="Text 6"/>
          <p:cNvSpPr/>
          <p:nvPr/>
        </p:nvSpPr>
        <p:spPr>
          <a:xfrm>
            <a:off x="4892040" y="2423160"/>
            <a:ext cx="6400800" cy="548640"/>
          </a:xfrm>
          <a:prstGeom prst="rect">
            <a:avLst/>
          </a:prstGeom>
          <a:noFill/>
          <a:ln/>
        </p:spPr>
        <p:txBody>
          <a:bodyPr wrap="square" lIns="0" tIns="0" rIns="0" bIns="0" rtlCol="0" anchor="ctr"/>
          <a:lstStyle/>
          <a:p>
            <a:pPr indent="0" marL="0">
              <a:buNone/>
            </a:pPr>
            <a:r>
              <a:rPr lang="en-US" sz="2800" dirty="0">
                <a:solidFill>
                  <a:srgbClr val="083E4F"/>
                </a:solidFill>
                <a:latin typeface="Arial" pitchFamily="34" charset="0"/>
                <a:ea typeface="Arial" pitchFamily="34" charset="-122"/>
                <a:cs typeface="Arial" pitchFamily="34" charset="-120"/>
              </a:rPr>
              <a:t>Developers propose</a:t>
            </a:r>
            <a:endParaRPr lang="en-US" sz="2800" dirty="0"/>
          </a:p>
        </p:txBody>
      </p:sp>
      <p:sp>
        <p:nvSpPr>
          <p:cNvPr id="9" name="Shape 7"/>
          <p:cNvSpPr/>
          <p:nvPr/>
        </p:nvSpPr>
        <p:spPr>
          <a:xfrm>
            <a:off x="877824" y="3648456"/>
            <a:ext cx="219456" cy="219456"/>
          </a:xfrm>
          <a:prstGeom prst="ellipse">
            <a:avLst/>
          </a:prstGeom>
          <a:solidFill>
            <a:srgbClr val="086679"/>
          </a:solidFill>
          <a:ln w="12700">
            <a:solidFill>
              <a:srgbClr val="086679"/>
            </a:solidFill>
            <a:prstDash val="solid"/>
          </a:ln>
        </p:spPr>
      </p:sp>
      <p:sp>
        <p:nvSpPr>
          <p:cNvPr id="10" name="Shape 8"/>
          <p:cNvSpPr/>
          <p:nvPr/>
        </p:nvSpPr>
        <p:spPr>
          <a:xfrm>
            <a:off x="987552" y="3941064"/>
            <a:ext cx="0" cy="649224"/>
          </a:xfrm>
          <a:prstGeom prst="line">
            <a:avLst/>
          </a:prstGeom>
          <a:noFill/>
          <a:ln w="25400">
            <a:solidFill>
              <a:srgbClr val="086679"/>
            </a:solidFill>
            <a:prstDash val="solid"/>
            <a:headEnd type="none"/>
            <a:tailEnd type="triangle"/>
          </a:ln>
        </p:spPr>
      </p:sp>
      <p:sp>
        <p:nvSpPr>
          <p:cNvPr id="11" name="Text 9"/>
          <p:cNvSpPr/>
          <p:nvPr/>
        </p:nvSpPr>
        <p:spPr>
          <a:xfrm>
            <a:off x="1417320" y="3483864"/>
            <a:ext cx="3246120" cy="502920"/>
          </a:xfrm>
          <a:prstGeom prst="rect">
            <a:avLst/>
          </a:prstGeom>
          <a:noFill/>
          <a:ln/>
        </p:spPr>
        <p:txBody>
          <a:bodyPr wrap="square" lIns="0" tIns="0" rIns="0" bIns="0" rtlCol="0" anchor="ctr"/>
          <a:lstStyle/>
          <a:p>
            <a:pPr indent="0" marL="0">
              <a:buNone/>
            </a:pPr>
            <a:r>
              <a:rPr lang="en-US" sz="2900" b="1" dirty="0">
                <a:solidFill>
                  <a:srgbClr val="086679"/>
                </a:solidFill>
                <a:latin typeface="Arial" pitchFamily="34" charset="0"/>
                <a:ea typeface="Arial" pitchFamily="34" charset="-122"/>
                <a:cs typeface="Arial" pitchFamily="34" charset="-120"/>
              </a:rPr>
              <a:t>Controlled</a:t>
            </a:r>
            <a:endParaRPr lang="en-US" sz="2900" dirty="0"/>
          </a:p>
        </p:txBody>
      </p:sp>
      <p:sp>
        <p:nvSpPr>
          <p:cNvPr id="12" name="Text 10"/>
          <p:cNvSpPr/>
          <p:nvPr/>
        </p:nvSpPr>
        <p:spPr>
          <a:xfrm>
            <a:off x="4892040" y="3483864"/>
            <a:ext cx="6400800" cy="548640"/>
          </a:xfrm>
          <a:prstGeom prst="rect">
            <a:avLst/>
          </a:prstGeom>
          <a:noFill/>
          <a:ln/>
        </p:spPr>
        <p:txBody>
          <a:bodyPr wrap="square" lIns="0" tIns="0" rIns="0" bIns="0" rtlCol="0" anchor="ctr"/>
          <a:lstStyle/>
          <a:p>
            <a:pPr indent="0" marL="0">
              <a:buNone/>
            </a:pPr>
            <a:r>
              <a:rPr lang="en-US" sz="2800" dirty="0">
                <a:solidFill>
                  <a:srgbClr val="083E4F"/>
                </a:solidFill>
                <a:latin typeface="Arial" pitchFamily="34" charset="0"/>
                <a:ea typeface="Arial" pitchFamily="34" charset="-122"/>
                <a:cs typeface="Arial" pitchFamily="34" charset="-120"/>
              </a:rPr>
              <a:t>Platform rules govern execution</a:t>
            </a:r>
            <a:endParaRPr lang="en-US" sz="2800" dirty="0"/>
          </a:p>
        </p:txBody>
      </p:sp>
      <p:sp>
        <p:nvSpPr>
          <p:cNvPr id="13" name="Shape 11"/>
          <p:cNvSpPr/>
          <p:nvPr/>
        </p:nvSpPr>
        <p:spPr>
          <a:xfrm>
            <a:off x="877824" y="4709160"/>
            <a:ext cx="219456" cy="219456"/>
          </a:xfrm>
          <a:prstGeom prst="ellipse">
            <a:avLst/>
          </a:prstGeom>
          <a:solidFill>
            <a:srgbClr val="086679"/>
          </a:solidFill>
          <a:ln w="12700">
            <a:solidFill>
              <a:srgbClr val="086679"/>
            </a:solidFill>
            <a:prstDash val="solid"/>
          </a:ln>
        </p:spPr>
      </p:sp>
      <p:sp>
        <p:nvSpPr>
          <p:cNvPr id="14" name="Text 12"/>
          <p:cNvSpPr/>
          <p:nvPr/>
        </p:nvSpPr>
        <p:spPr>
          <a:xfrm>
            <a:off x="1417320" y="4544568"/>
            <a:ext cx="3246120" cy="502920"/>
          </a:xfrm>
          <a:prstGeom prst="rect">
            <a:avLst/>
          </a:prstGeom>
          <a:noFill/>
          <a:ln/>
        </p:spPr>
        <p:txBody>
          <a:bodyPr wrap="square" lIns="0" tIns="0" rIns="0" bIns="0" rtlCol="0" anchor="ctr"/>
          <a:lstStyle/>
          <a:p>
            <a:pPr indent="0" marL="0">
              <a:buNone/>
            </a:pPr>
            <a:r>
              <a:rPr lang="en-US" sz="2900" b="1" dirty="0">
                <a:solidFill>
                  <a:srgbClr val="086679"/>
                </a:solidFill>
                <a:latin typeface="Arial" pitchFamily="34" charset="0"/>
                <a:ea typeface="Arial" pitchFamily="34" charset="-122"/>
                <a:cs typeface="Arial" pitchFamily="34" charset="-120"/>
              </a:rPr>
              <a:t>Visible</a:t>
            </a:r>
            <a:endParaRPr lang="en-US" sz="2900" dirty="0"/>
          </a:p>
        </p:txBody>
      </p:sp>
      <p:sp>
        <p:nvSpPr>
          <p:cNvPr id="15" name="Text 13"/>
          <p:cNvSpPr/>
          <p:nvPr/>
        </p:nvSpPr>
        <p:spPr>
          <a:xfrm>
            <a:off x="4892040" y="4544568"/>
            <a:ext cx="6400800" cy="548640"/>
          </a:xfrm>
          <a:prstGeom prst="rect">
            <a:avLst/>
          </a:prstGeom>
          <a:noFill/>
          <a:ln/>
        </p:spPr>
        <p:txBody>
          <a:bodyPr wrap="square" lIns="0" tIns="0" rIns="0" bIns="0" rtlCol="0" anchor="ctr"/>
          <a:lstStyle/>
          <a:p>
            <a:pPr indent="0" marL="0">
              <a:buNone/>
            </a:pPr>
            <a:r>
              <a:rPr lang="en-US" sz="2800" dirty="0">
                <a:solidFill>
                  <a:srgbClr val="083E4F"/>
                </a:solidFill>
                <a:latin typeface="Arial" pitchFamily="34" charset="0"/>
                <a:ea typeface="Arial" pitchFamily="34" charset="-122"/>
                <a:cs typeface="Arial" pitchFamily="34" charset="-120"/>
              </a:rPr>
              <a:t>Plan + result beside the code</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CORE INTEGRATIONS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Connect Git to your infrastructure tools.</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05</a:t>
            </a:r>
            <a:endParaRPr lang="en-US" sz="1200" dirty="0"/>
          </a:p>
        </p:txBody>
      </p:sp>
      <p:sp>
        <p:nvSpPr>
          <p:cNvPr id="5" name="Text 3"/>
          <p:cNvSpPr/>
          <p:nvPr/>
        </p:nvSpPr>
        <p:spPr>
          <a:xfrm>
            <a:off x="731520" y="2816352"/>
            <a:ext cx="292608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Git providers</a:t>
            </a:r>
            <a:endParaRPr lang="en-US" sz="2800" dirty="0"/>
          </a:p>
        </p:txBody>
      </p:sp>
      <p:sp>
        <p:nvSpPr>
          <p:cNvPr id="6" name="Text 4"/>
          <p:cNvSpPr/>
          <p:nvPr/>
        </p:nvSpPr>
        <p:spPr>
          <a:xfrm>
            <a:off x="731520" y="3410712"/>
            <a:ext cx="292608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GitHub · GitLab</a:t>
            </a:r>
            <a:endParaRPr lang="en-US" sz="2200" dirty="0"/>
          </a:p>
        </p:txBody>
      </p:sp>
      <p:sp>
        <p:nvSpPr>
          <p:cNvPr id="7" name="Shape 5"/>
          <p:cNvSpPr/>
          <p:nvPr/>
        </p:nvSpPr>
        <p:spPr>
          <a:xfrm>
            <a:off x="4617720" y="2724912"/>
            <a:ext cx="2971800" cy="1280160"/>
          </a:xfrm>
          <a:prstGeom prst="rect">
            <a:avLst/>
          </a:prstGeom>
          <a:solidFill>
            <a:srgbClr val="EAF1F3"/>
          </a:solidFill>
          <a:ln w="12700">
            <a:solidFill>
              <a:srgbClr val="EAF1F3"/>
            </a:solidFill>
            <a:prstDash val="solid"/>
          </a:ln>
        </p:spPr>
      </p:sp>
      <p:sp>
        <p:nvSpPr>
          <p:cNvPr id="8" name="Text 6"/>
          <p:cNvSpPr/>
          <p:nvPr/>
        </p:nvSpPr>
        <p:spPr>
          <a:xfrm>
            <a:off x="4818888" y="2862072"/>
            <a:ext cx="256946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Atlantis</a:t>
            </a:r>
            <a:endParaRPr lang="en-US" sz="2700" dirty="0"/>
          </a:p>
        </p:txBody>
      </p:sp>
      <p:sp>
        <p:nvSpPr>
          <p:cNvPr id="9" name="Text 7"/>
          <p:cNvSpPr/>
          <p:nvPr/>
        </p:nvSpPr>
        <p:spPr>
          <a:xfrm>
            <a:off x="4818888" y="3346704"/>
            <a:ext cx="256946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PR orchestration</a:t>
            </a:r>
            <a:endParaRPr lang="en-US" sz="1900" dirty="0"/>
          </a:p>
        </p:txBody>
      </p:sp>
      <p:sp>
        <p:nvSpPr>
          <p:cNvPr id="10" name="Text 8"/>
          <p:cNvSpPr/>
          <p:nvPr/>
        </p:nvSpPr>
        <p:spPr>
          <a:xfrm>
            <a:off x="8503920" y="2816352"/>
            <a:ext cx="297180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IaC execution</a:t>
            </a:r>
            <a:endParaRPr lang="en-US" sz="2800" dirty="0"/>
          </a:p>
        </p:txBody>
      </p:sp>
      <p:sp>
        <p:nvSpPr>
          <p:cNvPr id="11" name="Text 9"/>
          <p:cNvSpPr/>
          <p:nvPr/>
        </p:nvSpPr>
        <p:spPr>
          <a:xfrm>
            <a:off x="8503920" y="3410712"/>
            <a:ext cx="297180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Terraform / OpenTofu</a:t>
            </a:r>
            <a:endParaRPr lang="en-US" sz="2200" dirty="0"/>
          </a:p>
        </p:txBody>
      </p:sp>
      <p:sp>
        <p:nvSpPr>
          <p:cNvPr id="12" name="Shape 10"/>
          <p:cNvSpPr/>
          <p:nvPr/>
        </p:nvSpPr>
        <p:spPr>
          <a:xfrm>
            <a:off x="3703320" y="3383280"/>
            <a:ext cx="713232" cy="0"/>
          </a:xfrm>
          <a:prstGeom prst="line">
            <a:avLst/>
          </a:prstGeom>
          <a:noFill/>
          <a:ln w="25400">
            <a:solidFill>
              <a:srgbClr val="086679"/>
            </a:solidFill>
            <a:prstDash val="solid"/>
            <a:headEnd type="none"/>
            <a:tailEnd type="triangle"/>
          </a:ln>
        </p:spPr>
      </p:sp>
      <p:sp>
        <p:nvSpPr>
          <p:cNvPr id="13" name="Shape 11"/>
          <p:cNvSpPr/>
          <p:nvPr/>
        </p:nvSpPr>
        <p:spPr>
          <a:xfrm>
            <a:off x="7790688" y="3383280"/>
            <a:ext cx="512064" cy="0"/>
          </a:xfrm>
          <a:prstGeom prst="line">
            <a:avLst/>
          </a:prstGeom>
          <a:noFill/>
          <a:ln w="25400">
            <a:solidFill>
              <a:srgbClr val="086679"/>
            </a:solidFill>
            <a:prstDash val="solid"/>
            <a:headEnd type="none"/>
            <a:tailEnd type="triangle"/>
          </a:ln>
        </p:spPr>
      </p:sp>
      <p:sp>
        <p:nvSpPr>
          <p:cNvPr id="14" name="Text 12"/>
          <p:cNvSpPr/>
          <p:nvPr/>
        </p:nvSpPr>
        <p:spPr>
          <a:xfrm>
            <a:off x="731520" y="4892040"/>
            <a:ext cx="3200400" cy="594360"/>
          </a:xfrm>
          <a:prstGeom prst="rect">
            <a:avLst/>
          </a:prstGeom>
          <a:noFill/>
          <a:ln/>
        </p:spPr>
        <p:txBody>
          <a:bodyPr wrap="square" lIns="0" tIns="0" rIns="0" bIns="0" rtlCol="0" anchor="ctr"/>
          <a:lstStyle/>
          <a:p>
            <a:pPr indent="0" marL="0">
              <a:buNone/>
            </a:pPr>
            <a:r>
              <a:rPr lang="en-US" sz="2300" b="1" dirty="0">
                <a:solidFill>
                  <a:srgbClr val="086679"/>
                </a:solidFill>
                <a:latin typeface="Arial" pitchFamily="34" charset="0"/>
                <a:ea typeface="Arial" pitchFamily="34" charset="-122"/>
                <a:cs typeface="Arial" pitchFamily="34" charset="-120"/>
              </a:rPr>
              <a:t>Public or self-hosted</a:t>
            </a:r>
            <a:endParaRPr lang="en-US" sz="2300" dirty="0"/>
          </a:p>
        </p:txBody>
      </p:sp>
      <p:sp>
        <p:nvSpPr>
          <p:cNvPr id="15" name="Shape 13"/>
          <p:cNvSpPr/>
          <p:nvPr/>
        </p:nvSpPr>
        <p:spPr>
          <a:xfrm>
            <a:off x="9966960" y="4251960"/>
            <a:ext cx="0" cy="365760"/>
          </a:xfrm>
          <a:prstGeom prst="line">
            <a:avLst/>
          </a:prstGeom>
          <a:noFill/>
          <a:ln w="25400">
            <a:solidFill>
              <a:srgbClr val="086679"/>
            </a:solidFill>
            <a:prstDash val="solid"/>
            <a:headEnd type="none"/>
            <a:tailEnd type="triangle"/>
          </a:ln>
        </p:spPr>
      </p:sp>
      <p:sp>
        <p:nvSpPr>
          <p:cNvPr id="16" name="Text 14"/>
          <p:cNvSpPr/>
          <p:nvPr/>
        </p:nvSpPr>
        <p:spPr>
          <a:xfrm>
            <a:off x="4572000" y="4754880"/>
            <a:ext cx="6858000" cy="411480"/>
          </a:xfrm>
          <a:prstGeom prst="rect">
            <a:avLst/>
          </a:prstGeom>
          <a:noFill/>
          <a:ln/>
        </p:spPr>
        <p:txBody>
          <a:bodyPr wrap="square" lIns="0" tIns="0" rIns="0" bIns="0" rtlCol="0" anchor="ctr"/>
          <a:lstStyle/>
          <a:p>
            <a:pPr algn="r" indent="0" marL="0">
              <a:buNone/>
            </a:pPr>
            <a:r>
              <a:rPr lang="en-US" sz="2400" b="1" dirty="0">
                <a:solidFill>
                  <a:srgbClr val="086679"/>
                </a:solidFill>
                <a:latin typeface="Arial" pitchFamily="34" charset="0"/>
                <a:ea typeface="Arial" pitchFamily="34" charset="-122"/>
                <a:cs typeface="Arial" pitchFamily="34" charset="-120"/>
              </a:rPr>
              <a:t>Cloud providers</a:t>
            </a:r>
            <a:endParaRPr lang="en-US" sz="2400" dirty="0"/>
          </a:p>
        </p:txBody>
      </p:sp>
      <p:sp>
        <p:nvSpPr>
          <p:cNvPr id="17" name="Text 15"/>
          <p:cNvSpPr/>
          <p:nvPr/>
        </p:nvSpPr>
        <p:spPr>
          <a:xfrm>
            <a:off x="4572000" y="5367528"/>
            <a:ext cx="6858000" cy="457200"/>
          </a:xfrm>
          <a:prstGeom prst="rect">
            <a:avLst/>
          </a:prstGeom>
          <a:noFill/>
          <a:ln/>
        </p:spPr>
        <p:txBody>
          <a:bodyPr wrap="square" lIns="0" tIns="0" rIns="0" bIns="0" rtlCol="0" anchor="ctr"/>
          <a:lstStyle/>
          <a:p>
            <a:pPr algn="r" indent="0" marL="0">
              <a:buNone/>
            </a:pPr>
            <a:r>
              <a:rPr lang="en-US" sz="2600" dirty="0">
                <a:solidFill>
                  <a:srgbClr val="083E4F"/>
                </a:solidFill>
                <a:latin typeface="Arial" pitchFamily="34" charset="0"/>
                <a:ea typeface="Arial" pitchFamily="34" charset="-122"/>
                <a:cs typeface="Arial" pitchFamily="34" charset="-120"/>
              </a:rPr>
              <a:t>e.g. Alibaba Cloud · Tencent Cloud</a:t>
            </a:r>
            <a:endParaRPr lang="en-US" sz="2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WORKFLOW EXTENSIONS</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Extend the pull-request review.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06</a:t>
            </a:r>
            <a:endParaRPr lang="en-US" sz="1200" dirty="0"/>
          </a:p>
        </p:txBody>
      </p:sp>
      <p:sp>
        <p:nvSpPr>
          <p:cNvPr id="5" name="Text 3"/>
          <p:cNvSpPr/>
          <p:nvPr/>
        </p:nvSpPr>
        <p:spPr>
          <a:xfrm>
            <a:off x="731520" y="3063240"/>
            <a:ext cx="242316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Plan</a:t>
            </a:r>
            <a:endParaRPr lang="en-US" sz="2800" dirty="0"/>
          </a:p>
        </p:txBody>
      </p:sp>
      <p:sp>
        <p:nvSpPr>
          <p:cNvPr id="6" name="Text 4"/>
          <p:cNvSpPr/>
          <p:nvPr/>
        </p:nvSpPr>
        <p:spPr>
          <a:xfrm>
            <a:off x="731520" y="3657600"/>
            <a:ext cx="242316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Review input</a:t>
            </a:r>
            <a:endParaRPr lang="en-US" sz="2200" dirty="0"/>
          </a:p>
        </p:txBody>
      </p:sp>
      <p:sp>
        <p:nvSpPr>
          <p:cNvPr id="7" name="Text 5"/>
          <p:cNvSpPr/>
          <p:nvPr/>
        </p:nvSpPr>
        <p:spPr>
          <a:xfrm>
            <a:off x="4526280" y="2240280"/>
            <a:ext cx="288036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Policy</a:t>
            </a:r>
            <a:endParaRPr lang="en-US" sz="2800" dirty="0"/>
          </a:p>
        </p:txBody>
      </p:sp>
      <p:sp>
        <p:nvSpPr>
          <p:cNvPr id="8" name="Text 6"/>
          <p:cNvSpPr/>
          <p:nvPr/>
        </p:nvSpPr>
        <p:spPr>
          <a:xfrm>
            <a:off x="4526280" y="2834640"/>
            <a:ext cx="288036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e.g. Conftest</a:t>
            </a:r>
            <a:endParaRPr lang="en-US" sz="2200" dirty="0"/>
          </a:p>
        </p:txBody>
      </p:sp>
      <p:sp>
        <p:nvSpPr>
          <p:cNvPr id="9" name="Text 7"/>
          <p:cNvSpPr/>
          <p:nvPr/>
        </p:nvSpPr>
        <p:spPr>
          <a:xfrm>
            <a:off x="4526280" y="3977640"/>
            <a:ext cx="288036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Cost</a:t>
            </a:r>
            <a:endParaRPr lang="en-US" sz="2800" dirty="0"/>
          </a:p>
        </p:txBody>
      </p:sp>
      <p:sp>
        <p:nvSpPr>
          <p:cNvPr id="10" name="Text 8"/>
          <p:cNvSpPr/>
          <p:nvPr/>
        </p:nvSpPr>
        <p:spPr>
          <a:xfrm>
            <a:off x="4526280" y="4572000"/>
            <a:ext cx="288036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e.g. Infracost</a:t>
            </a:r>
            <a:endParaRPr lang="en-US" sz="2200" dirty="0"/>
          </a:p>
        </p:txBody>
      </p:sp>
      <p:sp>
        <p:nvSpPr>
          <p:cNvPr id="11" name="Text 9"/>
          <p:cNvSpPr/>
          <p:nvPr/>
        </p:nvSpPr>
        <p:spPr>
          <a:xfrm>
            <a:off x="8823960" y="3063240"/>
            <a:ext cx="260604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Review</a:t>
            </a:r>
            <a:endParaRPr lang="en-US" sz="2800" dirty="0"/>
          </a:p>
        </p:txBody>
      </p:sp>
      <p:sp>
        <p:nvSpPr>
          <p:cNvPr id="12" name="Text 10"/>
          <p:cNvSpPr/>
          <p:nvPr/>
        </p:nvSpPr>
        <p:spPr>
          <a:xfrm>
            <a:off x="8823960" y="3657600"/>
            <a:ext cx="260604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Added context</a:t>
            </a:r>
            <a:endParaRPr lang="en-US" sz="2200" dirty="0"/>
          </a:p>
        </p:txBody>
      </p:sp>
      <p:sp>
        <p:nvSpPr>
          <p:cNvPr id="13" name="Shape 11"/>
          <p:cNvSpPr/>
          <p:nvPr/>
        </p:nvSpPr>
        <p:spPr>
          <a:xfrm>
            <a:off x="3246120" y="3584448"/>
            <a:ext cx="594360" cy="0"/>
          </a:xfrm>
          <a:prstGeom prst="line">
            <a:avLst/>
          </a:prstGeom>
          <a:noFill/>
          <a:ln w="25400">
            <a:solidFill>
              <a:srgbClr val="086679"/>
            </a:solidFill>
            <a:prstDash val="solid"/>
            <a:headEnd type="none"/>
            <a:tailEnd type="none"/>
          </a:ln>
        </p:spPr>
      </p:sp>
      <p:sp>
        <p:nvSpPr>
          <p:cNvPr id="14" name="Shape 12"/>
          <p:cNvSpPr/>
          <p:nvPr/>
        </p:nvSpPr>
        <p:spPr>
          <a:xfrm>
            <a:off x="3840480" y="2606040"/>
            <a:ext cx="0" cy="1737360"/>
          </a:xfrm>
          <a:prstGeom prst="line">
            <a:avLst/>
          </a:prstGeom>
          <a:noFill/>
          <a:ln w="25400">
            <a:solidFill>
              <a:srgbClr val="086679"/>
            </a:solidFill>
            <a:prstDash val="solid"/>
            <a:headEnd type="none"/>
            <a:tailEnd type="none"/>
          </a:ln>
        </p:spPr>
      </p:sp>
      <p:sp>
        <p:nvSpPr>
          <p:cNvPr id="15" name="Shape 13"/>
          <p:cNvSpPr/>
          <p:nvPr/>
        </p:nvSpPr>
        <p:spPr>
          <a:xfrm>
            <a:off x="3840480" y="2606040"/>
            <a:ext cx="438912" cy="0"/>
          </a:xfrm>
          <a:prstGeom prst="line">
            <a:avLst/>
          </a:prstGeom>
          <a:noFill/>
          <a:ln w="25400">
            <a:solidFill>
              <a:srgbClr val="086679"/>
            </a:solidFill>
            <a:prstDash val="solid"/>
            <a:headEnd type="none"/>
            <a:tailEnd type="triangle"/>
          </a:ln>
        </p:spPr>
      </p:sp>
      <p:sp>
        <p:nvSpPr>
          <p:cNvPr id="16" name="Shape 14"/>
          <p:cNvSpPr/>
          <p:nvPr/>
        </p:nvSpPr>
        <p:spPr>
          <a:xfrm>
            <a:off x="3840480" y="4343400"/>
            <a:ext cx="438912" cy="0"/>
          </a:xfrm>
          <a:prstGeom prst="line">
            <a:avLst/>
          </a:prstGeom>
          <a:noFill/>
          <a:ln w="25400">
            <a:solidFill>
              <a:srgbClr val="086679"/>
            </a:solidFill>
            <a:prstDash val="solid"/>
            <a:headEnd type="none"/>
            <a:tailEnd type="triangle"/>
          </a:ln>
        </p:spPr>
      </p:sp>
      <p:sp>
        <p:nvSpPr>
          <p:cNvPr id="17" name="Shape 15"/>
          <p:cNvSpPr/>
          <p:nvPr/>
        </p:nvSpPr>
        <p:spPr>
          <a:xfrm>
            <a:off x="7589520" y="2606040"/>
            <a:ext cx="548640" cy="0"/>
          </a:xfrm>
          <a:prstGeom prst="line">
            <a:avLst/>
          </a:prstGeom>
          <a:noFill/>
          <a:ln w="25400">
            <a:solidFill>
              <a:srgbClr val="086679"/>
            </a:solidFill>
            <a:prstDash val="solid"/>
            <a:headEnd type="none"/>
            <a:tailEnd type="none"/>
          </a:ln>
        </p:spPr>
      </p:sp>
      <p:sp>
        <p:nvSpPr>
          <p:cNvPr id="18" name="Shape 16"/>
          <p:cNvSpPr/>
          <p:nvPr/>
        </p:nvSpPr>
        <p:spPr>
          <a:xfrm>
            <a:off x="7589520" y="4343400"/>
            <a:ext cx="548640" cy="0"/>
          </a:xfrm>
          <a:prstGeom prst="line">
            <a:avLst/>
          </a:prstGeom>
          <a:noFill/>
          <a:ln w="25400">
            <a:solidFill>
              <a:srgbClr val="086679"/>
            </a:solidFill>
            <a:prstDash val="solid"/>
            <a:headEnd type="none"/>
            <a:tailEnd type="none"/>
          </a:ln>
        </p:spPr>
      </p:sp>
      <p:sp>
        <p:nvSpPr>
          <p:cNvPr id="19" name="Shape 17"/>
          <p:cNvSpPr/>
          <p:nvPr/>
        </p:nvSpPr>
        <p:spPr>
          <a:xfrm>
            <a:off x="8138160" y="2606040"/>
            <a:ext cx="0" cy="1737360"/>
          </a:xfrm>
          <a:prstGeom prst="line">
            <a:avLst/>
          </a:prstGeom>
          <a:noFill/>
          <a:ln w="25400">
            <a:solidFill>
              <a:srgbClr val="086679"/>
            </a:solidFill>
            <a:prstDash val="solid"/>
            <a:headEnd type="none"/>
            <a:tailEnd type="none"/>
          </a:ln>
        </p:spPr>
      </p:sp>
      <p:sp>
        <p:nvSpPr>
          <p:cNvPr id="20" name="Shape 18"/>
          <p:cNvSpPr/>
          <p:nvPr/>
        </p:nvSpPr>
        <p:spPr>
          <a:xfrm>
            <a:off x="8138160" y="3584448"/>
            <a:ext cx="457200" cy="0"/>
          </a:xfrm>
          <a:prstGeom prst="line">
            <a:avLst/>
          </a:prstGeom>
          <a:noFill/>
          <a:ln w="25400">
            <a:solidFill>
              <a:srgbClr val="086679"/>
            </a:solidFill>
            <a:prstDash val="solid"/>
            <a:headEnd type="none"/>
            <a:tailEnd type="triangle"/>
          </a:ln>
        </p:spPr>
      </p:sp>
      <p:sp>
        <p:nvSpPr>
          <p:cNvPr id="21" name="Text 19"/>
          <p:cNvSpPr/>
          <p:nvPr/>
        </p:nvSpPr>
        <p:spPr>
          <a:xfrm>
            <a:off x="731520" y="5577840"/>
            <a:ext cx="10789920" cy="411480"/>
          </a:xfrm>
          <a:prstGeom prst="rect">
            <a:avLst/>
          </a:prstGeom>
          <a:noFill/>
          <a:ln/>
        </p:spPr>
        <p:txBody>
          <a:bodyPr wrap="square" lIns="0" tIns="0" rIns="0" bIns="0" rtlCol="0" anchor="ctr"/>
          <a:lstStyle/>
          <a:p>
            <a:pPr algn="ctr" indent="0" marL="0">
              <a:buNone/>
            </a:pPr>
            <a:r>
              <a:rPr lang="en-US" sz="2700" b="1" dirty="0">
                <a:solidFill>
                  <a:srgbClr val="086679"/>
                </a:solidFill>
                <a:latin typeface="Arial" pitchFamily="34" charset="0"/>
                <a:ea typeface="Arial" pitchFamily="34" charset="-122"/>
                <a:cs typeface="Arial" pitchFamily="34" charset="-120"/>
              </a:rPr>
              <a:t>Custom workflows compose your own tooling.</a:t>
            </a:r>
            <a:endParaRPr lang="en-US" sz="2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DEPLOYMENT MODELS</a:t>
            </a:r>
            <a:endParaRPr lang="en-US" sz="1600" dirty="0"/>
          </a:p>
        </p:txBody>
      </p:sp>
      <p:sp>
        <p:nvSpPr>
          <p:cNvPr id="3" name="Text 1"/>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07</a:t>
            </a:r>
            <a:endParaRPr lang="en-US" sz="1200" dirty="0"/>
          </a:p>
        </p:txBody>
      </p:sp>
      <p:sp>
        <p:nvSpPr>
          <p:cNvPr id="4" name="Text 2"/>
          <p:cNvSpPr/>
          <p:nvPr/>
        </p:nvSpPr>
        <p:spPr>
          <a:xfrm>
            <a:off x="566928" y="932688"/>
            <a:ext cx="11064240" cy="1280160"/>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Atlantis is self-hosted.</a:t>
            </a:r>
            <a:endParaRPr lang="en-US" sz="3600" dirty="0"/>
          </a:p>
          <a:p>
            <a:pPr indent="0" marL="0">
              <a:buNone/>
            </a:pPr>
            <a:r>
              <a:rPr lang="en-US" sz="3600" b="1" dirty="0">
                <a:solidFill>
                  <a:srgbClr val="083E4F"/>
                </a:solidFill>
                <a:latin typeface="Arial" pitchFamily="34" charset="0"/>
                <a:ea typeface="Arial" pitchFamily="34" charset="-122"/>
                <a:cs typeface="Arial" pitchFamily="34" charset="-120"/>
              </a:rPr>
              <a:t>Kubernetes is optional.</a:t>
            </a:r>
            <a:endParaRPr lang="en-US" sz="3600" dirty="0"/>
          </a:p>
        </p:txBody>
      </p:sp>
      <p:sp>
        <p:nvSpPr>
          <p:cNvPr id="5" name="Text 3"/>
          <p:cNvSpPr/>
          <p:nvPr/>
        </p:nvSpPr>
        <p:spPr>
          <a:xfrm>
            <a:off x="4187952" y="2514600"/>
            <a:ext cx="3794760" cy="457200"/>
          </a:xfrm>
          <a:prstGeom prst="rect">
            <a:avLst/>
          </a:prstGeom>
          <a:noFill/>
          <a:ln/>
        </p:spPr>
        <p:txBody>
          <a:bodyPr wrap="square" lIns="0" tIns="0" rIns="0" bIns="0" rtlCol="0" anchor="ctr"/>
          <a:lstStyle/>
          <a:p>
            <a:pPr algn="ctr" indent="0" marL="0">
              <a:buNone/>
            </a:pPr>
            <a:r>
              <a:rPr lang="en-US" sz="2800" b="1" dirty="0">
                <a:solidFill>
                  <a:srgbClr val="086679"/>
                </a:solidFill>
                <a:latin typeface="Arial" pitchFamily="34" charset="0"/>
                <a:ea typeface="Arial" pitchFamily="34" charset="-122"/>
                <a:cs typeface="Arial" pitchFamily="34" charset="-120"/>
              </a:rPr>
              <a:t>Atlantis service</a:t>
            </a:r>
            <a:endParaRPr lang="en-US" sz="2800" dirty="0"/>
          </a:p>
        </p:txBody>
      </p:sp>
      <p:sp>
        <p:nvSpPr>
          <p:cNvPr id="6" name="Shape 4"/>
          <p:cNvSpPr/>
          <p:nvPr/>
        </p:nvSpPr>
        <p:spPr>
          <a:xfrm>
            <a:off x="6089904" y="3154680"/>
            <a:ext cx="0" cy="457200"/>
          </a:xfrm>
          <a:prstGeom prst="line">
            <a:avLst/>
          </a:prstGeom>
          <a:noFill/>
          <a:ln w="25400">
            <a:solidFill>
              <a:srgbClr val="086679"/>
            </a:solidFill>
            <a:prstDash val="solid"/>
            <a:headEnd type="none"/>
            <a:tailEnd type="none"/>
          </a:ln>
        </p:spPr>
      </p:sp>
      <p:sp>
        <p:nvSpPr>
          <p:cNvPr id="7" name="Shape 5"/>
          <p:cNvSpPr/>
          <p:nvPr/>
        </p:nvSpPr>
        <p:spPr>
          <a:xfrm>
            <a:off x="2414016" y="3611880"/>
            <a:ext cx="7351776" cy="0"/>
          </a:xfrm>
          <a:prstGeom prst="line">
            <a:avLst/>
          </a:prstGeom>
          <a:noFill/>
          <a:ln w="25400">
            <a:solidFill>
              <a:srgbClr val="086679"/>
            </a:solidFill>
            <a:prstDash val="solid"/>
            <a:headEnd type="none"/>
            <a:tailEnd type="none"/>
          </a:ln>
        </p:spPr>
      </p:sp>
      <p:sp>
        <p:nvSpPr>
          <p:cNvPr id="8" name="Shape 6"/>
          <p:cNvSpPr/>
          <p:nvPr/>
        </p:nvSpPr>
        <p:spPr>
          <a:xfrm>
            <a:off x="2414016" y="3611880"/>
            <a:ext cx="0" cy="438912"/>
          </a:xfrm>
          <a:prstGeom prst="line">
            <a:avLst/>
          </a:prstGeom>
          <a:noFill/>
          <a:ln w="25400">
            <a:solidFill>
              <a:srgbClr val="086679"/>
            </a:solidFill>
            <a:prstDash val="solid"/>
            <a:headEnd type="none"/>
            <a:tailEnd type="triangle"/>
          </a:ln>
        </p:spPr>
      </p:sp>
      <p:sp>
        <p:nvSpPr>
          <p:cNvPr id="9" name="Text 7"/>
          <p:cNvSpPr/>
          <p:nvPr/>
        </p:nvSpPr>
        <p:spPr>
          <a:xfrm>
            <a:off x="676656" y="4343400"/>
            <a:ext cx="347472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Kubernetes</a:t>
            </a:r>
            <a:endParaRPr lang="en-US" sz="2800" dirty="0"/>
          </a:p>
        </p:txBody>
      </p:sp>
      <p:sp>
        <p:nvSpPr>
          <p:cNvPr id="10" name="Text 8"/>
          <p:cNvSpPr/>
          <p:nvPr/>
        </p:nvSpPr>
        <p:spPr>
          <a:xfrm>
            <a:off x="676656" y="4937760"/>
            <a:ext cx="347472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Official Helm chart</a:t>
            </a:r>
            <a:endParaRPr lang="en-US" sz="2200" dirty="0"/>
          </a:p>
        </p:txBody>
      </p:sp>
      <p:sp>
        <p:nvSpPr>
          <p:cNvPr id="11" name="Shape 9"/>
          <p:cNvSpPr/>
          <p:nvPr/>
        </p:nvSpPr>
        <p:spPr>
          <a:xfrm>
            <a:off x="6089904" y="3611880"/>
            <a:ext cx="0" cy="438912"/>
          </a:xfrm>
          <a:prstGeom prst="line">
            <a:avLst/>
          </a:prstGeom>
          <a:noFill/>
          <a:ln w="25400">
            <a:solidFill>
              <a:srgbClr val="086679"/>
            </a:solidFill>
            <a:prstDash val="solid"/>
            <a:headEnd type="none"/>
            <a:tailEnd type="triangle"/>
          </a:ln>
        </p:spPr>
      </p:sp>
      <p:sp>
        <p:nvSpPr>
          <p:cNvPr id="12" name="Text 10"/>
          <p:cNvSpPr/>
          <p:nvPr/>
        </p:nvSpPr>
        <p:spPr>
          <a:xfrm>
            <a:off x="4352544" y="4343400"/>
            <a:ext cx="347472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Container</a:t>
            </a:r>
            <a:endParaRPr lang="en-US" sz="2800" dirty="0"/>
          </a:p>
        </p:txBody>
      </p:sp>
      <p:sp>
        <p:nvSpPr>
          <p:cNvPr id="13" name="Text 11"/>
          <p:cNvSpPr/>
          <p:nvPr/>
        </p:nvSpPr>
        <p:spPr>
          <a:xfrm>
            <a:off x="4352544" y="4937760"/>
            <a:ext cx="347472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Official image</a:t>
            </a:r>
            <a:endParaRPr lang="en-US" sz="2200" dirty="0"/>
          </a:p>
        </p:txBody>
      </p:sp>
      <p:sp>
        <p:nvSpPr>
          <p:cNvPr id="14" name="Shape 12"/>
          <p:cNvSpPr/>
          <p:nvPr/>
        </p:nvSpPr>
        <p:spPr>
          <a:xfrm>
            <a:off x="9765792" y="3611880"/>
            <a:ext cx="0" cy="438912"/>
          </a:xfrm>
          <a:prstGeom prst="line">
            <a:avLst/>
          </a:prstGeom>
          <a:noFill/>
          <a:ln w="25400">
            <a:solidFill>
              <a:srgbClr val="086679"/>
            </a:solidFill>
            <a:prstDash val="solid"/>
            <a:headEnd type="none"/>
            <a:tailEnd type="triangle"/>
          </a:ln>
        </p:spPr>
      </p:sp>
      <p:sp>
        <p:nvSpPr>
          <p:cNvPr id="15" name="Text 13"/>
          <p:cNvSpPr/>
          <p:nvPr/>
        </p:nvSpPr>
        <p:spPr>
          <a:xfrm>
            <a:off x="8028432" y="4343400"/>
            <a:ext cx="3474720" cy="457200"/>
          </a:xfrm>
          <a:prstGeom prst="rect">
            <a:avLst/>
          </a:prstGeom>
          <a:noFill/>
          <a:ln/>
        </p:spPr>
        <p:txBody>
          <a:bodyPr wrap="square" lIns="0" tIns="0" rIns="0" bIns="0" rtlCol="0" anchor="ctr"/>
          <a:lstStyle/>
          <a:p>
            <a:pPr algn="ctr" indent="0" marL="0">
              <a:buNone/>
            </a:pPr>
            <a:r>
              <a:rPr lang="en-US" sz="2800" b="1" dirty="0">
                <a:solidFill>
                  <a:srgbClr val="083E4F"/>
                </a:solidFill>
                <a:latin typeface="Arial" pitchFamily="34" charset="0"/>
                <a:ea typeface="Arial" pitchFamily="34" charset="-122"/>
                <a:cs typeface="Arial" pitchFamily="34" charset="-120"/>
              </a:rPr>
              <a:t>Server / VM</a:t>
            </a:r>
            <a:endParaRPr lang="en-US" sz="2800" dirty="0"/>
          </a:p>
        </p:txBody>
      </p:sp>
      <p:sp>
        <p:nvSpPr>
          <p:cNvPr id="16" name="Text 14"/>
          <p:cNvSpPr/>
          <p:nvPr/>
        </p:nvSpPr>
        <p:spPr>
          <a:xfrm>
            <a:off x="8028432" y="4937760"/>
            <a:ext cx="3474720" cy="731520"/>
          </a:xfrm>
          <a:prstGeom prst="rect">
            <a:avLst/>
          </a:prstGeom>
          <a:noFill/>
          <a:ln/>
        </p:spPr>
        <p:txBody>
          <a:bodyPr wrap="square" lIns="0" tIns="0" rIns="0" bIns="0" rtlCol="0" anchor="ctr"/>
          <a:lstStyle/>
          <a:p>
            <a:pPr algn="ctr" indent="0" marL="0">
              <a:buNone/>
            </a:pPr>
            <a:r>
              <a:rPr lang="en-US" sz="2200" dirty="0">
                <a:solidFill>
                  <a:srgbClr val="405965"/>
                </a:solidFill>
                <a:latin typeface="Arial" pitchFamily="34" charset="0"/>
                <a:ea typeface="Arial" pitchFamily="34" charset="-122"/>
                <a:cs typeface="Arial" pitchFamily="34" charset="-120"/>
              </a:rPr>
              <a:t>Atlantis binary</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ATLANTIS USER SURVEY · 2024 · N=354</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Multiple stacks. One PR workflow.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08</a:t>
            </a:r>
            <a:endParaRPr lang="en-US" sz="1200" dirty="0"/>
          </a:p>
        </p:txBody>
      </p:sp>
      <p:sp>
        <p:nvSpPr>
          <p:cNvPr id="5" name="Text 3"/>
          <p:cNvSpPr/>
          <p:nvPr/>
        </p:nvSpPr>
        <p:spPr>
          <a:xfrm>
            <a:off x="731520" y="2651760"/>
            <a:ext cx="3291840" cy="1280160"/>
          </a:xfrm>
          <a:prstGeom prst="rect">
            <a:avLst/>
          </a:prstGeom>
          <a:noFill/>
          <a:ln/>
        </p:spPr>
        <p:txBody>
          <a:bodyPr wrap="square" lIns="0" tIns="0" rIns="0" bIns="0" rtlCol="0" anchor="ctr"/>
          <a:lstStyle/>
          <a:p>
            <a:pPr indent="0" marL="0">
              <a:buNone/>
            </a:pPr>
            <a:r>
              <a:rPr lang="en-US" sz="9000" b="1" dirty="0">
                <a:solidFill>
                  <a:srgbClr val="086679"/>
                </a:solidFill>
                <a:latin typeface="Arial" pitchFamily="34" charset="0"/>
                <a:ea typeface="Arial" pitchFamily="34" charset="-122"/>
                <a:cs typeface="Arial" pitchFamily="34" charset="-120"/>
              </a:rPr>
              <a:t>354</a:t>
            </a:r>
            <a:endParaRPr lang="en-US" sz="9000" dirty="0"/>
          </a:p>
        </p:txBody>
      </p:sp>
      <p:sp>
        <p:nvSpPr>
          <p:cNvPr id="6" name="Text 4"/>
          <p:cNvSpPr/>
          <p:nvPr/>
        </p:nvSpPr>
        <p:spPr>
          <a:xfrm>
            <a:off x="731520" y="4069080"/>
            <a:ext cx="3383280" cy="457200"/>
          </a:xfrm>
          <a:prstGeom prst="rect">
            <a:avLst/>
          </a:prstGeom>
          <a:noFill/>
          <a:ln/>
        </p:spPr>
        <p:txBody>
          <a:bodyPr wrap="square" lIns="0" tIns="0" rIns="0" bIns="0" rtlCol="0" anchor="ctr"/>
          <a:lstStyle/>
          <a:p>
            <a:pPr indent="0" marL="0">
              <a:buNone/>
            </a:pPr>
            <a:r>
              <a:rPr lang="en-US" sz="2700" dirty="0">
                <a:solidFill>
                  <a:srgbClr val="405965"/>
                </a:solidFill>
                <a:latin typeface="Arial" pitchFamily="34" charset="0"/>
                <a:ea typeface="Arial" pitchFamily="34" charset="-122"/>
                <a:cs typeface="Arial" pitchFamily="34" charset="-120"/>
              </a:rPr>
              <a:t>survey responses</a:t>
            </a:r>
            <a:endParaRPr lang="en-US" sz="2700" dirty="0"/>
          </a:p>
        </p:txBody>
      </p:sp>
      <p:sp>
        <p:nvSpPr>
          <p:cNvPr id="7" name="Shape 5"/>
          <p:cNvSpPr/>
          <p:nvPr/>
        </p:nvSpPr>
        <p:spPr>
          <a:xfrm>
            <a:off x="4224528" y="2514600"/>
            <a:ext cx="0" cy="2743200"/>
          </a:xfrm>
          <a:prstGeom prst="line">
            <a:avLst/>
          </a:prstGeom>
          <a:noFill/>
          <a:ln w="25400">
            <a:solidFill>
              <a:srgbClr val="A6BAC1"/>
            </a:solidFill>
            <a:prstDash val="solid"/>
            <a:headEnd type="none"/>
            <a:tailEnd type="none"/>
          </a:ln>
        </p:spPr>
      </p:sp>
      <p:sp>
        <p:nvSpPr>
          <p:cNvPr id="8" name="Text 6"/>
          <p:cNvSpPr/>
          <p:nvPr/>
        </p:nvSpPr>
        <p:spPr>
          <a:xfrm>
            <a:off x="4645152" y="2560320"/>
            <a:ext cx="6766560" cy="320040"/>
          </a:xfrm>
          <a:prstGeom prst="rect">
            <a:avLst/>
          </a:prstGeom>
          <a:noFill/>
          <a:ln/>
        </p:spPr>
        <p:txBody>
          <a:bodyPr wrap="square" lIns="0" tIns="0" rIns="0" bIns="0" rtlCol="0" anchor="ctr"/>
          <a:lstStyle/>
          <a:p>
            <a:pPr indent="0" marL="0">
              <a:buNone/>
            </a:pPr>
            <a:r>
              <a:rPr lang="en-US" sz="2200" b="1" dirty="0">
                <a:solidFill>
                  <a:srgbClr val="086679"/>
                </a:solidFill>
                <a:latin typeface="Arial" pitchFamily="34" charset="0"/>
                <a:ea typeface="Arial" pitchFamily="34" charset="-122"/>
                <a:cs typeface="Arial" pitchFamily="34" charset="-120"/>
              </a:rPr>
              <a:t>GIT</a:t>
            </a:r>
            <a:endParaRPr lang="en-US" sz="2200" dirty="0"/>
          </a:p>
        </p:txBody>
      </p:sp>
      <p:sp>
        <p:nvSpPr>
          <p:cNvPr id="9" name="Text 7"/>
          <p:cNvSpPr/>
          <p:nvPr/>
        </p:nvSpPr>
        <p:spPr>
          <a:xfrm>
            <a:off x="4645152" y="2999232"/>
            <a:ext cx="6537960" cy="868680"/>
          </a:xfrm>
          <a:prstGeom prst="rect">
            <a:avLst/>
          </a:prstGeom>
          <a:noFill/>
          <a:ln/>
        </p:spPr>
        <p:txBody>
          <a:bodyPr wrap="square" lIns="0" tIns="0" rIns="0" bIns="0" rtlCol="0" anchor="ctr"/>
          <a:lstStyle/>
          <a:p>
            <a:pPr indent="0" marL="0">
              <a:buNone/>
            </a:pPr>
            <a:r>
              <a:rPr lang="en-US" sz="2700" dirty="0">
                <a:solidFill>
                  <a:srgbClr val="083E4F"/>
                </a:solidFill>
                <a:latin typeface="Arial" pitchFamily="34" charset="0"/>
                <a:ea typeface="Arial" pitchFamily="34" charset="-122"/>
                <a:cs typeface="Arial" pitchFamily="34" charset="-120"/>
              </a:rPr>
              <a:t>GitHub leads · GitLab sizeable</a:t>
            </a:r>
            <a:endParaRPr lang="en-US" sz="2700" dirty="0"/>
          </a:p>
        </p:txBody>
      </p:sp>
      <p:sp>
        <p:nvSpPr>
          <p:cNvPr id="10" name="Text 8"/>
          <p:cNvSpPr/>
          <p:nvPr/>
        </p:nvSpPr>
        <p:spPr>
          <a:xfrm>
            <a:off x="4645152" y="3950208"/>
            <a:ext cx="6766560" cy="320040"/>
          </a:xfrm>
          <a:prstGeom prst="rect">
            <a:avLst/>
          </a:prstGeom>
          <a:noFill/>
          <a:ln/>
        </p:spPr>
        <p:txBody>
          <a:bodyPr wrap="square" lIns="0" tIns="0" rIns="0" bIns="0" rtlCol="0" anchor="ctr"/>
          <a:lstStyle/>
          <a:p>
            <a:pPr indent="0" marL="0">
              <a:buNone/>
            </a:pPr>
            <a:r>
              <a:rPr lang="en-US" sz="2200" b="1" dirty="0">
                <a:solidFill>
                  <a:srgbClr val="086679"/>
                </a:solidFill>
                <a:latin typeface="Arial" pitchFamily="34" charset="0"/>
                <a:ea typeface="Arial" pitchFamily="34" charset="-122"/>
                <a:cs typeface="Arial" pitchFamily="34" charset="-120"/>
              </a:rPr>
              <a:t>IaC</a:t>
            </a:r>
            <a:endParaRPr lang="en-US" sz="2200" dirty="0"/>
          </a:p>
        </p:txBody>
      </p:sp>
      <p:sp>
        <p:nvSpPr>
          <p:cNvPr id="11" name="Text 9"/>
          <p:cNvSpPr/>
          <p:nvPr/>
        </p:nvSpPr>
        <p:spPr>
          <a:xfrm>
            <a:off x="4645152" y="4389120"/>
            <a:ext cx="6537960" cy="868680"/>
          </a:xfrm>
          <a:prstGeom prst="rect">
            <a:avLst/>
          </a:prstGeom>
          <a:noFill/>
          <a:ln/>
        </p:spPr>
        <p:txBody>
          <a:bodyPr wrap="square" lIns="0" tIns="0" rIns="0" bIns="0" rtlCol="0" anchor="ctr"/>
          <a:lstStyle/>
          <a:p>
            <a:pPr indent="0" marL="0">
              <a:buNone/>
            </a:pPr>
            <a:r>
              <a:rPr lang="en-US" sz="2700" dirty="0">
                <a:solidFill>
                  <a:srgbClr val="083E4F"/>
                </a:solidFill>
                <a:latin typeface="Arial" pitchFamily="34" charset="0"/>
                <a:ea typeface="Arial" pitchFamily="34" charset="-122"/>
                <a:cs typeface="Arial" pitchFamily="34" charset="-120"/>
              </a:rPr>
              <a:t>Terraform dominant</a:t>
            </a:r>
            <a:endParaRPr lang="en-US" sz="2700" dirty="0"/>
          </a:p>
          <a:p>
            <a:pPr indent="0" marL="0">
              <a:buNone/>
            </a:pPr>
            <a:r>
              <a:rPr lang="en-US" sz="2700" dirty="0">
                <a:solidFill>
                  <a:srgbClr val="083E4F"/>
                </a:solidFill>
                <a:latin typeface="Arial" pitchFamily="34" charset="0"/>
                <a:ea typeface="Arial" pitchFamily="34" charset="-122"/>
                <a:cs typeface="Arial" pitchFamily="34" charset="-120"/>
              </a:rPr>
              <a:t>About half also use Terragrunt</a:t>
            </a:r>
            <a:endParaRPr lang="en-US" sz="2700" dirty="0"/>
          </a:p>
        </p:txBody>
      </p:sp>
      <p:sp>
        <p:nvSpPr>
          <p:cNvPr id="12" name="Text 10">
            <a:hlinkClick r:id="rId1" tooltip=""/>
          </p:cNvPr>
          <p:cNvSpPr/>
          <p:nvPr/>
        </p:nvSpPr>
        <p:spPr>
          <a:xfrm>
            <a:off x="731520" y="5669280"/>
            <a:ext cx="10607040" cy="365760"/>
          </a:xfrm>
          <a:prstGeom prst="rect">
            <a:avLst/>
          </a:prstGeom>
          <a:noFill/>
          <a:ln/>
        </p:spPr>
        <p:txBody>
          <a:bodyPr wrap="square" lIns="0" tIns="0" rIns="0" bIns="0" rtlCol="0" anchor="ctr"/>
          <a:lstStyle/>
          <a:p>
            <a:pPr indent="0" marL="0">
              <a:buNone/>
            </a:pPr>
            <a:r>
              <a:rPr lang="en-US" sz="2100" u="sng" dirty="0">
                <a:solidFill>
                  <a:srgbClr val="40596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Official results: runatlantis.io/blog</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PROJECT DIRECTION</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Toward Atlantis 1.0.0</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09</a:t>
            </a:r>
            <a:endParaRPr lang="en-US" sz="1200" dirty="0"/>
          </a:p>
        </p:txBody>
      </p:sp>
      <p:sp>
        <p:nvSpPr>
          <p:cNvPr id="5" name="Text 3"/>
          <p:cNvSpPr/>
          <p:nvPr/>
        </p:nvSpPr>
        <p:spPr>
          <a:xfrm>
            <a:off x="731520" y="2331720"/>
            <a:ext cx="10698480" cy="685800"/>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A clearer compatibility contract</a:t>
            </a:r>
            <a:endParaRPr lang="en-US" sz="3600" dirty="0"/>
          </a:p>
        </p:txBody>
      </p:sp>
      <p:sp>
        <p:nvSpPr>
          <p:cNvPr id="6" name="Text 4"/>
          <p:cNvSpPr/>
          <p:nvPr/>
        </p:nvSpPr>
        <p:spPr>
          <a:xfrm>
            <a:off x="731520" y="3611880"/>
            <a:ext cx="4572000" cy="594360"/>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Breaking changes</a:t>
            </a:r>
            <a:endParaRPr lang="en-US" sz="3100" dirty="0"/>
          </a:p>
        </p:txBody>
      </p:sp>
      <p:sp>
        <p:nvSpPr>
          <p:cNvPr id="7" name="Shape 5"/>
          <p:cNvSpPr/>
          <p:nvPr/>
        </p:nvSpPr>
        <p:spPr>
          <a:xfrm>
            <a:off x="5166360" y="3931920"/>
            <a:ext cx="1234440" cy="0"/>
          </a:xfrm>
          <a:prstGeom prst="line">
            <a:avLst/>
          </a:prstGeom>
          <a:noFill/>
          <a:ln w="25400">
            <a:solidFill>
              <a:srgbClr val="086679"/>
            </a:solidFill>
            <a:prstDash val="solid"/>
            <a:headEnd type="none"/>
            <a:tailEnd type="triangle"/>
          </a:ln>
        </p:spPr>
      </p:sp>
      <p:sp>
        <p:nvSpPr>
          <p:cNvPr id="8" name="Text 6"/>
          <p:cNvSpPr/>
          <p:nvPr/>
        </p:nvSpPr>
        <p:spPr>
          <a:xfrm>
            <a:off x="6766560" y="3611880"/>
            <a:ext cx="4617720" cy="594360"/>
          </a:xfrm>
          <a:prstGeom prst="rect">
            <a:avLst/>
          </a:prstGeom>
          <a:noFill/>
          <a:ln/>
        </p:spPr>
        <p:txBody>
          <a:bodyPr wrap="square" lIns="0" tIns="0" rIns="0" bIns="0" rtlCol="0" anchor="ctr"/>
          <a:lstStyle/>
          <a:p>
            <a:pPr indent="0" marL="0">
              <a:buNone/>
            </a:pPr>
            <a:r>
              <a:rPr lang="en-US" sz="3100" b="1" dirty="0">
                <a:solidFill>
                  <a:srgbClr val="086679"/>
                </a:solidFill>
                <a:latin typeface="Arial" pitchFamily="34" charset="0"/>
                <a:ea typeface="Arial" pitchFamily="34" charset="-122"/>
                <a:cs typeface="Arial" pitchFamily="34" charset="-120"/>
              </a:rPr>
              <a:t>Major version</a:t>
            </a:r>
            <a:endParaRPr lang="en-US" sz="3100" dirty="0"/>
          </a:p>
        </p:txBody>
      </p:sp>
      <p:sp>
        <p:nvSpPr>
          <p:cNvPr id="9" name="Text 7"/>
          <p:cNvSpPr/>
          <p:nvPr/>
        </p:nvSpPr>
        <p:spPr>
          <a:xfrm>
            <a:off x="731520" y="4937760"/>
            <a:ext cx="10698480" cy="457200"/>
          </a:xfrm>
          <a:prstGeom prst="rect">
            <a:avLst/>
          </a:prstGeom>
          <a:noFill/>
          <a:ln/>
        </p:spPr>
        <p:txBody>
          <a:bodyPr wrap="square" lIns="0" tIns="0" rIns="0" bIns="0" rtlCol="0" anchor="ctr"/>
          <a:lstStyle/>
          <a:p>
            <a:pPr indent="0" marL="0">
              <a:buNone/>
            </a:pPr>
            <a:r>
              <a:rPr lang="en-US" sz="2600" b="1" dirty="0">
                <a:solidFill>
                  <a:srgbClr val="083E4F"/>
                </a:solidFill>
                <a:latin typeface="Arial" pitchFamily="34" charset="0"/>
                <a:ea typeface="Arial" pitchFamily="34" charset="-122"/>
                <a:cs typeface="Arial" pitchFamily="34" charset="-120"/>
              </a:rPr>
              <a:t>Planning discussion · not released</a:t>
            </a:r>
            <a:endParaRPr lang="en-US" sz="2600" dirty="0"/>
          </a:p>
        </p:txBody>
      </p:sp>
      <p:sp>
        <p:nvSpPr>
          <p:cNvPr id="10" name="Text 8">
            <a:hlinkClick r:id="rId1" tooltip=""/>
          </p:cNvPr>
          <p:cNvSpPr/>
          <p:nvPr/>
        </p:nvSpPr>
        <p:spPr>
          <a:xfrm>
            <a:off x="731520" y="5623560"/>
            <a:ext cx="10698480" cy="365760"/>
          </a:xfrm>
          <a:prstGeom prst="rect">
            <a:avLst/>
          </a:prstGeom>
          <a:noFill/>
          <a:ln/>
        </p:spPr>
        <p:txBody>
          <a:bodyPr wrap="square" lIns="0" tIns="0" rIns="0" bIns="0" rtlCol="0" anchor="ctr"/>
          <a:lstStyle/>
          <a:p>
            <a:pPr indent="0" marL="0">
              <a:buNone/>
            </a:pPr>
            <a:r>
              <a:rPr lang="en-US" sz="2100" u="sng" dirty="0">
                <a:solidFill>
                  <a:srgbClr val="405965"/>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Draft proposal #5296 · release tracking #2496</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OPEN SOURCE · CNCF SANDBOX · APACHE 2.0</a:t>
            </a:r>
            <a:endParaRPr lang="en-US" sz="1600" dirty="0"/>
          </a:p>
        </p:txBody>
      </p:sp>
      <p:sp>
        <p:nvSpPr>
          <p:cNvPr id="3" name="Text 1"/>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10</a:t>
            </a:r>
            <a:endParaRPr lang="en-US" sz="1200" dirty="0"/>
          </a:p>
        </p:txBody>
      </p:sp>
      <p:sp>
        <p:nvSpPr>
          <p:cNvPr id="4" name="Text 2"/>
          <p:cNvSpPr/>
          <p:nvPr/>
        </p:nvSpPr>
        <p:spPr>
          <a:xfrm>
            <a:off x="566928" y="960120"/>
            <a:ext cx="10972800" cy="914400"/>
          </a:xfrm>
          <a:prstGeom prst="rect">
            <a:avLst/>
          </a:prstGeom>
          <a:noFill/>
          <a:ln/>
        </p:spPr>
        <p:txBody>
          <a:bodyPr wrap="square" lIns="0" tIns="0" rIns="0" bIns="0" rtlCol="0" anchor="ctr"/>
          <a:lstStyle/>
          <a:p>
            <a:pPr indent="0" marL="0">
              <a:buNone/>
            </a:pPr>
            <a:r>
              <a:rPr lang="en-US" sz="4400" b="1" dirty="0">
                <a:solidFill>
                  <a:srgbClr val="083E4F"/>
                </a:solidFill>
                <a:latin typeface="Arial" pitchFamily="34" charset="0"/>
                <a:ea typeface="Arial" pitchFamily="34" charset="-122"/>
                <a:cs typeface="Arial" pitchFamily="34" charset="-120"/>
              </a:rPr>
              <a:t>Infrastructure is code.</a:t>
            </a:r>
            <a:endParaRPr lang="en-US" sz="4400" dirty="0"/>
          </a:p>
        </p:txBody>
      </p:sp>
      <p:sp>
        <p:nvSpPr>
          <p:cNvPr id="5" name="Text 3"/>
          <p:cNvSpPr/>
          <p:nvPr/>
        </p:nvSpPr>
        <p:spPr>
          <a:xfrm>
            <a:off x="566928" y="2212848"/>
            <a:ext cx="5212080" cy="2514600"/>
          </a:xfrm>
          <a:prstGeom prst="rect">
            <a:avLst/>
          </a:prstGeom>
          <a:noFill/>
          <a:ln/>
        </p:spPr>
        <p:txBody>
          <a:bodyPr wrap="square" lIns="0" tIns="0" rIns="0" bIns="0" rtlCol="0" anchor="ctr"/>
          <a:lstStyle/>
          <a:p>
            <a:pPr indent="0" marL="0">
              <a:buNone/>
            </a:pPr>
            <a:r>
              <a:rPr lang="en-US" sz="4900" b="1" dirty="0">
                <a:solidFill>
                  <a:srgbClr val="086679"/>
                </a:solidFill>
                <a:latin typeface="Arial" pitchFamily="34" charset="0"/>
                <a:ea typeface="Arial" pitchFamily="34" charset="-122"/>
                <a:cs typeface="Arial" pitchFamily="34" charset="-120"/>
              </a:rPr>
              <a:t>Plan it.</a:t>
            </a:r>
            <a:endParaRPr lang="en-US" sz="4900" dirty="0"/>
          </a:p>
          <a:p>
            <a:pPr indent="0" marL="0">
              <a:buNone/>
            </a:pPr>
            <a:r>
              <a:rPr lang="en-US" sz="4900" b="1" dirty="0">
                <a:solidFill>
                  <a:srgbClr val="086679"/>
                </a:solidFill>
                <a:latin typeface="Arial" pitchFamily="34" charset="0"/>
                <a:ea typeface="Arial" pitchFamily="34" charset="-122"/>
                <a:cs typeface="Arial" pitchFamily="34" charset="-120"/>
              </a:rPr>
              <a:t>Review it.</a:t>
            </a:r>
            <a:endParaRPr lang="en-US" sz="4900" dirty="0"/>
          </a:p>
          <a:p>
            <a:pPr indent="0" marL="0">
              <a:buNone/>
            </a:pPr>
            <a:r>
              <a:rPr lang="en-US" sz="4900" b="1" dirty="0">
                <a:solidFill>
                  <a:srgbClr val="086679"/>
                </a:solidFill>
                <a:latin typeface="Arial" pitchFamily="34" charset="0"/>
                <a:ea typeface="Arial" pitchFamily="34" charset="-122"/>
                <a:cs typeface="Arial" pitchFamily="34" charset="-120"/>
              </a:rPr>
              <a:t>Apply it.</a:t>
            </a:r>
            <a:endParaRPr lang="en-US" sz="4900" dirty="0"/>
          </a:p>
        </p:txBody>
      </p:sp>
      <p:sp>
        <p:nvSpPr>
          <p:cNvPr id="6" name="Text 4"/>
          <p:cNvSpPr/>
          <p:nvPr/>
        </p:nvSpPr>
        <p:spPr>
          <a:xfrm>
            <a:off x="566928" y="5084064"/>
            <a:ext cx="5303520" cy="594360"/>
          </a:xfrm>
          <a:prstGeom prst="rect">
            <a:avLst/>
          </a:prstGeom>
          <a:noFill/>
          <a:ln/>
        </p:spPr>
        <p:txBody>
          <a:bodyPr wrap="square" lIns="0" tIns="0" rIns="0" bIns="0" rtlCol="0" anchor="ctr"/>
          <a:lstStyle/>
          <a:p>
            <a:pPr indent="0" marL="0">
              <a:buNone/>
            </a:pPr>
            <a:r>
              <a:rPr lang="en-US" sz="3000" b="1" dirty="0">
                <a:solidFill>
                  <a:srgbClr val="083E4F"/>
                </a:solidFill>
                <a:latin typeface="Arial" pitchFamily="34" charset="0"/>
                <a:ea typeface="Arial" pitchFamily="34" charset="-122"/>
                <a:cs typeface="Arial" pitchFamily="34" charset="-120"/>
              </a:rPr>
              <a:t>From the pull request.</a:t>
            </a:r>
            <a:endParaRPr lang="en-US" sz="3000" dirty="0"/>
          </a:p>
        </p:txBody>
      </p:sp>
      <p:sp>
        <p:nvSpPr>
          <p:cNvPr id="7" name="Shape 5"/>
          <p:cNvSpPr/>
          <p:nvPr/>
        </p:nvSpPr>
        <p:spPr>
          <a:xfrm>
            <a:off x="5623560" y="2240280"/>
            <a:ext cx="0" cy="3547872"/>
          </a:xfrm>
          <a:prstGeom prst="line">
            <a:avLst/>
          </a:prstGeom>
          <a:noFill/>
          <a:ln w="25400">
            <a:solidFill>
              <a:srgbClr val="A6BAC1"/>
            </a:solidFill>
            <a:prstDash val="solid"/>
            <a:headEnd type="none"/>
            <a:tailEnd type="none"/>
          </a:ln>
        </p:spPr>
      </p:sp>
      <p:sp>
        <p:nvSpPr>
          <p:cNvPr id="8" name="Text 6"/>
          <p:cNvSpPr/>
          <p:nvPr/>
        </p:nvSpPr>
        <p:spPr>
          <a:xfrm>
            <a:off x="5943600" y="2240280"/>
            <a:ext cx="2926080" cy="274320"/>
          </a:xfrm>
          <a:prstGeom prst="rect">
            <a:avLst/>
          </a:prstGeom>
          <a:noFill/>
          <a:ln/>
        </p:spPr>
        <p:txBody>
          <a:bodyPr wrap="square" lIns="0" tIns="0" rIns="0" bIns="0" rtlCol="0" anchor="ctr"/>
          <a:lstStyle/>
          <a:p>
            <a:pPr indent="0" marL="0">
              <a:buNone/>
            </a:pPr>
            <a:r>
              <a:rPr lang="en-US" sz="1800" b="1" dirty="0">
                <a:solidFill>
                  <a:srgbClr val="086679"/>
                </a:solidFill>
                <a:latin typeface="Arial" pitchFamily="34" charset="0"/>
                <a:ea typeface="Arial" pitchFamily="34" charset="-122"/>
                <a:cs typeface="Arial" pitchFamily="34" charset="-120"/>
              </a:rPr>
              <a:t>GET STARTED</a:t>
            </a:r>
            <a:endParaRPr lang="en-US" sz="1800" dirty="0"/>
          </a:p>
        </p:txBody>
      </p:sp>
      <p:sp>
        <p:nvSpPr>
          <p:cNvPr id="9" name="Text 7">
            <a:hlinkClick r:id="rId1" tooltip=""/>
          </p:cNvPr>
          <p:cNvSpPr/>
          <p:nvPr/>
        </p:nvSpPr>
        <p:spPr>
          <a:xfrm>
            <a:off x="5943600" y="2633472"/>
            <a:ext cx="3291840" cy="365760"/>
          </a:xfrm>
          <a:prstGeom prst="rect">
            <a:avLst/>
          </a:prstGeom>
          <a:noFill/>
          <a:ln/>
        </p:spPr>
        <p:txBody>
          <a:bodyPr wrap="square" lIns="0" tIns="0" rIns="0" bIns="0" rtlCol="0" anchor="ctr"/>
          <a:lstStyle/>
          <a:p>
            <a:pPr indent="0" marL="0">
              <a:buNone/>
            </a:pPr>
            <a:r>
              <a:rPr lang="en-US" sz="2300" u="sng" dirty="0">
                <a:solidFill>
                  <a:srgbClr val="083E4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runatlantis.io/docs</a:t>
            </a:r>
            <a:endParaRPr lang="en-US" sz="2300" dirty="0"/>
          </a:p>
        </p:txBody>
      </p:sp>
      <p:sp>
        <p:nvSpPr>
          <p:cNvPr id="10" name="Text 8"/>
          <p:cNvSpPr/>
          <p:nvPr/>
        </p:nvSpPr>
        <p:spPr>
          <a:xfrm>
            <a:off x="5943600" y="3218688"/>
            <a:ext cx="2926080" cy="274320"/>
          </a:xfrm>
          <a:prstGeom prst="rect">
            <a:avLst/>
          </a:prstGeom>
          <a:noFill/>
          <a:ln/>
        </p:spPr>
        <p:txBody>
          <a:bodyPr wrap="square" lIns="0" tIns="0" rIns="0" bIns="0" rtlCol="0" anchor="ctr"/>
          <a:lstStyle/>
          <a:p>
            <a:pPr indent="0" marL="0">
              <a:buNone/>
            </a:pPr>
            <a:r>
              <a:rPr lang="en-US" sz="1800" b="1" dirty="0">
                <a:solidFill>
                  <a:srgbClr val="086679"/>
                </a:solidFill>
                <a:latin typeface="Arial" pitchFamily="34" charset="0"/>
                <a:ea typeface="Arial" pitchFamily="34" charset="-122"/>
                <a:cs typeface="Arial" pitchFamily="34" charset="-120"/>
              </a:rPr>
              <a:t>SOURCE</a:t>
            </a:r>
            <a:endParaRPr lang="en-US" sz="1800" dirty="0"/>
          </a:p>
        </p:txBody>
      </p:sp>
      <p:sp>
        <p:nvSpPr>
          <p:cNvPr id="11" name="Text 9">
            <a:hlinkClick r:id="rId2" tooltip=""/>
          </p:cNvPr>
          <p:cNvSpPr/>
          <p:nvPr/>
        </p:nvSpPr>
        <p:spPr>
          <a:xfrm>
            <a:off x="5943600" y="3566160"/>
            <a:ext cx="3337560" cy="731520"/>
          </a:xfrm>
          <a:prstGeom prst="rect">
            <a:avLst/>
          </a:prstGeom>
          <a:noFill/>
          <a:ln/>
        </p:spPr>
        <p:txBody>
          <a:bodyPr wrap="square" lIns="0" tIns="0" rIns="0" bIns="0" rtlCol="0" anchor="ctr"/>
          <a:lstStyle/>
          <a:p>
            <a:pPr indent="0" marL="0">
              <a:buNone/>
            </a:pPr>
            <a:r>
              <a:rPr lang="en-US" sz="2200" u="sng" dirty="0">
                <a:solidFill>
                  <a:srgbClr val="083E4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a:t>
            </a:r>
            <a:endParaRPr lang="en-US" sz="2200" dirty="0"/>
          </a:p>
          <a:p>
            <a:pPr indent="0" marL="0">
              <a:buNone/>
            </a:pPr>
            <a:r>
              <a:rPr lang="en-US" sz="2200" u="sng" dirty="0">
                <a:solidFill>
                  <a:srgbClr val="083E4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runatlantis/atlantis</a:t>
            </a:r>
            <a:endParaRPr lang="en-US" sz="2200" dirty="0"/>
          </a:p>
        </p:txBody>
      </p:sp>
      <p:pic>
        <p:nvPicPr>
          <p:cNvPr id="12" name="Image 0" descr="QR code for https://www.runatlantis.io/">
            <a:hlinkClick r:id="rId4" tooltip=""/>
          </p:cNvPr>
          <p:cNvPicPr>
            <a:picLocks noChangeAspect="1"/>
          </p:cNvPicPr>
          <p:nvPr/>
        </p:nvPicPr>
        <p:blipFill>
          <a:blip r:embed="rId3"/>
          <a:stretch>
            <a:fillRect/>
          </a:stretch>
        </p:blipFill>
        <p:spPr>
          <a:xfrm>
            <a:off x="9354312" y="2176272"/>
            <a:ext cx="2176272" cy="2176272"/>
          </a:xfrm>
          <a:prstGeom prst="rect">
            <a:avLst/>
          </a:prstGeom>
        </p:spPr>
      </p:pic>
      <p:sp>
        <p:nvSpPr>
          <p:cNvPr id="13" name="Text 10"/>
          <p:cNvSpPr/>
          <p:nvPr/>
        </p:nvSpPr>
        <p:spPr>
          <a:xfrm>
            <a:off x="5943600" y="4507992"/>
            <a:ext cx="5486400" cy="274320"/>
          </a:xfrm>
          <a:prstGeom prst="rect">
            <a:avLst/>
          </a:prstGeom>
          <a:noFill/>
          <a:ln/>
        </p:spPr>
        <p:txBody>
          <a:bodyPr wrap="square" lIns="0" tIns="0" rIns="0" bIns="0" rtlCol="0" anchor="ctr"/>
          <a:lstStyle/>
          <a:p>
            <a:pPr indent="0" marL="0">
              <a:buNone/>
            </a:pPr>
            <a:r>
              <a:rPr lang="en-US" sz="1800" b="1" dirty="0">
                <a:solidFill>
                  <a:srgbClr val="086679"/>
                </a:solidFill>
                <a:latin typeface="Arial" pitchFamily="34" charset="0"/>
                <a:ea typeface="Arial" pitchFamily="34" charset="-122"/>
                <a:cs typeface="Arial" pitchFamily="34" charset="-120"/>
              </a:rPr>
              <a:t>COMMUNITY</a:t>
            </a:r>
            <a:endParaRPr lang="en-US" sz="1800" dirty="0"/>
          </a:p>
        </p:txBody>
      </p:sp>
      <p:sp>
        <p:nvSpPr>
          <p:cNvPr id="14" name="Text 11"/>
          <p:cNvSpPr/>
          <p:nvPr/>
        </p:nvSpPr>
        <p:spPr>
          <a:xfrm>
            <a:off x="5943600" y="4846320"/>
            <a:ext cx="5486400" cy="320040"/>
          </a:xfrm>
          <a:prstGeom prst="rect">
            <a:avLst/>
          </a:prstGeom>
          <a:noFill/>
          <a:ln/>
        </p:spPr>
        <p:txBody>
          <a:bodyPr wrap="square" lIns="0" tIns="0" rIns="0" bIns="0" rtlCol="0" anchor="ctr"/>
          <a:lstStyle/>
          <a:p>
            <a:pPr indent="0" marL="0">
              <a:buNone/>
            </a:pPr>
            <a:r>
              <a:rPr lang="en-US" sz="2200" dirty="0">
                <a:solidFill>
                  <a:srgbClr val="083E4F"/>
                </a:solidFill>
                <a:latin typeface="Arial" pitchFamily="34" charset="0"/>
                <a:ea typeface="Arial" pitchFamily="34" charset="-122"/>
                <a:cs typeface="Arial" pitchFamily="34" charset="-120"/>
              </a:rPr>
              <a:t>Biweekly · Wed 16:00 UTC</a:t>
            </a:r>
            <a:endParaRPr lang="en-US" sz="2200" dirty="0"/>
          </a:p>
        </p:txBody>
      </p:sp>
      <p:sp>
        <p:nvSpPr>
          <p:cNvPr id="15" name="Text 12">
            <a:hlinkClick r:id="rId5" tooltip=""/>
          </p:cNvPr>
          <p:cNvSpPr/>
          <p:nvPr/>
        </p:nvSpPr>
        <p:spPr>
          <a:xfrm>
            <a:off x="5943600" y="5239512"/>
            <a:ext cx="5577840" cy="320040"/>
          </a:xfrm>
          <a:prstGeom prst="rect">
            <a:avLst/>
          </a:prstGeom>
          <a:noFill/>
          <a:ln/>
        </p:spPr>
        <p:txBody>
          <a:bodyPr wrap="square" lIns="0" tIns="0" rIns="0" bIns="0" rtlCol="0" anchor="ctr"/>
          <a:lstStyle/>
          <a:p>
            <a:pPr indent="0" marL="0">
              <a:buNone/>
            </a:pPr>
            <a:r>
              <a:rPr lang="en-US" sz="2100" u="sng" dirty="0">
                <a:solidFill>
                  <a:srgbClr val="086679"/>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Agenda / notes + add to calendar</a:t>
            </a:r>
            <a:endParaRPr lang="en-US" sz="2100" dirty="0"/>
          </a:p>
        </p:txBody>
      </p:sp>
      <p:sp>
        <p:nvSpPr>
          <p:cNvPr id="16" name="Text 13">
            <a:hlinkClick r:id="rId6" tooltip=""/>
          </p:cNvPr>
          <p:cNvSpPr/>
          <p:nvPr/>
        </p:nvSpPr>
        <p:spPr>
          <a:xfrm>
            <a:off x="566928" y="5815584"/>
            <a:ext cx="10789920" cy="274320"/>
          </a:xfrm>
          <a:prstGeom prst="rect">
            <a:avLst/>
          </a:prstGeom>
          <a:noFill/>
          <a:ln/>
        </p:spPr>
        <p:txBody>
          <a:bodyPr wrap="square" lIns="0" tIns="0" rIns="0" bIns="0" rtlCol="0" anchor="ctr"/>
          <a:lstStyle/>
          <a:p>
            <a:pPr indent="0" marL="0">
              <a:buNone/>
            </a:pPr>
            <a:r>
              <a:rPr lang="en-US" sz="1900" u="sng" dirty="0">
                <a:solidFill>
                  <a:srgbClr val="405965"/>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Project Pavilion · T-10 · Tue 10:30–14:30 · Grand Ballroom I</a:t>
            </a:r>
            <a:endParaRPr lang="en-US" sz="1900" dirty="0"/>
          </a:p>
        </p:txBody>
      </p:sp>
    </p:spTree>
  </p:cSld>
  <p:clrMapOvr>
    <a:masterClrMapping/>
  </p:clrMapOvr>
</p:sld>
</file>

<file path=ppt/theme/conference_theme1.xml><?xml version="1.0" encoding="utf-8"?>
<a:theme xmlns:a="http://schemas.openxmlformats.org/drawingml/2006/main" name="OSSNA24">
  <a:themeElements>
    <a:clrScheme name="Custom 2">
      <a:dk1>
        <a:srgbClr val="000000"/>
      </a:dk1>
      <a:lt1>
        <a:srgbClr val="FFFFFF"/>
      </a:lt1>
      <a:dk2>
        <a:srgbClr val="000000"/>
      </a:dk2>
      <a:lt2>
        <a:srgbClr val="EEEEEE"/>
      </a:lt2>
      <a:accent1>
        <a:srgbClr val="083E4F"/>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Atlantis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Lightning Talk: Atlantis: Terraform Pull Request Automation for Cloud Native Teams</dc:title>
  <dc:subject>Five-minute CNCF Project Lightning Talk</dc:subject>
  <dc:creator>Rui Chen</dc:creator>
  <cp:lastModifiedBy>Rui Chen</cp:lastModifiedBy>
  <cp:revision>1</cp:revision>
  <dcterms:created xsi:type="dcterms:W3CDTF">2026-09-08T01:12:56Z</dcterms:created>
  <dcterms:modified xsi:type="dcterms:W3CDTF">2026-09-08T01:12:56Z</dcterms:modified>
</cp:coreProperties>
</file>