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0:00–0:35 (35 seconds)
Spoken words: 70
Cue: Define Atlantis, then expose the laptop handoff.
Hi, I'm Rui, an Atlantis maintainer. Atlantis is an open-source service that runs Terraform and OpenTofu plans and applies from pull requests. Many teams already automate infrastructure. But if your workflow still ends with someone running a command from a laptop, the reviewer may see the code without seeing the plan or the result. Atlantis brings those parts of the change into the same conversation.
Transition: Here is how that works.
Emergency cuts: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0:35–1:40 (65 seconds)
Spoken words: 128
Cue: Trace 1 → 2 → 3 → 4. Atlantis executes; Git holds the review.
A developer opens a pull request. The Git host sends a webhook to Atlantis, a service your team hosts. Atlantis detects affected projects and runs a plan using Terraform or OpenTofu. The plan describes the proposed infrastructure changes. Atlantis posts the result back to the pull request, so reviewers can read the code and the plan together. After review, an authorized engineer comments atlantis apply. Atlantis checks the requirements your platform team configured, then runs the apply and reports the result. Terraform or OpenTofu still talks to provider APIs and uses your state backend. Atlantis coordinates the workflow around those tools. You can host Atlantis on Kubernetes with the official Helm chart, or run it on a server. Kubernetes is optional.
Transition: For the engineer, that looks like this.
Emergency cuts:
Terraform or OpenTofu still talks to provider APIs and uses your state backend.
Atlantis coordinates the workflow around those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1:40–2:40 (60 seconds)
Spoken words: 125
Cue: Read the plan summary. Approval is a review action, not an LGTM comment.
Here is a simplified example: increase a database's capacity. Atlantis posts a plan: zero resources to add, one to change, zero to destroy. That one change still deserves attention. For a database, that could include downtime, connection limits, and the cost change. The reviewer reads the full plan and checks the operational impact, then approves the pull request. I comment atlantis apply, and the bot reports completion. In this workflow, we apply before merging. If the apply fails, we can fix the change in the same pull request and try again. The code, the proposed changes, the review, and the execution result stay together. That is the experience to remember: review infrastructure where you already review code.
Transition: Why choose a service built around that workflow?
Emergency cuts:
The code, the proposed changes, the review, and the execution result stay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2:40–4:05 (85 seconds)
Spoken words: 179
Cue: Visible → controlled → collaborative. Last 25 seconds: current project signals.
First, visibility: the plan and execution results sit beside the code review. Second, control: the platform team configures credentials, approval requirements, and optional policy checks. Atlantis project locks help coordinate competing pull requests. Third, collaboration: developers can propose changes through a familiar workflow, without each person needing a privileged workstation. You could build this in generic CI. Atlantis packages the PR interaction, planning, applying, and locking into a purpose-built service. The core workflow needs no separate Atlantis SaaS control plane. Your Git host, state backend, and cloud services remain part of the system. This still runs powerful code: even planning can execute code. Trusted repositories, restricted permissions, and a maintained deployment remain essential. The project continues to evolve for Terraform and OpenTofu users. Recent work includes alpha APIs for drift workflows; version zero point forty-seven added richer drift plan output. The latest release, zero point forty-seven point one, fixes a command-injection vulnerability. These are useful updates for existing operators. For a new team, the starting point is still the pull request.
Transition: And that is the idea to take away.
Emergency cuts:
You could build this in generic CI.
Atlantis packages the PR interaction, planning, applying, and locking into a purpose-built service.
Your Git host, state backend, and cloud services remain part of the system.
Recent work includes alpha APIs for drift workflows; version zero point forty-seven added richer drift plan output.
These are useful updates for existing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4:05–4:35 (30 seconds)
Spoken words: 52
Cue: Point to the URL, then land the final four phrases.
Atlantis is a CNCF Sandbox project. Visit runatlantis dot io for the getting-started guide, or find the code and contribution guide on GitHub. Start with one repository and one infrastructure change. Bring your team's review rules into that workflow. Infrastructure is code. Plan it. Review it. Apply it. From the pull request.
Transition: Hold the closing slide.
Emergency cuts:
Start with one repository and one infrastructure change.
Bring your team's review rules into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runatlantis.io/" TargetMode="External"/><Relationship Id="rId3" Type="http://schemas.openxmlformats.org/officeDocument/2006/relationships/hyperlink" Target="https://www.runatlantis.io/" TargetMode="External"/><Relationship Id="rId4" Type="http://schemas.openxmlformats.org/officeDocument/2006/relationships/hyperlink" Target="https://github.com/runatlantis/atlantis"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26"/>
        </a:solidFill>
      </p:bgPr>
    </p:bg>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6DD9E9"/>
                </a:solidFill>
                <a:latin typeface="Arial" pitchFamily="34" charset="0"/>
                <a:ea typeface="Arial" pitchFamily="34" charset="-122"/>
                <a:cs typeface="Arial" pitchFamily="34" charset="-120"/>
              </a:rPr>
              <a:t>PROJECT LIGHTNING TALK:</a:t>
            </a:r>
            <a:endParaRPr lang="en-US" sz="1600" dirty="0"/>
          </a:p>
        </p:txBody>
      </p:sp>
      <p:sp>
        <p:nvSpPr>
          <p:cNvPr id="3" name="Shape 1"/>
          <p:cNvSpPr/>
          <p:nvPr/>
        </p:nvSpPr>
        <p:spPr>
          <a:xfrm>
            <a:off x="566928" y="6446520"/>
            <a:ext cx="11045952" cy="0"/>
          </a:xfrm>
          <a:prstGeom prst="line">
            <a:avLst/>
          </a:prstGeom>
          <a:noFill/>
          <a:ln w="25400">
            <a:solidFill>
              <a:srgbClr val="3C5365"/>
            </a:solidFill>
            <a:prstDash val="solid"/>
            <a:headEnd type="none"/>
            <a:tailEnd type="none"/>
          </a:ln>
        </p:spPr>
      </p:sp>
      <p:sp>
        <p:nvSpPr>
          <p:cNvPr id="4" name="Text 2"/>
          <p:cNvSpPr/>
          <p:nvPr/>
        </p:nvSpPr>
        <p:spPr>
          <a:xfrm>
            <a:off x="566928" y="6528816"/>
            <a:ext cx="9144000" cy="182880"/>
          </a:xfrm>
          <a:prstGeom prst="rect">
            <a:avLst/>
          </a:prstGeom>
          <a:noFill/>
          <a:ln/>
        </p:spPr>
        <p:txBody>
          <a:bodyPr wrap="square" lIns="0" tIns="0" rIns="0" bIns="0" rtlCol="0" anchor="ctr"/>
          <a:lstStyle/>
          <a:p>
            <a:pPr indent="0" marL="0">
              <a:buNone/>
            </a:pPr>
            <a:r>
              <a:rPr lang="en-US" sz="1100" dirty="0">
                <a:solidFill>
                  <a:srgbClr val="B8C8D5"/>
                </a:solidFill>
                <a:latin typeface="Arial" pitchFamily="34" charset="0"/>
                <a:ea typeface="Arial" pitchFamily="34" charset="-122"/>
                <a:cs typeface="Arial" pitchFamily="34" charset="-120"/>
              </a:rPr>
              <a:t>ATLANTIS   /   PLAN → REVIEW → APPLY</a:t>
            </a:r>
            <a:endParaRPr lang="en-US" sz="1100" dirty="0"/>
          </a:p>
        </p:txBody>
      </p:sp>
      <p:sp>
        <p:nvSpPr>
          <p:cNvPr id="5" name="Text 3"/>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B8C8D5"/>
                </a:solidFill>
                <a:latin typeface="Arial" pitchFamily="34" charset="0"/>
                <a:ea typeface="Arial" pitchFamily="34" charset="-122"/>
                <a:cs typeface="Arial" pitchFamily="34" charset="-120"/>
              </a:rPr>
              <a:t>01</a:t>
            </a:r>
            <a:endParaRPr lang="en-US" sz="1200" dirty="0"/>
          </a:p>
        </p:txBody>
      </p:sp>
      <p:pic>
        <p:nvPicPr>
          <p:cNvPr id="6" name="Image 0" descr="assets/atlantis-ico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778240" y="1143000"/>
            <a:ext cx="2423160" cy="2423160"/>
          </a:xfrm>
          <a:prstGeom prst="rect">
            <a:avLst/>
          </a:prstGeom>
        </p:spPr>
      </p:pic>
      <p:sp>
        <p:nvSpPr>
          <p:cNvPr id="7" name="Text 4"/>
          <p:cNvSpPr/>
          <p:nvPr/>
        </p:nvSpPr>
        <p:spPr>
          <a:xfrm>
            <a:off x="566928" y="1078992"/>
            <a:ext cx="7955280" cy="950976"/>
          </a:xfrm>
          <a:prstGeom prst="rect">
            <a:avLst/>
          </a:prstGeom>
          <a:noFill/>
          <a:ln/>
        </p:spPr>
        <p:txBody>
          <a:bodyPr wrap="square" lIns="0" tIns="0" rIns="0" bIns="0" rtlCol="0" anchor="ctr"/>
          <a:lstStyle/>
          <a:p>
            <a:pPr indent="0" marL="0">
              <a:buNone/>
            </a:pPr>
            <a:r>
              <a:rPr lang="en-US" sz="6400" b="1" dirty="0">
                <a:solidFill>
                  <a:srgbClr val="F5F8FA"/>
                </a:solidFill>
                <a:latin typeface="Arial" pitchFamily="34" charset="0"/>
                <a:ea typeface="Arial" pitchFamily="34" charset="-122"/>
                <a:cs typeface="Arial" pitchFamily="34" charset="-120"/>
              </a:rPr>
              <a:t>Atlantis:</a:t>
            </a:r>
            <a:endParaRPr lang="en-US" sz="6400" dirty="0"/>
          </a:p>
        </p:txBody>
      </p:sp>
      <p:sp>
        <p:nvSpPr>
          <p:cNvPr id="8" name="Text 5"/>
          <p:cNvSpPr/>
          <p:nvPr/>
        </p:nvSpPr>
        <p:spPr>
          <a:xfrm>
            <a:off x="566928" y="2350008"/>
            <a:ext cx="8229600" cy="1143000"/>
          </a:xfrm>
          <a:prstGeom prst="rect">
            <a:avLst/>
          </a:prstGeom>
          <a:noFill/>
          <a:ln/>
        </p:spPr>
        <p:txBody>
          <a:bodyPr wrap="square" lIns="0" tIns="0" rIns="0" bIns="0" rtlCol="0" anchor="ctr"/>
          <a:lstStyle/>
          <a:p>
            <a:pPr indent="0" marL="0">
              <a:buNone/>
            </a:pPr>
            <a:r>
              <a:rPr lang="en-US" sz="3100" b="1" dirty="0">
                <a:solidFill>
                  <a:srgbClr val="F5F8FA"/>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5F8FA"/>
                </a:solidFill>
                <a:latin typeface="Arial" pitchFamily="34" charset="0"/>
                <a:ea typeface="Arial" pitchFamily="34" charset="-122"/>
                <a:cs typeface="Arial" pitchFamily="34" charset="-120"/>
              </a:rPr>
              <a:t>for Cloud Native Teams</a:t>
            </a:r>
            <a:endParaRPr lang="en-US" sz="3100" dirty="0"/>
          </a:p>
        </p:txBody>
      </p:sp>
      <p:sp>
        <p:nvSpPr>
          <p:cNvPr id="9" name="Text 6"/>
          <p:cNvSpPr/>
          <p:nvPr/>
        </p:nvSpPr>
        <p:spPr>
          <a:xfrm>
            <a:off x="566928" y="4069080"/>
            <a:ext cx="10058400" cy="411480"/>
          </a:xfrm>
          <a:prstGeom prst="rect">
            <a:avLst/>
          </a:prstGeom>
          <a:noFill/>
          <a:ln/>
        </p:spPr>
        <p:txBody>
          <a:bodyPr wrap="square" lIns="0" tIns="0" rIns="0" bIns="0" rtlCol="0" anchor="ctr"/>
          <a:lstStyle/>
          <a:p>
            <a:pPr indent="0" marL="0">
              <a:buNone/>
            </a:pPr>
            <a:r>
              <a:rPr lang="en-US" sz="2400" dirty="0">
                <a:solidFill>
                  <a:srgbClr val="6DD9E9"/>
                </a:solidFill>
                <a:latin typeface="Arial" pitchFamily="34" charset="0"/>
                <a:ea typeface="Arial" pitchFamily="34" charset="-122"/>
                <a:cs typeface="Arial" pitchFamily="34" charset="-120"/>
              </a:rPr>
              <a:t>Rui Chen  ·  Atlantis Maintainer</a:t>
            </a:r>
            <a:endParaRPr lang="en-US" sz="2400" dirty="0"/>
          </a:p>
        </p:txBody>
      </p:sp>
      <p:sp>
        <p:nvSpPr>
          <p:cNvPr id="10" name="Text 7"/>
          <p:cNvSpPr/>
          <p:nvPr/>
        </p:nvSpPr>
        <p:spPr>
          <a:xfrm>
            <a:off x="566928" y="4910328"/>
            <a:ext cx="10881360" cy="667512"/>
          </a:xfrm>
          <a:prstGeom prst="rect">
            <a:avLst/>
          </a:prstGeom>
          <a:noFill/>
          <a:ln/>
        </p:spPr>
        <p:txBody>
          <a:bodyPr wrap="square" lIns="0" tIns="0" rIns="0" bIns="0" rtlCol="0" anchor="ctr"/>
          <a:lstStyle/>
          <a:p>
            <a:pPr indent="0" marL="0">
              <a:buNone/>
            </a:pPr>
            <a:r>
              <a:rPr lang="en-US" sz="2000" dirty="0">
                <a:solidFill>
                  <a:srgbClr val="B8C8D5"/>
                </a:solidFill>
                <a:latin typeface="Arial" pitchFamily="34" charset="0"/>
                <a:ea typeface="Arial" pitchFamily="34" charset="-122"/>
                <a:cs typeface="Arial" pitchFamily="34" charset="-120"/>
              </a:rPr>
              <a:t>KubeCon + CloudNativeCon + OpenInfra Summit</a:t>
            </a:r>
            <a:endParaRPr lang="en-US" sz="2000" dirty="0"/>
          </a:p>
          <a:p>
            <a:pPr indent="0" marL="0">
              <a:buNone/>
            </a:pPr>
            <a:r>
              <a:rPr lang="en-US" sz="2000" dirty="0">
                <a:solidFill>
                  <a:srgbClr val="B8C8D5"/>
                </a:solidFill>
                <a:latin typeface="Arial" pitchFamily="34" charset="0"/>
                <a:ea typeface="Arial" pitchFamily="34" charset="-122"/>
                <a:cs typeface="Arial" pitchFamily="34" charset="-120"/>
              </a:rPr>
              <a:t>+ PyTorch Conference China 2026</a:t>
            </a:r>
            <a:endParaRPr lang="en-US" sz="2000" dirty="0"/>
          </a:p>
        </p:txBody>
      </p:sp>
      <p:sp>
        <p:nvSpPr>
          <p:cNvPr id="11" name="Text 8"/>
          <p:cNvSpPr/>
          <p:nvPr/>
        </p:nvSpPr>
        <p:spPr>
          <a:xfrm>
            <a:off x="566928" y="5797296"/>
            <a:ext cx="10058400" cy="301752"/>
          </a:xfrm>
          <a:prstGeom prst="rect">
            <a:avLst/>
          </a:prstGeom>
          <a:noFill/>
          <a:ln/>
        </p:spPr>
        <p:txBody>
          <a:bodyPr wrap="square" lIns="0" tIns="0" rIns="0" bIns="0" rtlCol="0" anchor="ctr"/>
          <a:lstStyle/>
          <a:p>
            <a:pPr indent="0" marL="0">
              <a:buNone/>
            </a:pPr>
            <a:r>
              <a:rPr lang="en-US" sz="1800" dirty="0">
                <a:solidFill>
                  <a:srgbClr val="B8C8D5"/>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B26"/>
        </a:solidFill>
      </p:bgPr>
    </p:bg>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6DD9E9"/>
                </a:solidFill>
                <a:latin typeface="Arial" pitchFamily="34" charset="0"/>
                <a:ea typeface="Arial" pitchFamily="34" charset="-122"/>
                <a:cs typeface="Arial" pitchFamily="34" charset="-120"/>
              </a:rPr>
              <a:t>THE MENTAL MODEL</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F5F8FA"/>
                </a:solidFill>
                <a:latin typeface="Arial" pitchFamily="34" charset="0"/>
                <a:ea typeface="Arial" pitchFamily="34" charset="-122"/>
                <a:cs typeface="Arial" pitchFamily="34" charset="-120"/>
              </a:rPr>
              <a:t>The pull request becomes the workflow.</a:t>
            </a:r>
            <a:endParaRPr lang="en-US" sz="3600" dirty="0"/>
          </a:p>
        </p:txBody>
      </p:sp>
      <p:sp>
        <p:nvSpPr>
          <p:cNvPr id="4" name="Shape 2"/>
          <p:cNvSpPr/>
          <p:nvPr/>
        </p:nvSpPr>
        <p:spPr>
          <a:xfrm>
            <a:off x="566928" y="6446520"/>
            <a:ext cx="11045952" cy="0"/>
          </a:xfrm>
          <a:prstGeom prst="line">
            <a:avLst/>
          </a:prstGeom>
          <a:noFill/>
          <a:ln w="25400">
            <a:solidFill>
              <a:srgbClr val="3C5365"/>
            </a:solidFill>
            <a:prstDash val="solid"/>
            <a:headEnd type="none"/>
            <a:tailEnd type="none"/>
          </a:ln>
        </p:spPr>
      </p:sp>
      <p:sp>
        <p:nvSpPr>
          <p:cNvPr id="5" name="Text 3"/>
          <p:cNvSpPr/>
          <p:nvPr/>
        </p:nvSpPr>
        <p:spPr>
          <a:xfrm>
            <a:off x="566928" y="6528816"/>
            <a:ext cx="9144000" cy="182880"/>
          </a:xfrm>
          <a:prstGeom prst="rect">
            <a:avLst/>
          </a:prstGeom>
          <a:noFill/>
          <a:ln/>
        </p:spPr>
        <p:txBody>
          <a:bodyPr wrap="square" lIns="0" tIns="0" rIns="0" bIns="0" rtlCol="0" anchor="ctr"/>
          <a:lstStyle/>
          <a:p>
            <a:pPr indent="0" marL="0">
              <a:buNone/>
            </a:pPr>
            <a:r>
              <a:rPr lang="en-US" sz="1100" dirty="0">
                <a:solidFill>
                  <a:srgbClr val="B8C8D5"/>
                </a:solidFill>
                <a:latin typeface="Arial" pitchFamily="34" charset="0"/>
                <a:ea typeface="Arial" pitchFamily="34" charset="-122"/>
                <a:cs typeface="Arial" pitchFamily="34" charset="-120"/>
              </a:rPr>
              <a:t>ATLANTIS   /   PLAN → REVIEW → APPLY</a:t>
            </a:r>
            <a:endParaRPr lang="en-US" sz="1100" dirty="0"/>
          </a:p>
        </p:txBody>
      </p:sp>
      <p:sp>
        <p:nvSpPr>
          <p:cNvPr id="6" name="Text 4"/>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B8C8D5"/>
                </a:solidFill>
                <a:latin typeface="Arial" pitchFamily="34" charset="0"/>
                <a:ea typeface="Arial" pitchFamily="34" charset="-122"/>
                <a:cs typeface="Arial" pitchFamily="34" charset="-120"/>
              </a:rPr>
              <a:t>02</a:t>
            </a:r>
            <a:endParaRPr lang="en-US" sz="1200" dirty="0"/>
          </a:p>
        </p:txBody>
      </p:sp>
      <p:sp>
        <p:nvSpPr>
          <p:cNvPr id="7" name="Shape 5"/>
          <p:cNvSpPr/>
          <p:nvPr/>
        </p:nvSpPr>
        <p:spPr>
          <a:xfrm>
            <a:off x="640080" y="2340864"/>
            <a:ext cx="3657600" cy="1188720"/>
          </a:xfrm>
          <a:prstGeom prst="rect">
            <a:avLst/>
          </a:prstGeom>
          <a:solidFill>
            <a:srgbClr val="1B2C3B"/>
          </a:solidFill>
          <a:ln w="12700">
            <a:solidFill>
              <a:srgbClr val="1B2C3B"/>
            </a:solidFill>
            <a:prstDash val="solid"/>
          </a:ln>
        </p:spPr>
      </p:sp>
      <p:sp>
        <p:nvSpPr>
          <p:cNvPr id="8" name="Text 6"/>
          <p:cNvSpPr/>
          <p:nvPr/>
        </p:nvSpPr>
        <p:spPr>
          <a:xfrm>
            <a:off x="841248" y="2478024"/>
            <a:ext cx="3255264" cy="393192"/>
          </a:xfrm>
          <a:prstGeom prst="rect">
            <a:avLst/>
          </a:prstGeom>
          <a:noFill/>
          <a:ln/>
        </p:spPr>
        <p:txBody>
          <a:bodyPr wrap="square" lIns="0" tIns="0" rIns="0" bIns="0" rtlCol="0" anchor="ctr"/>
          <a:lstStyle/>
          <a:p>
            <a:pPr indent="0" marL="0">
              <a:buNone/>
            </a:pPr>
            <a:r>
              <a:rPr lang="en-US" sz="2700" b="1" dirty="0">
                <a:solidFill>
                  <a:srgbClr val="F5F8FA"/>
                </a:solidFill>
                <a:latin typeface="Arial" pitchFamily="34" charset="0"/>
                <a:ea typeface="Arial" pitchFamily="34" charset="-122"/>
                <a:cs typeface="Arial" pitchFamily="34" charset="-120"/>
              </a:rPr>
              <a:t>Git pull request</a:t>
            </a:r>
            <a:endParaRPr lang="en-US" sz="2700" dirty="0"/>
          </a:p>
        </p:txBody>
      </p:sp>
      <p:sp>
        <p:nvSpPr>
          <p:cNvPr id="9" name="Text 7"/>
          <p:cNvSpPr/>
          <p:nvPr/>
        </p:nvSpPr>
        <p:spPr>
          <a:xfrm>
            <a:off x="841248" y="2962656"/>
            <a:ext cx="3255264" cy="329184"/>
          </a:xfrm>
          <a:prstGeom prst="rect">
            <a:avLst/>
          </a:prstGeom>
          <a:noFill/>
          <a:ln/>
        </p:spPr>
        <p:txBody>
          <a:bodyPr wrap="square" lIns="0" tIns="0" rIns="0" bIns="0" rtlCol="0" anchor="ctr"/>
          <a:lstStyle/>
          <a:p>
            <a:pPr indent="0" marL="0">
              <a:buNone/>
            </a:pPr>
            <a:r>
              <a:rPr lang="en-US" sz="1900" dirty="0">
                <a:solidFill>
                  <a:srgbClr val="B8C8D5"/>
                </a:solidFill>
                <a:latin typeface="Arial" pitchFamily="34" charset="0"/>
                <a:ea typeface="Arial" pitchFamily="34" charset="-122"/>
                <a:cs typeface="Arial" pitchFamily="34" charset="-120"/>
              </a:rPr>
              <a:t>Developer opens a change</a:t>
            </a:r>
            <a:endParaRPr lang="en-US" sz="1900" dirty="0"/>
          </a:p>
        </p:txBody>
      </p:sp>
      <p:sp>
        <p:nvSpPr>
          <p:cNvPr id="10" name="Shape 8"/>
          <p:cNvSpPr/>
          <p:nvPr/>
        </p:nvSpPr>
        <p:spPr>
          <a:xfrm>
            <a:off x="7315200" y="2340864"/>
            <a:ext cx="4206240" cy="1188720"/>
          </a:xfrm>
          <a:prstGeom prst="rect">
            <a:avLst/>
          </a:prstGeom>
          <a:solidFill>
            <a:srgbClr val="1B2C3B"/>
          </a:solidFill>
          <a:ln w="12700">
            <a:solidFill>
              <a:srgbClr val="1B2C3B"/>
            </a:solidFill>
            <a:prstDash val="solid"/>
          </a:ln>
        </p:spPr>
      </p:sp>
      <p:sp>
        <p:nvSpPr>
          <p:cNvPr id="11" name="Text 9"/>
          <p:cNvSpPr/>
          <p:nvPr/>
        </p:nvSpPr>
        <p:spPr>
          <a:xfrm>
            <a:off x="7516368" y="2478024"/>
            <a:ext cx="3803904" cy="393192"/>
          </a:xfrm>
          <a:prstGeom prst="rect">
            <a:avLst/>
          </a:prstGeom>
          <a:noFill/>
          <a:ln/>
        </p:spPr>
        <p:txBody>
          <a:bodyPr wrap="square" lIns="0" tIns="0" rIns="0" bIns="0" rtlCol="0" anchor="ctr"/>
          <a:lstStyle/>
          <a:p>
            <a:pPr indent="0" marL="0">
              <a:buNone/>
            </a:pPr>
            <a:r>
              <a:rPr lang="en-US" sz="2700" b="1" dirty="0">
                <a:solidFill>
                  <a:srgbClr val="F5F8FA"/>
                </a:solidFill>
                <a:latin typeface="Arial" pitchFamily="34" charset="0"/>
                <a:ea typeface="Arial" pitchFamily="34" charset="-122"/>
                <a:cs typeface="Arial" pitchFamily="34" charset="-120"/>
              </a:rPr>
              <a:t>Atlantis</a:t>
            </a:r>
            <a:endParaRPr lang="en-US" sz="2700" dirty="0"/>
          </a:p>
        </p:txBody>
      </p:sp>
      <p:sp>
        <p:nvSpPr>
          <p:cNvPr id="12" name="Text 10"/>
          <p:cNvSpPr/>
          <p:nvPr/>
        </p:nvSpPr>
        <p:spPr>
          <a:xfrm>
            <a:off x="7516368" y="2962656"/>
            <a:ext cx="3803904" cy="329184"/>
          </a:xfrm>
          <a:prstGeom prst="rect">
            <a:avLst/>
          </a:prstGeom>
          <a:noFill/>
          <a:ln/>
        </p:spPr>
        <p:txBody>
          <a:bodyPr wrap="square" lIns="0" tIns="0" rIns="0" bIns="0" rtlCol="0" anchor="ctr"/>
          <a:lstStyle/>
          <a:p>
            <a:pPr indent="0" marL="0">
              <a:buNone/>
            </a:pPr>
            <a:r>
              <a:rPr lang="en-US" sz="1900" dirty="0">
                <a:solidFill>
                  <a:srgbClr val="B8C8D5"/>
                </a:solidFill>
                <a:latin typeface="Arial" pitchFamily="34" charset="0"/>
                <a:ea typeface="Arial" pitchFamily="34" charset="-122"/>
                <a:cs typeface="Arial" pitchFamily="34" charset="-120"/>
              </a:rPr>
              <a:t>Runs Terraform / OpenTofu</a:t>
            </a:r>
            <a:endParaRPr lang="en-US" sz="1900" dirty="0"/>
          </a:p>
        </p:txBody>
      </p:sp>
      <p:sp>
        <p:nvSpPr>
          <p:cNvPr id="13" name="Shape 11"/>
          <p:cNvSpPr/>
          <p:nvPr/>
        </p:nvSpPr>
        <p:spPr>
          <a:xfrm>
            <a:off x="4416552" y="2651760"/>
            <a:ext cx="2743200" cy="0"/>
          </a:xfrm>
          <a:prstGeom prst="line">
            <a:avLst/>
          </a:prstGeom>
          <a:noFill/>
          <a:ln w="25400">
            <a:solidFill>
              <a:srgbClr val="6DD9E9"/>
            </a:solidFill>
            <a:prstDash val="solid"/>
            <a:headEnd type="none"/>
            <a:tailEnd type="triangle"/>
          </a:ln>
        </p:spPr>
      </p:sp>
      <p:sp>
        <p:nvSpPr>
          <p:cNvPr id="14" name="Text 12"/>
          <p:cNvSpPr/>
          <p:nvPr/>
        </p:nvSpPr>
        <p:spPr>
          <a:xfrm>
            <a:off x="4498848" y="2194560"/>
            <a:ext cx="2697480" cy="365760"/>
          </a:xfrm>
          <a:prstGeom prst="rect">
            <a:avLst/>
          </a:prstGeom>
          <a:noFill/>
          <a:ln/>
        </p:spPr>
        <p:txBody>
          <a:bodyPr wrap="square" lIns="0" tIns="0" rIns="0" bIns="0" rtlCol="0" anchor="ctr"/>
          <a:lstStyle/>
          <a:p>
            <a:pPr algn="ctr" indent="0" marL="0">
              <a:buNone/>
            </a:pPr>
            <a:r>
              <a:rPr lang="en-US" sz="2000" dirty="0">
                <a:solidFill>
                  <a:srgbClr val="6DD9E9"/>
                </a:solidFill>
                <a:latin typeface="Arial" pitchFamily="34" charset="0"/>
                <a:ea typeface="Arial" pitchFamily="34" charset="-122"/>
                <a:cs typeface="Arial" pitchFamily="34" charset="-120"/>
              </a:rPr>
              <a:t>1  Webhook → plan</a:t>
            </a:r>
            <a:endParaRPr lang="en-US" sz="2000" dirty="0"/>
          </a:p>
        </p:txBody>
      </p:sp>
      <p:sp>
        <p:nvSpPr>
          <p:cNvPr id="15" name="Shape 13"/>
          <p:cNvSpPr/>
          <p:nvPr/>
        </p:nvSpPr>
        <p:spPr>
          <a:xfrm>
            <a:off x="7150608" y="3255264"/>
            <a:ext cx="-2743200" cy="0"/>
          </a:xfrm>
          <a:prstGeom prst="line">
            <a:avLst/>
          </a:prstGeom>
          <a:noFill/>
          <a:ln w="25400">
            <a:solidFill>
              <a:srgbClr val="6DD9E9"/>
            </a:solidFill>
            <a:prstDash val="solid"/>
            <a:headEnd type="none"/>
            <a:tailEnd type="triangle"/>
          </a:ln>
        </p:spPr>
      </p:sp>
      <p:sp>
        <p:nvSpPr>
          <p:cNvPr id="16" name="Text 14"/>
          <p:cNvSpPr/>
          <p:nvPr/>
        </p:nvSpPr>
        <p:spPr>
          <a:xfrm>
            <a:off x="4526280" y="3410712"/>
            <a:ext cx="2651760" cy="365760"/>
          </a:xfrm>
          <a:prstGeom prst="rect">
            <a:avLst/>
          </a:prstGeom>
          <a:noFill/>
          <a:ln/>
        </p:spPr>
        <p:txBody>
          <a:bodyPr wrap="square" lIns="0" tIns="0" rIns="0" bIns="0" rtlCol="0" anchor="ctr"/>
          <a:lstStyle/>
          <a:p>
            <a:pPr algn="ctr" indent="0" marL="0">
              <a:buNone/>
            </a:pPr>
            <a:r>
              <a:rPr lang="en-US" sz="2000" dirty="0">
                <a:solidFill>
                  <a:srgbClr val="6DD9E9"/>
                </a:solidFill>
                <a:latin typeface="Arial" pitchFamily="34" charset="0"/>
                <a:ea typeface="Arial" pitchFamily="34" charset="-122"/>
                <a:cs typeface="Arial" pitchFamily="34" charset="-120"/>
              </a:rPr>
              <a:t>2  Plan in PR</a:t>
            </a:r>
            <a:endParaRPr lang="en-US" sz="2000" dirty="0"/>
          </a:p>
        </p:txBody>
      </p:sp>
      <p:sp>
        <p:nvSpPr>
          <p:cNvPr id="17" name="Shape 15"/>
          <p:cNvSpPr/>
          <p:nvPr/>
        </p:nvSpPr>
        <p:spPr>
          <a:xfrm>
            <a:off x="640080" y="4069080"/>
            <a:ext cx="5989320" cy="1078992"/>
          </a:xfrm>
          <a:prstGeom prst="rect">
            <a:avLst/>
          </a:prstGeom>
          <a:solidFill>
            <a:srgbClr val="1B2C3B"/>
          </a:solidFill>
          <a:ln w="12700">
            <a:solidFill>
              <a:srgbClr val="1B2C3B"/>
            </a:solidFill>
            <a:prstDash val="solid"/>
          </a:ln>
        </p:spPr>
      </p:sp>
      <p:sp>
        <p:nvSpPr>
          <p:cNvPr id="18" name="Text 16"/>
          <p:cNvSpPr/>
          <p:nvPr/>
        </p:nvSpPr>
        <p:spPr>
          <a:xfrm>
            <a:off x="841248" y="4233672"/>
            <a:ext cx="5605272" cy="658368"/>
          </a:xfrm>
          <a:prstGeom prst="rect">
            <a:avLst/>
          </a:prstGeom>
          <a:noFill/>
          <a:ln/>
        </p:spPr>
        <p:txBody>
          <a:bodyPr wrap="square" lIns="0" tIns="0" rIns="0" bIns="0" rtlCol="0" anchor="ctr"/>
          <a:lstStyle/>
          <a:p>
            <a:pPr indent="0" marL="0">
              <a:buNone/>
            </a:pPr>
            <a:r>
              <a:rPr lang="en-US" sz="2500" b="1" dirty="0">
                <a:solidFill>
                  <a:srgbClr val="F5F8FA"/>
                </a:solidFill>
                <a:latin typeface="Arial" pitchFamily="34" charset="0"/>
                <a:ea typeface="Arial" pitchFamily="34" charset="-122"/>
                <a:cs typeface="Arial" pitchFamily="34" charset="-120"/>
              </a:rPr>
              <a:t>3  Review → approve</a:t>
            </a:r>
            <a:endParaRPr lang="en-US" sz="2500" dirty="0"/>
          </a:p>
          <a:p>
            <a:pPr indent="0" marL="0">
              <a:buNone/>
            </a:pPr>
            <a:r>
              <a:rPr lang="en-US" sz="2500" b="1" dirty="0">
                <a:solidFill>
                  <a:srgbClr val="F5F8FA"/>
                </a:solidFill>
                <a:latin typeface="Arial" pitchFamily="34" charset="0"/>
                <a:ea typeface="Arial" pitchFamily="34" charset="-122"/>
                <a:cs typeface="Arial" pitchFamily="34" charset="-120"/>
              </a:rPr>
              <a:t>Comment: atlantis apply</a:t>
            </a:r>
            <a:endParaRPr lang="en-US" sz="2500" dirty="0"/>
          </a:p>
        </p:txBody>
      </p:sp>
      <p:sp>
        <p:nvSpPr>
          <p:cNvPr id="19" name="Shape 17"/>
          <p:cNvSpPr/>
          <p:nvPr/>
        </p:nvSpPr>
        <p:spPr>
          <a:xfrm>
            <a:off x="6757416" y="4608576"/>
            <a:ext cx="914400" cy="0"/>
          </a:xfrm>
          <a:prstGeom prst="line">
            <a:avLst/>
          </a:prstGeom>
          <a:noFill/>
          <a:ln w="25400">
            <a:solidFill>
              <a:srgbClr val="6DD9E9"/>
            </a:solidFill>
            <a:prstDash val="solid"/>
            <a:headEnd type="none"/>
            <a:tailEnd type="triangle"/>
          </a:ln>
        </p:spPr>
      </p:sp>
      <p:sp>
        <p:nvSpPr>
          <p:cNvPr id="20" name="Shape 18"/>
          <p:cNvSpPr/>
          <p:nvPr/>
        </p:nvSpPr>
        <p:spPr>
          <a:xfrm>
            <a:off x="7680960" y="4608576"/>
            <a:ext cx="0" cy="-868680"/>
          </a:xfrm>
          <a:prstGeom prst="line">
            <a:avLst/>
          </a:prstGeom>
          <a:noFill/>
          <a:ln w="25400">
            <a:solidFill>
              <a:srgbClr val="6DD9E9"/>
            </a:solidFill>
            <a:prstDash val="solid"/>
            <a:headEnd type="none"/>
            <a:tailEnd type="triangle"/>
          </a:ln>
        </p:spPr>
      </p:sp>
      <p:sp>
        <p:nvSpPr>
          <p:cNvPr id="21" name="Shape 19"/>
          <p:cNvSpPr/>
          <p:nvPr/>
        </p:nvSpPr>
        <p:spPr>
          <a:xfrm>
            <a:off x="9464040" y="3648456"/>
            <a:ext cx="0" cy="1307592"/>
          </a:xfrm>
          <a:prstGeom prst="line">
            <a:avLst/>
          </a:prstGeom>
          <a:noFill/>
          <a:ln w="25400">
            <a:solidFill>
              <a:srgbClr val="6DD9E9"/>
            </a:solidFill>
            <a:prstDash val="solid"/>
            <a:headEnd type="none"/>
            <a:tailEnd type="triangle"/>
          </a:ln>
        </p:spPr>
      </p:sp>
      <p:sp>
        <p:nvSpPr>
          <p:cNvPr id="22" name="Text 20"/>
          <p:cNvSpPr/>
          <p:nvPr/>
        </p:nvSpPr>
        <p:spPr>
          <a:xfrm>
            <a:off x="9665208" y="4160520"/>
            <a:ext cx="1737360" cy="384048"/>
          </a:xfrm>
          <a:prstGeom prst="rect">
            <a:avLst/>
          </a:prstGeom>
          <a:noFill/>
          <a:ln/>
        </p:spPr>
        <p:txBody>
          <a:bodyPr wrap="square" lIns="0" tIns="0" rIns="0" bIns="0" rtlCol="0" anchor="ctr"/>
          <a:lstStyle/>
          <a:p>
            <a:pPr indent="0" marL="0">
              <a:buNone/>
            </a:pPr>
            <a:r>
              <a:rPr lang="en-US" sz="2200" dirty="0">
                <a:solidFill>
                  <a:srgbClr val="6DD9E9"/>
                </a:solidFill>
                <a:latin typeface="Arial" pitchFamily="34" charset="0"/>
                <a:ea typeface="Arial" pitchFamily="34" charset="-122"/>
                <a:cs typeface="Arial" pitchFamily="34" charset="-120"/>
              </a:rPr>
              <a:t>4  Apply</a:t>
            </a:r>
            <a:endParaRPr lang="en-US" sz="2200" dirty="0"/>
          </a:p>
        </p:txBody>
      </p:sp>
      <p:sp>
        <p:nvSpPr>
          <p:cNvPr id="23" name="Shape 21"/>
          <p:cNvSpPr/>
          <p:nvPr/>
        </p:nvSpPr>
        <p:spPr>
          <a:xfrm>
            <a:off x="7315200" y="5111496"/>
            <a:ext cx="4206240" cy="1115568"/>
          </a:xfrm>
          <a:prstGeom prst="rect">
            <a:avLst/>
          </a:prstGeom>
          <a:solidFill>
            <a:srgbClr val="1B2C3B"/>
          </a:solidFill>
          <a:ln w="12700">
            <a:solidFill>
              <a:srgbClr val="1B2C3B"/>
            </a:solidFill>
            <a:prstDash val="solid"/>
          </a:ln>
        </p:spPr>
      </p:sp>
      <p:sp>
        <p:nvSpPr>
          <p:cNvPr id="24" name="Text 22"/>
          <p:cNvSpPr/>
          <p:nvPr/>
        </p:nvSpPr>
        <p:spPr>
          <a:xfrm>
            <a:off x="7516368" y="5248656"/>
            <a:ext cx="3803904" cy="393192"/>
          </a:xfrm>
          <a:prstGeom prst="rect">
            <a:avLst/>
          </a:prstGeom>
          <a:noFill/>
          <a:ln/>
        </p:spPr>
        <p:txBody>
          <a:bodyPr wrap="square" lIns="0" tIns="0" rIns="0" bIns="0" rtlCol="0" anchor="ctr"/>
          <a:lstStyle/>
          <a:p>
            <a:pPr indent="0" marL="0">
              <a:buNone/>
            </a:pPr>
            <a:r>
              <a:rPr lang="en-US" sz="2700" b="1" dirty="0">
                <a:solidFill>
                  <a:srgbClr val="F5F8FA"/>
                </a:solidFill>
                <a:latin typeface="Arial" pitchFamily="34" charset="0"/>
                <a:ea typeface="Arial" pitchFamily="34" charset="-122"/>
                <a:cs typeface="Arial" pitchFamily="34" charset="-120"/>
              </a:rPr>
              <a:t>Cloud infrastructure</a:t>
            </a:r>
            <a:endParaRPr lang="en-US" sz="2700" dirty="0"/>
          </a:p>
        </p:txBody>
      </p:sp>
      <p:sp>
        <p:nvSpPr>
          <p:cNvPr id="25" name="Text 23"/>
          <p:cNvSpPr/>
          <p:nvPr/>
        </p:nvSpPr>
        <p:spPr>
          <a:xfrm>
            <a:off x="7516368" y="5733288"/>
            <a:ext cx="3803904" cy="329184"/>
          </a:xfrm>
          <a:prstGeom prst="rect">
            <a:avLst/>
          </a:prstGeom>
          <a:noFill/>
          <a:ln/>
        </p:spPr>
        <p:txBody>
          <a:bodyPr wrap="square" lIns="0" tIns="0" rIns="0" bIns="0" rtlCol="0" anchor="ctr"/>
          <a:lstStyle/>
          <a:p>
            <a:pPr indent="0" marL="0">
              <a:buNone/>
            </a:pPr>
            <a:r>
              <a:rPr lang="en-US" sz="1900" dirty="0">
                <a:solidFill>
                  <a:srgbClr val="B8C8D5"/>
                </a:solidFill>
                <a:latin typeface="Arial" pitchFamily="34" charset="0"/>
                <a:ea typeface="Arial" pitchFamily="34" charset="-122"/>
                <a:cs typeface="Arial" pitchFamily="34" charset="-120"/>
              </a:rPr>
              <a:t>Uses your state backend</a:t>
            </a:r>
            <a:endParaRPr lang="en-US" sz="1900" dirty="0"/>
          </a:p>
        </p:txBody>
      </p:sp>
      <p:sp>
        <p:nvSpPr>
          <p:cNvPr id="26" name="Text 24"/>
          <p:cNvSpPr/>
          <p:nvPr/>
        </p:nvSpPr>
        <p:spPr>
          <a:xfrm>
            <a:off x="640080" y="5669280"/>
            <a:ext cx="5943600" cy="384048"/>
          </a:xfrm>
          <a:prstGeom prst="rect">
            <a:avLst/>
          </a:prstGeom>
          <a:noFill/>
          <a:ln/>
        </p:spPr>
        <p:txBody>
          <a:bodyPr wrap="square" lIns="0" tIns="0" rIns="0" bIns="0" rtlCol="0" anchor="ctr"/>
          <a:lstStyle/>
          <a:p>
            <a:pPr indent="0" marL="0">
              <a:buNone/>
            </a:pPr>
            <a:r>
              <a:rPr lang="en-US" sz="2300" dirty="0">
                <a:solidFill>
                  <a:srgbClr val="B8C8D5"/>
                </a:solidFill>
                <a:latin typeface="Arial" pitchFamily="34" charset="0"/>
                <a:ea typeface="Arial" pitchFamily="34" charset="-122"/>
                <a:cs typeface="Arial" pitchFamily="34" charset="-120"/>
              </a:rPr>
              <a:t>Self-hosted service. Review stays in Git.</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B26"/>
        </a:solidFill>
      </p:bgPr>
    </p:bg>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6DD9E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F5F8FA"/>
                </a:solidFill>
                <a:latin typeface="Arial" pitchFamily="34" charset="0"/>
                <a:ea typeface="Arial" pitchFamily="34" charset="-122"/>
                <a:cs typeface="Arial" pitchFamily="34" charset="-120"/>
              </a:rPr>
              <a:t>One change. One PR conversation.</a:t>
            </a:r>
            <a:endParaRPr lang="en-US" sz="3600" dirty="0"/>
          </a:p>
        </p:txBody>
      </p:sp>
      <p:sp>
        <p:nvSpPr>
          <p:cNvPr id="4" name="Shape 2"/>
          <p:cNvSpPr/>
          <p:nvPr/>
        </p:nvSpPr>
        <p:spPr>
          <a:xfrm>
            <a:off x="566928" y="6446520"/>
            <a:ext cx="11045952" cy="0"/>
          </a:xfrm>
          <a:prstGeom prst="line">
            <a:avLst/>
          </a:prstGeom>
          <a:noFill/>
          <a:ln w="25400">
            <a:solidFill>
              <a:srgbClr val="3C5365"/>
            </a:solidFill>
            <a:prstDash val="solid"/>
            <a:headEnd type="none"/>
            <a:tailEnd type="none"/>
          </a:ln>
        </p:spPr>
      </p:sp>
      <p:sp>
        <p:nvSpPr>
          <p:cNvPr id="5" name="Text 3"/>
          <p:cNvSpPr/>
          <p:nvPr/>
        </p:nvSpPr>
        <p:spPr>
          <a:xfrm>
            <a:off x="566928" y="6528816"/>
            <a:ext cx="9144000" cy="182880"/>
          </a:xfrm>
          <a:prstGeom prst="rect">
            <a:avLst/>
          </a:prstGeom>
          <a:noFill/>
          <a:ln/>
        </p:spPr>
        <p:txBody>
          <a:bodyPr wrap="square" lIns="0" tIns="0" rIns="0" bIns="0" rtlCol="0" anchor="ctr"/>
          <a:lstStyle/>
          <a:p>
            <a:pPr indent="0" marL="0">
              <a:buNone/>
            </a:pPr>
            <a:r>
              <a:rPr lang="en-US" sz="1100" dirty="0">
                <a:solidFill>
                  <a:srgbClr val="B8C8D5"/>
                </a:solidFill>
                <a:latin typeface="Arial" pitchFamily="34" charset="0"/>
                <a:ea typeface="Arial" pitchFamily="34" charset="-122"/>
                <a:cs typeface="Arial" pitchFamily="34" charset="-120"/>
              </a:rPr>
              <a:t>ATLANTIS   /   PLAN → REVIEW → APPLY</a:t>
            </a:r>
            <a:endParaRPr lang="en-US" sz="1100" dirty="0"/>
          </a:p>
        </p:txBody>
      </p:sp>
      <p:sp>
        <p:nvSpPr>
          <p:cNvPr id="6" name="Text 4"/>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B8C8D5"/>
                </a:solidFill>
                <a:latin typeface="Arial" pitchFamily="34" charset="0"/>
                <a:ea typeface="Arial" pitchFamily="34" charset="-122"/>
                <a:cs typeface="Arial" pitchFamily="34" charset="-120"/>
              </a:rPr>
              <a:t>03</a:t>
            </a:r>
            <a:endParaRPr lang="en-US" sz="1200" dirty="0"/>
          </a:p>
        </p:txBody>
      </p:sp>
      <p:sp>
        <p:nvSpPr>
          <p:cNvPr id="7" name="Shape 5"/>
          <p:cNvSpPr/>
          <p:nvPr/>
        </p:nvSpPr>
        <p:spPr>
          <a:xfrm>
            <a:off x="658368" y="2148840"/>
            <a:ext cx="10881360" cy="3895344"/>
          </a:xfrm>
          <a:prstGeom prst="rect">
            <a:avLst/>
          </a:prstGeom>
          <a:solidFill>
            <a:srgbClr val="1B2C3B"/>
          </a:solidFill>
          <a:ln w="12700">
            <a:solidFill>
              <a:srgbClr val="1B2C3B"/>
            </a:solidFill>
            <a:prstDash val="solid"/>
          </a:ln>
        </p:spPr>
      </p:sp>
      <p:sp>
        <p:nvSpPr>
          <p:cNvPr id="8" name="Text 6"/>
          <p:cNvSpPr/>
          <p:nvPr/>
        </p:nvSpPr>
        <p:spPr>
          <a:xfrm>
            <a:off x="932688" y="2377440"/>
            <a:ext cx="9966960" cy="384048"/>
          </a:xfrm>
          <a:prstGeom prst="rect">
            <a:avLst/>
          </a:prstGeom>
          <a:noFill/>
          <a:ln/>
        </p:spPr>
        <p:txBody>
          <a:bodyPr wrap="square" lIns="0" tIns="0" rIns="0" bIns="0" rtlCol="0" anchor="ctr"/>
          <a:lstStyle/>
          <a:p>
            <a:pPr indent="0" marL="0">
              <a:buNone/>
            </a:pPr>
            <a:r>
              <a:rPr lang="en-US" sz="2700" b="1" dirty="0">
                <a:solidFill>
                  <a:srgbClr val="F5F8FA"/>
                </a:solidFill>
                <a:latin typeface="Arial" pitchFamily="34" charset="0"/>
                <a:ea typeface="Arial" pitchFamily="34" charset="-122"/>
                <a:cs typeface="Arial" pitchFamily="34" charset="-120"/>
              </a:rPr>
              <a:t>infra: resize production database</a:t>
            </a:r>
            <a:endParaRPr lang="en-US" sz="2700" dirty="0"/>
          </a:p>
        </p:txBody>
      </p:sp>
      <p:sp>
        <p:nvSpPr>
          <p:cNvPr id="9" name="Shape 7"/>
          <p:cNvSpPr/>
          <p:nvPr/>
        </p:nvSpPr>
        <p:spPr>
          <a:xfrm>
            <a:off x="932688" y="2971800"/>
            <a:ext cx="10287000" cy="0"/>
          </a:xfrm>
          <a:prstGeom prst="line">
            <a:avLst/>
          </a:prstGeom>
          <a:noFill/>
          <a:ln w="25400">
            <a:solidFill>
              <a:srgbClr val="3C5365"/>
            </a:solidFill>
            <a:prstDash val="solid"/>
            <a:headEnd type="none"/>
            <a:tailEnd type="none"/>
          </a:ln>
        </p:spPr>
      </p:sp>
      <p:sp>
        <p:nvSpPr>
          <p:cNvPr id="10" name="Text 8"/>
          <p:cNvSpPr/>
          <p:nvPr/>
        </p:nvSpPr>
        <p:spPr>
          <a:xfrm>
            <a:off x="950976" y="3218688"/>
            <a:ext cx="1508760" cy="365760"/>
          </a:xfrm>
          <a:prstGeom prst="rect">
            <a:avLst/>
          </a:prstGeom>
          <a:noFill/>
          <a:ln/>
        </p:spPr>
        <p:txBody>
          <a:bodyPr wrap="square" lIns="0" tIns="0" rIns="0" bIns="0" rtlCol="0" anchor="ctr"/>
          <a:lstStyle/>
          <a:p>
            <a:pPr indent="0" marL="0">
              <a:buNone/>
            </a:pPr>
            <a:r>
              <a:rPr lang="en-US" sz="2100" dirty="0">
                <a:solidFill>
                  <a:srgbClr val="B8C8D5"/>
                </a:solidFill>
                <a:latin typeface="Arial" pitchFamily="34" charset="0"/>
                <a:ea typeface="Arial" pitchFamily="34" charset="-122"/>
                <a:cs typeface="Arial" pitchFamily="34" charset="-120"/>
              </a:rPr>
              <a:t>Atlantis</a:t>
            </a:r>
            <a:endParaRPr lang="en-US" sz="2100" dirty="0"/>
          </a:p>
        </p:txBody>
      </p:sp>
      <p:sp>
        <p:nvSpPr>
          <p:cNvPr id="11" name="Text 9"/>
          <p:cNvSpPr/>
          <p:nvPr/>
        </p:nvSpPr>
        <p:spPr>
          <a:xfrm>
            <a:off x="2743200" y="3218688"/>
            <a:ext cx="8412480" cy="365760"/>
          </a:xfrm>
          <a:prstGeom prst="rect">
            <a:avLst/>
          </a:prstGeom>
          <a:noFill/>
          <a:ln/>
        </p:spPr>
        <p:txBody>
          <a:bodyPr wrap="square" lIns="0" tIns="0" rIns="0" bIns="0" rtlCol="0" anchor="ctr"/>
          <a:lstStyle/>
          <a:p>
            <a:pPr indent="0" marL="0">
              <a:buNone/>
            </a:pPr>
            <a:r>
              <a:rPr lang="en-US" sz="2500" b="1" dirty="0">
                <a:solidFill>
                  <a:srgbClr val="6DD9E9"/>
                </a:solidFill>
                <a:latin typeface="Arial" pitchFamily="34" charset="0"/>
                <a:ea typeface="Arial" pitchFamily="34" charset="-122"/>
                <a:cs typeface="Arial" pitchFamily="34" charset="-120"/>
              </a:rPr>
              <a:t>Plan: 0 to add, 1 to change, 0 to destroy</a:t>
            </a:r>
            <a:endParaRPr lang="en-US" sz="2500" dirty="0"/>
          </a:p>
        </p:txBody>
      </p:sp>
      <p:sp>
        <p:nvSpPr>
          <p:cNvPr id="12" name="Text 10"/>
          <p:cNvSpPr/>
          <p:nvPr/>
        </p:nvSpPr>
        <p:spPr>
          <a:xfrm>
            <a:off x="950976" y="3813048"/>
            <a:ext cx="1508760" cy="365760"/>
          </a:xfrm>
          <a:prstGeom prst="rect">
            <a:avLst/>
          </a:prstGeom>
          <a:noFill/>
          <a:ln/>
        </p:spPr>
        <p:txBody>
          <a:bodyPr wrap="square" lIns="0" tIns="0" rIns="0" bIns="0" rtlCol="0" anchor="ctr"/>
          <a:lstStyle/>
          <a:p>
            <a:pPr indent="0" marL="0">
              <a:buNone/>
            </a:pPr>
            <a:r>
              <a:rPr lang="en-US" sz="2100" dirty="0">
                <a:solidFill>
                  <a:srgbClr val="B8C8D5"/>
                </a:solidFill>
                <a:latin typeface="Arial" pitchFamily="34" charset="0"/>
                <a:ea typeface="Arial" pitchFamily="34" charset="-122"/>
                <a:cs typeface="Arial" pitchFamily="34" charset="-120"/>
              </a:rPr>
              <a:t>Reviewer</a:t>
            </a:r>
            <a:endParaRPr lang="en-US" sz="2100" dirty="0"/>
          </a:p>
        </p:txBody>
      </p:sp>
      <p:sp>
        <p:nvSpPr>
          <p:cNvPr id="13" name="Text 11"/>
          <p:cNvSpPr/>
          <p:nvPr/>
        </p:nvSpPr>
        <p:spPr>
          <a:xfrm>
            <a:off x="2743200" y="3813048"/>
            <a:ext cx="8412480" cy="365760"/>
          </a:xfrm>
          <a:prstGeom prst="rect">
            <a:avLst/>
          </a:prstGeom>
          <a:noFill/>
          <a:ln/>
        </p:spPr>
        <p:txBody>
          <a:bodyPr wrap="square" lIns="0" tIns="0" rIns="0" bIns="0" rtlCol="0" anchor="ctr"/>
          <a:lstStyle/>
          <a:p>
            <a:pPr indent="0" marL="0">
              <a:buNone/>
            </a:pPr>
            <a:r>
              <a:rPr lang="en-US" sz="2500" dirty="0">
                <a:solidFill>
                  <a:srgbClr val="F5F8FA"/>
                </a:solidFill>
                <a:latin typeface="Arial" pitchFamily="34" charset="0"/>
                <a:ea typeface="Arial" pitchFamily="34" charset="-122"/>
                <a:cs typeface="Arial" pitchFamily="34" charset="-120"/>
              </a:rPr>
              <a:t>Approved</a:t>
            </a:r>
            <a:endParaRPr lang="en-US" sz="2500" dirty="0"/>
          </a:p>
        </p:txBody>
      </p:sp>
      <p:sp>
        <p:nvSpPr>
          <p:cNvPr id="14" name="Text 12"/>
          <p:cNvSpPr/>
          <p:nvPr/>
        </p:nvSpPr>
        <p:spPr>
          <a:xfrm>
            <a:off x="950976" y="4407408"/>
            <a:ext cx="1508760" cy="365760"/>
          </a:xfrm>
          <a:prstGeom prst="rect">
            <a:avLst/>
          </a:prstGeom>
          <a:noFill/>
          <a:ln/>
        </p:spPr>
        <p:txBody>
          <a:bodyPr wrap="square" lIns="0" tIns="0" rIns="0" bIns="0" rtlCol="0" anchor="ctr"/>
          <a:lstStyle/>
          <a:p>
            <a:pPr indent="0" marL="0">
              <a:buNone/>
            </a:pPr>
            <a:r>
              <a:rPr lang="en-US" sz="2100" dirty="0">
                <a:solidFill>
                  <a:srgbClr val="B8C8D5"/>
                </a:solidFill>
                <a:latin typeface="Arial" pitchFamily="34" charset="0"/>
                <a:ea typeface="Arial" pitchFamily="34" charset="-122"/>
                <a:cs typeface="Arial" pitchFamily="34" charset="-120"/>
              </a:rPr>
              <a:t>Rui</a:t>
            </a:r>
            <a:endParaRPr lang="en-US" sz="2100" dirty="0"/>
          </a:p>
        </p:txBody>
      </p:sp>
      <p:sp>
        <p:nvSpPr>
          <p:cNvPr id="15" name="Text 13"/>
          <p:cNvSpPr/>
          <p:nvPr/>
        </p:nvSpPr>
        <p:spPr>
          <a:xfrm>
            <a:off x="2743200" y="4407408"/>
            <a:ext cx="8412480" cy="365760"/>
          </a:xfrm>
          <a:prstGeom prst="rect">
            <a:avLst/>
          </a:prstGeom>
          <a:noFill/>
          <a:ln/>
        </p:spPr>
        <p:txBody>
          <a:bodyPr wrap="square" lIns="0" tIns="0" rIns="0" bIns="0" rtlCol="0" anchor="ctr"/>
          <a:lstStyle/>
          <a:p>
            <a:pPr indent="0" marL="0">
              <a:buNone/>
            </a:pPr>
            <a:r>
              <a:rPr lang="en-US" sz="2500" b="1" dirty="0">
                <a:solidFill>
                  <a:srgbClr val="6DD9E9"/>
                </a:solidFill>
                <a:latin typeface="Arial" pitchFamily="34" charset="0"/>
                <a:ea typeface="Arial" pitchFamily="34" charset="-122"/>
                <a:cs typeface="Arial" pitchFamily="34" charset="-120"/>
              </a:rPr>
              <a:t>atlantis apply</a:t>
            </a:r>
            <a:endParaRPr lang="en-US" sz="2500" dirty="0"/>
          </a:p>
        </p:txBody>
      </p:sp>
      <p:sp>
        <p:nvSpPr>
          <p:cNvPr id="16" name="Text 14"/>
          <p:cNvSpPr/>
          <p:nvPr/>
        </p:nvSpPr>
        <p:spPr>
          <a:xfrm>
            <a:off x="950976" y="5001768"/>
            <a:ext cx="1508760" cy="365760"/>
          </a:xfrm>
          <a:prstGeom prst="rect">
            <a:avLst/>
          </a:prstGeom>
          <a:noFill/>
          <a:ln/>
        </p:spPr>
        <p:txBody>
          <a:bodyPr wrap="square" lIns="0" tIns="0" rIns="0" bIns="0" rtlCol="0" anchor="ctr"/>
          <a:lstStyle/>
          <a:p>
            <a:pPr indent="0" marL="0">
              <a:buNone/>
            </a:pPr>
            <a:r>
              <a:rPr lang="en-US" sz="2100" dirty="0">
                <a:solidFill>
                  <a:srgbClr val="B8C8D5"/>
                </a:solidFill>
                <a:latin typeface="Arial" pitchFamily="34" charset="0"/>
                <a:ea typeface="Arial" pitchFamily="34" charset="-122"/>
                <a:cs typeface="Arial" pitchFamily="34" charset="-120"/>
              </a:rPr>
              <a:t>Atlantis</a:t>
            </a:r>
            <a:endParaRPr lang="en-US" sz="2100" dirty="0"/>
          </a:p>
        </p:txBody>
      </p:sp>
      <p:sp>
        <p:nvSpPr>
          <p:cNvPr id="17" name="Text 15"/>
          <p:cNvSpPr/>
          <p:nvPr/>
        </p:nvSpPr>
        <p:spPr>
          <a:xfrm>
            <a:off x="2743200" y="5001768"/>
            <a:ext cx="8412480" cy="365760"/>
          </a:xfrm>
          <a:prstGeom prst="rect">
            <a:avLst/>
          </a:prstGeom>
          <a:noFill/>
          <a:ln/>
        </p:spPr>
        <p:txBody>
          <a:bodyPr wrap="square" lIns="0" tIns="0" rIns="0" bIns="0" rtlCol="0" anchor="ctr"/>
          <a:lstStyle/>
          <a:p>
            <a:pPr indent="0" marL="0">
              <a:buNone/>
            </a:pPr>
            <a:r>
              <a:rPr lang="en-US" sz="2500" dirty="0">
                <a:solidFill>
                  <a:srgbClr val="F5F8FA"/>
                </a:solidFill>
                <a:latin typeface="Arial" pitchFamily="34" charset="0"/>
                <a:ea typeface="Arial" pitchFamily="34" charset="-122"/>
                <a:cs typeface="Arial" pitchFamily="34" charset="-120"/>
              </a:rPr>
              <a:t>Apply complete.</a:t>
            </a:r>
            <a:endParaRPr lang="en-US" sz="2500" dirty="0"/>
          </a:p>
        </p:txBody>
      </p:sp>
      <p:sp>
        <p:nvSpPr>
          <p:cNvPr id="18" name="Text 16"/>
          <p:cNvSpPr/>
          <p:nvPr/>
        </p:nvSpPr>
        <p:spPr>
          <a:xfrm>
            <a:off x="932688" y="5715000"/>
            <a:ext cx="10332720" cy="228600"/>
          </a:xfrm>
          <a:prstGeom prst="rect">
            <a:avLst/>
          </a:prstGeom>
          <a:noFill/>
          <a:ln/>
        </p:spPr>
        <p:txBody>
          <a:bodyPr wrap="square" lIns="0" tIns="0" rIns="0" bIns="0" rtlCol="0" anchor="ctr"/>
          <a:lstStyle/>
          <a:p>
            <a:pPr indent="0" marL="0">
              <a:buNone/>
            </a:pPr>
            <a:r>
              <a:rPr lang="en-US" sz="1600" dirty="0">
                <a:solidFill>
                  <a:srgbClr val="B8C8D5"/>
                </a:solidFill>
                <a:latin typeface="Arial" pitchFamily="34" charset="0"/>
                <a:ea typeface="Arial" pitchFamily="34" charset="-122"/>
                <a:cs typeface="Arial" pitchFamily="34" charset="-120"/>
              </a:rPr>
              <a:t>Illustrative PR · approval requirement configured · apply before merge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B26"/>
        </a:solidFill>
      </p:bgPr>
    </p:bg>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6DD9E9"/>
                </a:solidFill>
                <a:latin typeface="Arial" pitchFamily="34" charset="0"/>
                <a:ea typeface="Arial" pitchFamily="34" charset="-122"/>
                <a:cs typeface="Arial" pitchFamily="34" charset="-120"/>
              </a:rPr>
              <a:t>WHY PLATFORM TEAMS CHOOSE IT</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F5F8FA"/>
                </a:solidFill>
                <a:latin typeface="Arial" pitchFamily="34" charset="0"/>
                <a:ea typeface="Arial" pitchFamily="34" charset="-122"/>
                <a:cs typeface="Arial" pitchFamily="34" charset="-120"/>
              </a:rPr>
              <a:t>A shared workflow. A platform you control.</a:t>
            </a:r>
            <a:endParaRPr lang="en-US" sz="3600" dirty="0"/>
          </a:p>
        </p:txBody>
      </p:sp>
      <p:sp>
        <p:nvSpPr>
          <p:cNvPr id="4" name="Shape 2"/>
          <p:cNvSpPr/>
          <p:nvPr/>
        </p:nvSpPr>
        <p:spPr>
          <a:xfrm>
            <a:off x="566928" y="6446520"/>
            <a:ext cx="11045952" cy="0"/>
          </a:xfrm>
          <a:prstGeom prst="line">
            <a:avLst/>
          </a:prstGeom>
          <a:noFill/>
          <a:ln w="25400">
            <a:solidFill>
              <a:srgbClr val="3C5365"/>
            </a:solidFill>
            <a:prstDash val="solid"/>
            <a:headEnd type="none"/>
            <a:tailEnd type="none"/>
          </a:ln>
        </p:spPr>
      </p:sp>
      <p:sp>
        <p:nvSpPr>
          <p:cNvPr id="5" name="Text 3"/>
          <p:cNvSpPr/>
          <p:nvPr/>
        </p:nvSpPr>
        <p:spPr>
          <a:xfrm>
            <a:off x="566928" y="6528816"/>
            <a:ext cx="9144000" cy="182880"/>
          </a:xfrm>
          <a:prstGeom prst="rect">
            <a:avLst/>
          </a:prstGeom>
          <a:noFill/>
          <a:ln/>
        </p:spPr>
        <p:txBody>
          <a:bodyPr wrap="square" lIns="0" tIns="0" rIns="0" bIns="0" rtlCol="0" anchor="ctr"/>
          <a:lstStyle/>
          <a:p>
            <a:pPr indent="0" marL="0">
              <a:buNone/>
            </a:pPr>
            <a:r>
              <a:rPr lang="en-US" sz="1100" dirty="0">
                <a:solidFill>
                  <a:srgbClr val="B8C8D5"/>
                </a:solidFill>
                <a:latin typeface="Arial" pitchFamily="34" charset="0"/>
                <a:ea typeface="Arial" pitchFamily="34" charset="-122"/>
                <a:cs typeface="Arial" pitchFamily="34" charset="-120"/>
              </a:rPr>
              <a:t>ATLANTIS   /   PLAN → REVIEW → APPLY</a:t>
            </a:r>
            <a:endParaRPr lang="en-US" sz="1100" dirty="0"/>
          </a:p>
        </p:txBody>
      </p:sp>
      <p:sp>
        <p:nvSpPr>
          <p:cNvPr id="6" name="Text 4"/>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B8C8D5"/>
                </a:solidFill>
                <a:latin typeface="Arial" pitchFamily="34" charset="0"/>
                <a:ea typeface="Arial" pitchFamily="34" charset="-122"/>
                <a:cs typeface="Arial" pitchFamily="34" charset="-120"/>
              </a:rPr>
              <a:t>04</a:t>
            </a:r>
            <a:endParaRPr lang="en-US" sz="1200" dirty="0"/>
          </a:p>
        </p:txBody>
      </p:sp>
      <p:sp>
        <p:nvSpPr>
          <p:cNvPr id="7" name="Shape 5"/>
          <p:cNvSpPr/>
          <p:nvPr/>
        </p:nvSpPr>
        <p:spPr>
          <a:xfrm>
            <a:off x="640080" y="2395728"/>
            <a:ext cx="3493008" cy="2523744"/>
          </a:xfrm>
          <a:prstGeom prst="rect">
            <a:avLst/>
          </a:prstGeom>
          <a:solidFill>
            <a:srgbClr val="1B2C3B"/>
          </a:solidFill>
          <a:ln w="12700">
            <a:solidFill>
              <a:srgbClr val="1B2C3B"/>
            </a:solidFill>
            <a:prstDash val="solid"/>
          </a:ln>
        </p:spPr>
      </p:sp>
      <p:sp>
        <p:nvSpPr>
          <p:cNvPr id="8" name="Text 6"/>
          <p:cNvSpPr/>
          <p:nvPr/>
        </p:nvSpPr>
        <p:spPr>
          <a:xfrm>
            <a:off x="850392" y="2606040"/>
            <a:ext cx="2743200" cy="347472"/>
          </a:xfrm>
          <a:prstGeom prst="rect">
            <a:avLst/>
          </a:prstGeom>
          <a:noFill/>
          <a:ln/>
        </p:spPr>
        <p:txBody>
          <a:bodyPr wrap="square" lIns="0" tIns="0" rIns="0" bIns="0" rtlCol="0" anchor="ctr"/>
          <a:lstStyle/>
          <a:p>
            <a:pPr indent="0" marL="0">
              <a:buNone/>
            </a:pPr>
            <a:r>
              <a:rPr lang="en-US" sz="2000" dirty="0">
                <a:solidFill>
                  <a:srgbClr val="6DD9E9"/>
                </a:solidFill>
                <a:latin typeface="Arial" pitchFamily="34" charset="0"/>
                <a:ea typeface="Arial" pitchFamily="34" charset="-122"/>
                <a:cs typeface="Arial" pitchFamily="34" charset="-120"/>
              </a:rPr>
              <a:t>01</a:t>
            </a:r>
            <a:endParaRPr lang="en-US" sz="2000" dirty="0"/>
          </a:p>
        </p:txBody>
      </p:sp>
      <p:sp>
        <p:nvSpPr>
          <p:cNvPr id="9" name="Text 7"/>
          <p:cNvSpPr/>
          <p:nvPr/>
        </p:nvSpPr>
        <p:spPr>
          <a:xfrm>
            <a:off x="850392" y="3182112"/>
            <a:ext cx="3108960" cy="411480"/>
          </a:xfrm>
          <a:prstGeom prst="rect">
            <a:avLst/>
          </a:prstGeom>
          <a:noFill/>
          <a:ln/>
        </p:spPr>
        <p:txBody>
          <a:bodyPr wrap="square" lIns="0" tIns="0" rIns="0" bIns="0" rtlCol="0" anchor="ctr"/>
          <a:lstStyle/>
          <a:p>
            <a:pPr indent="0" marL="0">
              <a:buNone/>
            </a:pPr>
            <a:r>
              <a:rPr lang="en-US" sz="2900" b="1" dirty="0">
                <a:solidFill>
                  <a:srgbClr val="F5F8FA"/>
                </a:solidFill>
                <a:latin typeface="Arial" pitchFamily="34" charset="0"/>
                <a:ea typeface="Arial" pitchFamily="34" charset="-122"/>
                <a:cs typeface="Arial" pitchFamily="34" charset="-120"/>
              </a:rPr>
              <a:t>Visible</a:t>
            </a:r>
            <a:endParaRPr lang="en-US" sz="2900" dirty="0"/>
          </a:p>
        </p:txBody>
      </p:sp>
      <p:sp>
        <p:nvSpPr>
          <p:cNvPr id="10" name="Text 8"/>
          <p:cNvSpPr/>
          <p:nvPr/>
        </p:nvSpPr>
        <p:spPr>
          <a:xfrm>
            <a:off x="850392" y="3886200"/>
            <a:ext cx="3108960" cy="658368"/>
          </a:xfrm>
          <a:prstGeom prst="rect">
            <a:avLst/>
          </a:prstGeom>
          <a:noFill/>
          <a:ln/>
        </p:spPr>
        <p:txBody>
          <a:bodyPr wrap="square" lIns="0" tIns="0" rIns="0" bIns="0" rtlCol="0" anchor="ctr"/>
          <a:lstStyle/>
          <a:p>
            <a:pPr indent="0" marL="0">
              <a:buNone/>
            </a:pPr>
            <a:r>
              <a:rPr lang="en-US" sz="2200" dirty="0">
                <a:solidFill>
                  <a:srgbClr val="B8C8D5"/>
                </a:solidFill>
                <a:latin typeface="Arial" pitchFamily="34" charset="0"/>
                <a:ea typeface="Arial" pitchFamily="34" charset="-122"/>
                <a:cs typeface="Arial" pitchFamily="34" charset="-120"/>
              </a:rPr>
              <a:t>Plan + execution results</a:t>
            </a:r>
            <a:endParaRPr lang="en-US" sz="2200" dirty="0"/>
          </a:p>
          <a:p>
            <a:pPr indent="0" marL="0">
              <a:buNone/>
            </a:pPr>
            <a:r>
              <a:rPr lang="en-US" sz="2200" dirty="0">
                <a:solidFill>
                  <a:srgbClr val="B8C8D5"/>
                </a:solidFill>
                <a:latin typeface="Arial" pitchFamily="34" charset="0"/>
                <a:ea typeface="Arial" pitchFamily="34" charset="-122"/>
                <a:cs typeface="Arial" pitchFamily="34" charset="-120"/>
              </a:rPr>
              <a:t>beside the code review.</a:t>
            </a:r>
            <a:endParaRPr lang="en-US" sz="2200" dirty="0"/>
          </a:p>
        </p:txBody>
      </p:sp>
      <p:sp>
        <p:nvSpPr>
          <p:cNvPr id="11" name="Shape 9"/>
          <p:cNvSpPr/>
          <p:nvPr/>
        </p:nvSpPr>
        <p:spPr>
          <a:xfrm>
            <a:off x="4352544" y="2395728"/>
            <a:ext cx="3493008" cy="2523744"/>
          </a:xfrm>
          <a:prstGeom prst="rect">
            <a:avLst/>
          </a:prstGeom>
          <a:solidFill>
            <a:srgbClr val="1B2C3B"/>
          </a:solidFill>
          <a:ln w="12700">
            <a:solidFill>
              <a:srgbClr val="1B2C3B"/>
            </a:solidFill>
            <a:prstDash val="solid"/>
          </a:ln>
        </p:spPr>
      </p:sp>
      <p:sp>
        <p:nvSpPr>
          <p:cNvPr id="12" name="Text 10"/>
          <p:cNvSpPr/>
          <p:nvPr/>
        </p:nvSpPr>
        <p:spPr>
          <a:xfrm>
            <a:off x="4562856" y="2606040"/>
            <a:ext cx="2743200" cy="347472"/>
          </a:xfrm>
          <a:prstGeom prst="rect">
            <a:avLst/>
          </a:prstGeom>
          <a:noFill/>
          <a:ln/>
        </p:spPr>
        <p:txBody>
          <a:bodyPr wrap="square" lIns="0" tIns="0" rIns="0" bIns="0" rtlCol="0" anchor="ctr"/>
          <a:lstStyle/>
          <a:p>
            <a:pPr indent="0" marL="0">
              <a:buNone/>
            </a:pPr>
            <a:r>
              <a:rPr lang="en-US" sz="2000" dirty="0">
                <a:solidFill>
                  <a:srgbClr val="6DD9E9"/>
                </a:solidFill>
                <a:latin typeface="Arial" pitchFamily="34" charset="0"/>
                <a:ea typeface="Arial" pitchFamily="34" charset="-122"/>
                <a:cs typeface="Arial" pitchFamily="34" charset="-120"/>
              </a:rPr>
              <a:t>02</a:t>
            </a:r>
            <a:endParaRPr lang="en-US" sz="2000" dirty="0"/>
          </a:p>
        </p:txBody>
      </p:sp>
      <p:sp>
        <p:nvSpPr>
          <p:cNvPr id="13" name="Text 11"/>
          <p:cNvSpPr/>
          <p:nvPr/>
        </p:nvSpPr>
        <p:spPr>
          <a:xfrm>
            <a:off x="4562856" y="3182112"/>
            <a:ext cx="3108960" cy="411480"/>
          </a:xfrm>
          <a:prstGeom prst="rect">
            <a:avLst/>
          </a:prstGeom>
          <a:noFill/>
          <a:ln/>
        </p:spPr>
        <p:txBody>
          <a:bodyPr wrap="square" lIns="0" tIns="0" rIns="0" bIns="0" rtlCol="0" anchor="ctr"/>
          <a:lstStyle/>
          <a:p>
            <a:pPr indent="0" marL="0">
              <a:buNone/>
            </a:pPr>
            <a:r>
              <a:rPr lang="en-US" sz="2900" b="1" dirty="0">
                <a:solidFill>
                  <a:srgbClr val="F5F8FA"/>
                </a:solidFill>
                <a:latin typeface="Arial" pitchFamily="34" charset="0"/>
                <a:ea typeface="Arial" pitchFamily="34" charset="-122"/>
                <a:cs typeface="Arial" pitchFamily="34" charset="-120"/>
              </a:rPr>
              <a:t>Controlled</a:t>
            </a:r>
            <a:endParaRPr lang="en-US" sz="2900" dirty="0"/>
          </a:p>
        </p:txBody>
      </p:sp>
      <p:sp>
        <p:nvSpPr>
          <p:cNvPr id="14" name="Text 12"/>
          <p:cNvSpPr/>
          <p:nvPr/>
        </p:nvSpPr>
        <p:spPr>
          <a:xfrm>
            <a:off x="4562856" y="3886200"/>
            <a:ext cx="3108960" cy="658368"/>
          </a:xfrm>
          <a:prstGeom prst="rect">
            <a:avLst/>
          </a:prstGeom>
          <a:noFill/>
          <a:ln/>
        </p:spPr>
        <p:txBody>
          <a:bodyPr wrap="square" lIns="0" tIns="0" rIns="0" bIns="0" rtlCol="0" anchor="ctr"/>
          <a:lstStyle/>
          <a:p>
            <a:pPr indent="0" marL="0">
              <a:buNone/>
            </a:pPr>
            <a:r>
              <a:rPr lang="en-US" sz="2200" dirty="0">
                <a:solidFill>
                  <a:srgbClr val="B8C8D5"/>
                </a:solidFill>
                <a:latin typeface="Arial" pitchFamily="34" charset="0"/>
                <a:ea typeface="Arial" pitchFamily="34" charset="-122"/>
                <a:cs typeface="Arial" pitchFamily="34" charset="-120"/>
              </a:rPr>
              <a:t>Configured approvals,</a:t>
            </a:r>
            <a:endParaRPr lang="en-US" sz="2200" dirty="0"/>
          </a:p>
          <a:p>
            <a:pPr indent="0" marL="0">
              <a:buNone/>
            </a:pPr>
            <a:r>
              <a:rPr lang="en-US" sz="2200" dirty="0">
                <a:solidFill>
                  <a:srgbClr val="B8C8D5"/>
                </a:solidFill>
                <a:latin typeface="Arial" pitchFamily="34" charset="0"/>
                <a:ea typeface="Arial" pitchFamily="34" charset="-122"/>
                <a:cs typeface="Arial" pitchFamily="34" charset="-120"/>
              </a:rPr>
              <a:t>policies + project locks.</a:t>
            </a:r>
            <a:endParaRPr lang="en-US" sz="2200" dirty="0"/>
          </a:p>
        </p:txBody>
      </p:sp>
      <p:sp>
        <p:nvSpPr>
          <p:cNvPr id="15" name="Shape 13"/>
          <p:cNvSpPr/>
          <p:nvPr/>
        </p:nvSpPr>
        <p:spPr>
          <a:xfrm>
            <a:off x="8065008" y="2395728"/>
            <a:ext cx="3493008" cy="2523744"/>
          </a:xfrm>
          <a:prstGeom prst="rect">
            <a:avLst/>
          </a:prstGeom>
          <a:solidFill>
            <a:srgbClr val="1B2C3B"/>
          </a:solidFill>
          <a:ln w="12700">
            <a:solidFill>
              <a:srgbClr val="1B2C3B"/>
            </a:solidFill>
            <a:prstDash val="solid"/>
          </a:ln>
        </p:spPr>
      </p:sp>
      <p:sp>
        <p:nvSpPr>
          <p:cNvPr id="16" name="Text 14"/>
          <p:cNvSpPr/>
          <p:nvPr/>
        </p:nvSpPr>
        <p:spPr>
          <a:xfrm>
            <a:off x="8275320" y="2606040"/>
            <a:ext cx="2743200" cy="347472"/>
          </a:xfrm>
          <a:prstGeom prst="rect">
            <a:avLst/>
          </a:prstGeom>
          <a:noFill/>
          <a:ln/>
        </p:spPr>
        <p:txBody>
          <a:bodyPr wrap="square" lIns="0" tIns="0" rIns="0" bIns="0" rtlCol="0" anchor="ctr"/>
          <a:lstStyle/>
          <a:p>
            <a:pPr indent="0" marL="0">
              <a:buNone/>
            </a:pPr>
            <a:r>
              <a:rPr lang="en-US" sz="2000" dirty="0">
                <a:solidFill>
                  <a:srgbClr val="6DD9E9"/>
                </a:solidFill>
                <a:latin typeface="Arial" pitchFamily="34" charset="0"/>
                <a:ea typeface="Arial" pitchFamily="34" charset="-122"/>
                <a:cs typeface="Arial" pitchFamily="34" charset="-120"/>
              </a:rPr>
              <a:t>03</a:t>
            </a:r>
            <a:endParaRPr lang="en-US" sz="2000" dirty="0"/>
          </a:p>
        </p:txBody>
      </p:sp>
      <p:sp>
        <p:nvSpPr>
          <p:cNvPr id="17" name="Text 15"/>
          <p:cNvSpPr/>
          <p:nvPr/>
        </p:nvSpPr>
        <p:spPr>
          <a:xfrm>
            <a:off x="8275320" y="3182112"/>
            <a:ext cx="3108960" cy="411480"/>
          </a:xfrm>
          <a:prstGeom prst="rect">
            <a:avLst/>
          </a:prstGeom>
          <a:noFill/>
          <a:ln/>
        </p:spPr>
        <p:txBody>
          <a:bodyPr wrap="square" lIns="0" tIns="0" rIns="0" bIns="0" rtlCol="0" anchor="ctr"/>
          <a:lstStyle/>
          <a:p>
            <a:pPr indent="0" marL="0">
              <a:buNone/>
            </a:pPr>
            <a:r>
              <a:rPr lang="en-US" sz="2900" b="1" dirty="0">
                <a:solidFill>
                  <a:srgbClr val="F5F8FA"/>
                </a:solidFill>
                <a:latin typeface="Arial" pitchFamily="34" charset="0"/>
                <a:ea typeface="Arial" pitchFamily="34" charset="-122"/>
                <a:cs typeface="Arial" pitchFamily="34" charset="-120"/>
              </a:rPr>
              <a:t>Collaborative</a:t>
            </a:r>
            <a:endParaRPr lang="en-US" sz="2900" dirty="0"/>
          </a:p>
        </p:txBody>
      </p:sp>
      <p:sp>
        <p:nvSpPr>
          <p:cNvPr id="18" name="Text 16"/>
          <p:cNvSpPr/>
          <p:nvPr/>
        </p:nvSpPr>
        <p:spPr>
          <a:xfrm>
            <a:off x="8275320" y="3886200"/>
            <a:ext cx="3108960" cy="658368"/>
          </a:xfrm>
          <a:prstGeom prst="rect">
            <a:avLst/>
          </a:prstGeom>
          <a:noFill/>
          <a:ln/>
        </p:spPr>
        <p:txBody>
          <a:bodyPr wrap="square" lIns="0" tIns="0" rIns="0" bIns="0" rtlCol="0" anchor="ctr"/>
          <a:lstStyle/>
          <a:p>
            <a:pPr indent="0" marL="0">
              <a:buNone/>
            </a:pPr>
            <a:r>
              <a:rPr lang="en-US" sz="2200" dirty="0">
                <a:solidFill>
                  <a:srgbClr val="B8C8D5"/>
                </a:solidFill>
                <a:latin typeface="Arial" pitchFamily="34" charset="0"/>
                <a:ea typeface="Arial" pitchFamily="34" charset="-122"/>
                <a:cs typeface="Arial" pitchFamily="34" charset="-120"/>
              </a:rPr>
              <a:t>Developers propose.</a:t>
            </a:r>
            <a:endParaRPr lang="en-US" sz="2200" dirty="0"/>
          </a:p>
          <a:p>
            <a:pPr indent="0" marL="0">
              <a:buNone/>
            </a:pPr>
            <a:r>
              <a:rPr lang="en-US" sz="2200" dirty="0">
                <a:solidFill>
                  <a:srgbClr val="B8C8D5"/>
                </a:solidFill>
                <a:latin typeface="Arial" pitchFamily="34" charset="0"/>
                <a:ea typeface="Arial" pitchFamily="34" charset="-122"/>
                <a:cs typeface="Arial" pitchFamily="34" charset="-120"/>
              </a:rPr>
              <a:t>The platform runs it.</a:t>
            </a:r>
            <a:endParaRPr lang="en-US" sz="2200" dirty="0"/>
          </a:p>
        </p:txBody>
      </p:sp>
      <p:sp>
        <p:nvSpPr>
          <p:cNvPr id="19" name="Text 17"/>
          <p:cNvSpPr/>
          <p:nvPr/>
        </p:nvSpPr>
        <p:spPr>
          <a:xfrm>
            <a:off x="640080" y="5367528"/>
            <a:ext cx="10972800" cy="411480"/>
          </a:xfrm>
          <a:prstGeom prst="rect">
            <a:avLst/>
          </a:prstGeom>
          <a:noFill/>
          <a:ln/>
        </p:spPr>
        <p:txBody>
          <a:bodyPr wrap="square" lIns="0" tIns="0" rIns="0" bIns="0" rtlCol="0" anchor="ctr"/>
          <a:lstStyle/>
          <a:p>
            <a:pPr indent="0" marL="0">
              <a:buNone/>
            </a:pPr>
            <a:r>
              <a:rPr lang="en-US" sz="2600" b="1" dirty="0">
                <a:solidFill>
                  <a:srgbClr val="6DD9E9"/>
                </a:solidFill>
                <a:latin typeface="Arial" pitchFamily="34" charset="0"/>
                <a:ea typeface="Arial" pitchFamily="34" charset="-122"/>
                <a:cs typeface="Arial" pitchFamily="34" charset="-120"/>
              </a:rPr>
              <a:t>Self-hosted · Kubernetes / Helm, or a server</a:t>
            </a:r>
            <a:endParaRPr lang="en-US" sz="2600" dirty="0"/>
          </a:p>
        </p:txBody>
      </p:sp>
      <p:sp>
        <p:nvSpPr>
          <p:cNvPr id="20" name="Text 18"/>
          <p:cNvSpPr/>
          <p:nvPr/>
        </p:nvSpPr>
        <p:spPr>
          <a:xfrm>
            <a:off x="640080" y="5897880"/>
            <a:ext cx="10972800" cy="320040"/>
          </a:xfrm>
          <a:prstGeom prst="rect">
            <a:avLst/>
          </a:prstGeom>
          <a:noFill/>
          <a:ln/>
        </p:spPr>
        <p:txBody>
          <a:bodyPr wrap="square" lIns="0" tIns="0" rIns="0" bIns="0" rtlCol="0" anchor="ctr"/>
          <a:lstStyle/>
          <a:p>
            <a:pPr indent="0" marL="0">
              <a:buNone/>
            </a:pPr>
            <a:r>
              <a:rPr lang="en-US" sz="1900" dirty="0">
                <a:solidFill>
                  <a:srgbClr val="B8C8D5"/>
                </a:solidFill>
                <a:latin typeface="Arial" pitchFamily="34" charset="0"/>
                <a:ea typeface="Arial" pitchFamily="34" charset="-122"/>
                <a:cs typeface="Arial" pitchFamily="34" charset="-120"/>
              </a:rPr>
              <a:t>Today: alpha drift APIs · v0.47.1 command-injection fix</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B26"/>
        </a:solidFill>
      </p:bgPr>
    </p:bg>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6DD9E9"/>
                </a:solidFill>
                <a:latin typeface="Arial" pitchFamily="34" charset="0"/>
                <a:ea typeface="Arial" pitchFamily="34" charset="-122"/>
                <a:cs typeface="Arial" pitchFamily="34" charset="-120"/>
              </a:rPr>
              <a:t>OPEN SOURCE · CNCF SANDBOX · APACHE 2.0</a:t>
            </a:r>
            <a:endParaRPr lang="en-US" sz="1600" dirty="0"/>
          </a:p>
        </p:txBody>
      </p:sp>
      <p:sp>
        <p:nvSpPr>
          <p:cNvPr id="3" name="Shape 1"/>
          <p:cNvSpPr/>
          <p:nvPr/>
        </p:nvSpPr>
        <p:spPr>
          <a:xfrm>
            <a:off x="566928" y="6446520"/>
            <a:ext cx="11045952" cy="0"/>
          </a:xfrm>
          <a:prstGeom prst="line">
            <a:avLst/>
          </a:prstGeom>
          <a:noFill/>
          <a:ln w="25400">
            <a:solidFill>
              <a:srgbClr val="3C5365"/>
            </a:solidFill>
            <a:prstDash val="solid"/>
            <a:headEnd type="none"/>
            <a:tailEnd type="none"/>
          </a:ln>
        </p:spPr>
      </p:sp>
      <p:sp>
        <p:nvSpPr>
          <p:cNvPr id="4" name="Text 2"/>
          <p:cNvSpPr/>
          <p:nvPr/>
        </p:nvSpPr>
        <p:spPr>
          <a:xfrm>
            <a:off x="566928" y="6528816"/>
            <a:ext cx="9144000" cy="182880"/>
          </a:xfrm>
          <a:prstGeom prst="rect">
            <a:avLst/>
          </a:prstGeom>
          <a:noFill/>
          <a:ln/>
        </p:spPr>
        <p:txBody>
          <a:bodyPr wrap="square" lIns="0" tIns="0" rIns="0" bIns="0" rtlCol="0" anchor="ctr"/>
          <a:lstStyle/>
          <a:p>
            <a:pPr indent="0" marL="0">
              <a:buNone/>
            </a:pPr>
            <a:r>
              <a:rPr lang="en-US" sz="1100" dirty="0">
                <a:solidFill>
                  <a:srgbClr val="B8C8D5"/>
                </a:solidFill>
                <a:latin typeface="Arial" pitchFamily="34" charset="0"/>
                <a:ea typeface="Arial" pitchFamily="34" charset="-122"/>
                <a:cs typeface="Arial" pitchFamily="34" charset="-120"/>
              </a:rPr>
              <a:t>ATLANTIS   /   PLAN → REVIEW → APPLY</a:t>
            </a:r>
            <a:endParaRPr lang="en-US" sz="1100" dirty="0"/>
          </a:p>
        </p:txBody>
      </p:sp>
      <p:sp>
        <p:nvSpPr>
          <p:cNvPr id="5" name="Text 3"/>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B8C8D5"/>
                </a:solidFill>
                <a:latin typeface="Arial" pitchFamily="34" charset="0"/>
                <a:ea typeface="Arial" pitchFamily="34" charset="-122"/>
                <a:cs typeface="Arial" pitchFamily="34" charset="-120"/>
              </a:rPr>
              <a:t>05</a:t>
            </a:r>
            <a:endParaRPr lang="en-US" sz="1200" dirty="0"/>
          </a:p>
        </p:txBody>
      </p:sp>
      <p:sp>
        <p:nvSpPr>
          <p:cNvPr id="6" name="Text 4"/>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F5F8FA"/>
                </a:solidFill>
                <a:latin typeface="Arial" pitchFamily="34" charset="0"/>
                <a:ea typeface="Arial" pitchFamily="34" charset="-122"/>
                <a:cs typeface="Arial" pitchFamily="34" charset="-120"/>
              </a:rPr>
              <a:t>Infrastructure is code.</a:t>
            </a:r>
            <a:endParaRPr lang="en-US" sz="4400" dirty="0"/>
          </a:p>
        </p:txBody>
      </p:sp>
      <p:sp>
        <p:nvSpPr>
          <p:cNvPr id="7" name="Text 5"/>
          <p:cNvSpPr/>
          <p:nvPr/>
        </p:nvSpPr>
        <p:spPr>
          <a:xfrm>
            <a:off x="566928" y="2176272"/>
            <a:ext cx="7406640" cy="2514600"/>
          </a:xfrm>
          <a:prstGeom prst="rect">
            <a:avLst/>
          </a:prstGeom>
          <a:noFill/>
          <a:ln/>
        </p:spPr>
        <p:txBody>
          <a:bodyPr wrap="square" lIns="0" tIns="0" rIns="0" bIns="0" rtlCol="0" anchor="ctr"/>
          <a:lstStyle/>
          <a:p>
            <a:pPr indent="0" marL="0">
              <a:buNone/>
            </a:pPr>
            <a:r>
              <a:rPr lang="en-US" sz="5100" b="1" dirty="0">
                <a:solidFill>
                  <a:srgbClr val="6DD9E9"/>
                </a:solidFill>
                <a:latin typeface="Arial" pitchFamily="34" charset="0"/>
                <a:ea typeface="Arial" pitchFamily="34" charset="-122"/>
                <a:cs typeface="Arial" pitchFamily="34" charset="-120"/>
              </a:rPr>
              <a:t>Plan it.</a:t>
            </a:r>
            <a:endParaRPr lang="en-US" sz="5100" dirty="0"/>
          </a:p>
          <a:p>
            <a:pPr indent="0" marL="0">
              <a:buNone/>
            </a:pPr>
            <a:r>
              <a:rPr lang="en-US" sz="5100" b="1" dirty="0">
                <a:solidFill>
                  <a:srgbClr val="6DD9E9"/>
                </a:solidFill>
                <a:latin typeface="Arial" pitchFamily="34" charset="0"/>
                <a:ea typeface="Arial" pitchFamily="34" charset="-122"/>
                <a:cs typeface="Arial" pitchFamily="34" charset="-120"/>
              </a:rPr>
              <a:t>Review it.</a:t>
            </a:r>
            <a:endParaRPr lang="en-US" sz="5100" dirty="0"/>
          </a:p>
          <a:p>
            <a:pPr indent="0" marL="0">
              <a:buNone/>
            </a:pPr>
            <a:r>
              <a:rPr lang="en-US" sz="5100" b="1" dirty="0">
                <a:solidFill>
                  <a:srgbClr val="6DD9E9"/>
                </a:solidFill>
                <a:latin typeface="Arial" pitchFamily="34" charset="0"/>
                <a:ea typeface="Arial" pitchFamily="34" charset="-122"/>
                <a:cs typeface="Arial" pitchFamily="34" charset="-120"/>
              </a:rPr>
              <a:t>Apply it.</a:t>
            </a:r>
            <a:endParaRPr lang="en-US" sz="5100" dirty="0"/>
          </a:p>
        </p:txBody>
      </p:sp>
      <p:sp>
        <p:nvSpPr>
          <p:cNvPr id="8" name="Text 6"/>
          <p:cNvSpPr/>
          <p:nvPr/>
        </p:nvSpPr>
        <p:spPr>
          <a:xfrm>
            <a:off x="566928" y="4864608"/>
            <a:ext cx="7589520" cy="594360"/>
          </a:xfrm>
          <a:prstGeom prst="rect">
            <a:avLst/>
          </a:prstGeom>
          <a:noFill/>
          <a:ln/>
        </p:spPr>
        <p:txBody>
          <a:bodyPr wrap="square" lIns="0" tIns="0" rIns="0" bIns="0" rtlCol="0" anchor="ctr"/>
          <a:lstStyle/>
          <a:p>
            <a:pPr indent="0" marL="0">
              <a:buNone/>
            </a:pPr>
            <a:r>
              <a:rPr lang="en-US" sz="3300" b="1" dirty="0">
                <a:solidFill>
                  <a:srgbClr val="F5F8FA"/>
                </a:solidFill>
                <a:latin typeface="Arial" pitchFamily="34" charset="0"/>
                <a:ea typeface="Arial" pitchFamily="34" charset="-122"/>
                <a:cs typeface="Arial" pitchFamily="34" charset="-120"/>
              </a:rPr>
              <a:t>From the pull request.</a:t>
            </a:r>
            <a:endParaRPr lang="en-US" sz="3300" dirty="0"/>
          </a:p>
        </p:txBody>
      </p:sp>
      <p:pic>
        <p:nvPicPr>
          <p:cNvPr id="9" name="Image 0" descr="assets/qr.png">
            <a:hlinkClick r:id="rId2" tooltip=""/>
          </p:cNvPr>
          <p:cNvPicPr>
            <a:picLocks noChangeAspect="1"/>
          </p:cNvPicPr>
          <p:nvPr/>
        </p:nvPicPr>
        <p:blipFill>
          <a:blip r:embed="rId1"/>
          <a:stretch>
            <a:fillRect/>
          </a:stretch>
        </p:blipFill>
        <p:spPr>
          <a:xfrm>
            <a:off x="8339328" y="2231136"/>
            <a:ext cx="3017520" cy="3017520"/>
          </a:xfrm>
          <a:prstGeom prst="rect">
            <a:avLst/>
          </a:prstGeom>
        </p:spPr>
      </p:pic>
      <p:sp>
        <p:nvSpPr>
          <p:cNvPr id="10" name="Text 7">
            <a:hlinkClick r:id="rId3" tooltip=""/>
          </p:cNvPr>
          <p:cNvSpPr/>
          <p:nvPr/>
        </p:nvSpPr>
        <p:spPr>
          <a:xfrm>
            <a:off x="8119872" y="5431536"/>
            <a:ext cx="3456432" cy="393192"/>
          </a:xfrm>
          <a:prstGeom prst="rect">
            <a:avLst/>
          </a:prstGeom>
          <a:noFill/>
          <a:ln/>
        </p:spPr>
        <p:txBody>
          <a:bodyPr wrap="square" lIns="0" tIns="0" rIns="0" bIns="0" rtlCol="0" anchor="ctr"/>
          <a:lstStyle/>
          <a:p>
            <a:pPr algn="ctr" indent="0" marL="0">
              <a:buNone/>
            </a:pPr>
            <a:r>
              <a:rPr lang="en-US" sz="2700" b="1" u="sng" dirty="0">
                <a:solidFill>
                  <a:srgbClr val="6DD9E9"/>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runatlantis.io</a:t>
            </a:r>
            <a:endParaRPr lang="en-US" sz="2700" dirty="0"/>
          </a:p>
        </p:txBody>
      </p:sp>
      <p:sp>
        <p:nvSpPr>
          <p:cNvPr id="11" name="Text 8">
            <a:hlinkClick r:id="rId4" tooltip=""/>
          </p:cNvPr>
          <p:cNvSpPr/>
          <p:nvPr/>
        </p:nvSpPr>
        <p:spPr>
          <a:xfrm>
            <a:off x="566928" y="5870448"/>
            <a:ext cx="7772400" cy="347472"/>
          </a:xfrm>
          <a:prstGeom prst="rect">
            <a:avLst/>
          </a:prstGeom>
          <a:noFill/>
          <a:ln/>
        </p:spPr>
        <p:txBody>
          <a:bodyPr wrap="square" lIns="0" tIns="0" rIns="0" bIns="0" rtlCol="0" anchor="ctr"/>
          <a:lstStyle/>
          <a:p>
            <a:pPr indent="0" marL="0">
              <a:buNone/>
            </a:pPr>
            <a:r>
              <a:rPr lang="en-US" sz="2200" u="sng" dirty="0">
                <a:solidFill>
                  <a:srgbClr val="B8C8D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github.com/runatlantis/atlantis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2026-09-07T04:44:13Z</dcterms:created>
  <dcterms:modified xsi:type="dcterms:W3CDTF">2026-09-07T04:44:13Z</dcterms:modified>
</cp:coreProperties>
</file>