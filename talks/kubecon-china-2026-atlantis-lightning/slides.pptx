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0:00–0:20 (20 seconds)
Spoken words: 34
Cue: Define Atlantis before introducing the workflow.
Hi, I'm Rui, an Atlantis maintainer. Atlantis is an open-source service that runs Terraform and OpenTofu plans and applies from pull requests. The idea is simple: code review should include the infrastructure execution result.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0:20–1:10 (50 seconds)
Spoken words: 76
Cue: Trace the numbered loop once; pause at review.
Many teams already automate infrastructure. Atlantis brings planning, review, execution, and results into one workflow. A developer opens a pull request. The Git host sends a webhook; Atlantis runs Terraform or OpenTofu and posts the plan back. The team reviews the code and plan together. An authorized engineer requests atlantis apply. Atlantis checks configured requirements, executes the change, and reports the result in the pull request. The infrastructure tooling still uses your providers and state backend.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1:10–1:50 (40 seconds)
Spoken words: 61
Cue: Explain the engineer experience; do not repeat the architecture.
Here is one database capacity change. The summary says zero to add, one to change, zero to destroy. Small does not mean safe: the reviewer reads the full plan and considers operational impact. Approval and the apply request stay in the conversation. If execution fails, the team can correct the change in the same pull request. This example applies before merging.
Transition: Advance after the final sentence.
Emergency cuts:
If execution fails, the team can correct the change in the same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1:50–2:15 (25 seconds)
Spoken words: 46
Cue: Three outcomes; centralized execution is not a security guarantee.
For a platform team, the benefit is visibility, control, and collaboration. Plans and results sit beside the code review. Execution and credentials live in a managed service, with requirements your team configures. Developers propose changes through Git. The service still needs careful permissions and trusted repositories.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2:15–2:40 (25 seconds)
Spoken words: 39
Cue: Point to the flow; do not read the host list.
Atlantis fits several Git hosts and supports both Terraform and OpenTofu. Terragrunt can run through custom workflows. You could build this in generic CI; Atlantis packages the infrastructure-specific PR interaction, project planning, applying, and locking into a purpose-built service.
Transition: Advance after the final sentence.
Emergency cuts:
You could build this in generic CI; Atlantis packages the infrastructure-specific PR interaction, project planning, applying, and locking into a purpose-built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2:40–3:00 (20 seconds)
Spoken words: 31
Cue: Policy and cost are separate, optional review inputs.
Optional integrations add context. Conftest evaluates policy against the plan. Infracost can add cost estimates through workflow integration. Your platform team configures these checks; installing Atlantis does not automatically enable them.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3:00–3:20 (20 seconds)
Spoken words: 34
Cue: Hosting choice does not determine provider support.
Deploy Atlantis on Kubernetes with the official Helm chart, as a container, or as a server binary. Kubernetes is optional. Where Atlantis runs is separate from the infrastructure your Terraform or OpenTofu providers manage.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3:20–3:50 (30 seconds)
Spoken words: 43
Cue: Say the year; point to the official survey blog.
The project's twenty twenty-four survey received three hundred fifty-four responses. GitHub led, with sizeable GitLab usage. Terraform dominated; about half also used Terragrunt, and OpenTofu was gaining ground. Kubernetes and AWS were common deployment environments. These are historical community responses, not market share.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3:50–4:05 (15 seconds)
Spoken words: 26
Cue: Keep project direction brief and explicitly provisional.
The draft one point zero proposal emphasizes stability, backwards compatibility, and clearer versioning. It is a planning discussion, not a release announcement or a promised date.
Transition: Advance after the final sentence.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4:05–4:30 (25 seconds)
Spoken words: 43
Cue: Point to discovery links, then hold the final slide.
Learn more at runatlantis dot io, explore the code on GitHub, and join the CNCF community. Find Atlantis at Project Pavilion, table T-ten, in Grand Ballroom One on Tuesday morning. Infrastructure is code. Plan it. Review it. Apply it. From the pull request.
Transition: Hold the closing slide.
Emergency cuts:
None; retain this slide’s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conference_slideLayout2.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hyperlink" Target="https://www.runatlantis.io/blog/2024/april-2024-survey-results" TargetMode="External"/><Relationship Id="rId2" Type="http://schemas.openxmlformats.org/officeDocument/2006/relationships/slideLayout" Target="../slideLayouts/conference_slideLayout5.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hyperlink" Target="https://github.com/runatlantis/atlantis/pull/5296" TargetMode="External"/><Relationship Id="rId2" Type="http://schemas.openxmlformats.org/officeDocument/2006/relationships/slideLayout" Target="../slideLayouts/conference_slideLayout5.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2" Type="http://schemas.openxmlformats.org/officeDocument/2006/relationships/hyperlink" Target="https://www.runatlantis.io/" TargetMode="External"/><Relationship Id="rId3" Type="http://schemas.openxmlformats.org/officeDocument/2006/relationships/hyperlink" Target="https://www.runatlantis.io/" TargetMode="External"/><Relationship Id="rId4" Type="http://schemas.openxmlformats.org/officeDocument/2006/relationships/hyperlink" Target="https://github.com/runatlantis/atlantis" TargetMode="External"/><Relationship Id="rId5" Type="http://schemas.openxmlformats.org/officeDocument/2006/relationships/hyperlink" Target="https://www.lfopensource.cn/kubecon-cloudnativecon-openinfra-summit-pytorch-conference-china/features-add-ons/project-engagement/#project-table-directory" TargetMode="External"/><Relationship Id="rId1" Type="http://schemas.openxmlformats.org/officeDocument/2006/relationships/image" Target="../media/image-10-1.png"/><Relationship Id="rId6" Type="http://schemas.openxmlformats.org/officeDocument/2006/relationships/slideLayout" Target="../slideLayouts/conference_slideLayout5.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82296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PLAN → REVIEW → APPLY</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731520" y="2468880"/>
            <a:ext cx="3749040" cy="1234440"/>
          </a:xfrm>
          <a:prstGeom prst="rect">
            <a:avLst/>
          </a:prstGeom>
          <a:solidFill>
            <a:srgbClr val="EAF1F3"/>
          </a:solidFill>
          <a:ln w="12700">
            <a:solidFill>
              <a:srgbClr val="EAF1F3"/>
            </a:solidFill>
            <a:prstDash val="solid"/>
          </a:ln>
        </p:spPr>
      </p:sp>
      <p:sp>
        <p:nvSpPr>
          <p:cNvPr id="6" name="Text 4"/>
          <p:cNvSpPr/>
          <p:nvPr/>
        </p:nvSpPr>
        <p:spPr>
          <a:xfrm>
            <a:off x="932688" y="2606040"/>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Pull request</a:t>
            </a:r>
            <a:endParaRPr lang="en-US" sz="2700" dirty="0"/>
          </a:p>
        </p:txBody>
      </p:sp>
      <p:sp>
        <p:nvSpPr>
          <p:cNvPr id="7" name="Text 5"/>
          <p:cNvSpPr/>
          <p:nvPr/>
        </p:nvSpPr>
        <p:spPr>
          <a:xfrm>
            <a:off x="932688" y="3090672"/>
            <a:ext cx="33467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Developer opens a change</a:t>
            </a:r>
            <a:endParaRPr lang="en-US" sz="1900" dirty="0"/>
          </a:p>
        </p:txBody>
      </p:sp>
      <p:sp>
        <p:nvSpPr>
          <p:cNvPr id="8" name="Shape 6"/>
          <p:cNvSpPr/>
          <p:nvPr/>
        </p:nvSpPr>
        <p:spPr>
          <a:xfrm>
            <a:off x="7589520" y="2468880"/>
            <a:ext cx="3749040" cy="1234440"/>
          </a:xfrm>
          <a:prstGeom prst="rect">
            <a:avLst/>
          </a:prstGeom>
          <a:solidFill>
            <a:srgbClr val="EAF1F3"/>
          </a:solidFill>
          <a:ln w="12700">
            <a:solidFill>
              <a:srgbClr val="EAF1F3"/>
            </a:solidFill>
            <a:prstDash val="solid"/>
          </a:ln>
        </p:spPr>
      </p:sp>
      <p:sp>
        <p:nvSpPr>
          <p:cNvPr id="9" name="Text 7"/>
          <p:cNvSpPr/>
          <p:nvPr/>
        </p:nvSpPr>
        <p:spPr>
          <a:xfrm>
            <a:off x="7790688" y="2606040"/>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790688" y="3090672"/>
            <a:ext cx="33467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Terraform / OpenTofu</a:t>
            </a:r>
            <a:endParaRPr lang="en-US" sz="1900" dirty="0"/>
          </a:p>
        </p:txBody>
      </p:sp>
      <p:sp>
        <p:nvSpPr>
          <p:cNvPr id="11" name="Text 9"/>
          <p:cNvSpPr/>
          <p:nvPr/>
        </p:nvSpPr>
        <p:spPr>
          <a:xfrm>
            <a:off x="932688" y="3977640"/>
            <a:ext cx="3657600" cy="457200"/>
          </a:xfrm>
          <a:prstGeom prst="rect">
            <a:avLst/>
          </a:prstGeom>
          <a:noFill/>
          <a:ln/>
        </p:spPr>
        <p:txBody>
          <a:bodyPr wrap="square" lIns="0" tIns="0" rIns="0" bIns="0" rtlCol="0" anchor="ctr"/>
          <a:lstStyle/>
          <a:p>
            <a:pPr indent="0" marL="0">
              <a:buNone/>
            </a:pPr>
            <a:r>
              <a:rPr lang="en-US" sz="2600" b="1" dirty="0">
                <a:solidFill>
                  <a:srgbClr val="086679"/>
                </a:solidFill>
                <a:latin typeface="Arial" pitchFamily="34" charset="0"/>
                <a:ea typeface="Arial" pitchFamily="34" charset="-122"/>
                <a:cs typeface="Arial" pitchFamily="34" charset="-120"/>
              </a:rPr>
              <a:t>Code + plan review</a:t>
            </a:r>
            <a:endParaRPr lang="en-US" sz="2600" dirty="0"/>
          </a:p>
        </p:txBody>
      </p:sp>
      <p:sp>
        <p:nvSpPr>
          <p:cNvPr id="12" name="Text 10"/>
          <p:cNvSpPr/>
          <p:nvPr/>
        </p:nvSpPr>
        <p:spPr>
          <a:xfrm>
            <a:off x="7589520" y="3977640"/>
            <a:ext cx="3749040" cy="457200"/>
          </a:xfrm>
          <a:prstGeom prst="rect">
            <a:avLst/>
          </a:prstGeom>
          <a:noFill/>
          <a:ln/>
        </p:spPr>
        <p:txBody>
          <a:bodyPr wrap="square" lIns="0" tIns="0" rIns="0" bIns="0" rtlCol="0" anchor="ctr"/>
          <a:lstStyle/>
          <a:p>
            <a:pPr indent="0" marL="0">
              <a:buNone/>
            </a:pPr>
            <a:r>
              <a:rPr lang="en-US" sz="2300" b="1" dirty="0">
                <a:solidFill>
                  <a:srgbClr val="086679"/>
                </a:solidFill>
                <a:latin typeface="Arial" pitchFamily="34" charset="0"/>
                <a:ea typeface="Arial" pitchFamily="34" charset="-122"/>
                <a:cs typeface="Arial" pitchFamily="34" charset="-120"/>
              </a:rPr>
              <a:t>Configured requirements</a:t>
            </a:r>
            <a:endParaRPr lang="en-US" sz="2300" dirty="0"/>
          </a:p>
        </p:txBody>
      </p:sp>
      <p:sp>
        <p:nvSpPr>
          <p:cNvPr id="13" name="Shape 11"/>
          <p:cNvSpPr/>
          <p:nvPr/>
        </p:nvSpPr>
        <p:spPr>
          <a:xfrm>
            <a:off x="4663440" y="2606040"/>
            <a:ext cx="2697480" cy="0"/>
          </a:xfrm>
          <a:prstGeom prst="line">
            <a:avLst/>
          </a:prstGeom>
          <a:noFill/>
          <a:ln w="25400">
            <a:solidFill>
              <a:srgbClr val="086679"/>
            </a:solidFill>
            <a:prstDash val="solid"/>
            <a:headEnd type="none"/>
            <a:tailEnd type="triangle"/>
          </a:ln>
        </p:spPr>
      </p:sp>
      <p:sp>
        <p:nvSpPr>
          <p:cNvPr id="14" name="Text 12"/>
          <p:cNvSpPr/>
          <p:nvPr/>
        </p:nvSpPr>
        <p:spPr>
          <a:xfrm>
            <a:off x="4617720" y="2176272"/>
            <a:ext cx="2788920" cy="32004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Webhook</a:t>
            </a:r>
            <a:endParaRPr lang="en-US" sz="2100" dirty="0"/>
          </a:p>
        </p:txBody>
      </p:sp>
      <p:sp>
        <p:nvSpPr>
          <p:cNvPr id="15" name="Shape 13"/>
          <p:cNvSpPr/>
          <p:nvPr/>
        </p:nvSpPr>
        <p:spPr>
          <a:xfrm>
            <a:off x="7360920" y="3474720"/>
            <a:ext cx="-2697480" cy="0"/>
          </a:xfrm>
          <a:prstGeom prst="line">
            <a:avLst/>
          </a:prstGeom>
          <a:noFill/>
          <a:ln w="25400">
            <a:solidFill>
              <a:srgbClr val="086679"/>
            </a:solidFill>
            <a:prstDash val="solid"/>
            <a:headEnd type="none"/>
            <a:tailEnd type="triangle"/>
          </a:ln>
        </p:spPr>
      </p:sp>
      <p:sp>
        <p:nvSpPr>
          <p:cNvPr id="16" name="Text 14"/>
          <p:cNvSpPr/>
          <p:nvPr/>
        </p:nvSpPr>
        <p:spPr>
          <a:xfrm>
            <a:off x="4526280" y="3008376"/>
            <a:ext cx="2971800" cy="36576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Plan + apply results</a:t>
            </a:r>
            <a:endParaRPr lang="en-US" sz="2100" dirty="0"/>
          </a:p>
        </p:txBody>
      </p:sp>
      <p:sp>
        <p:nvSpPr>
          <p:cNvPr id="17" name="Shape 15"/>
          <p:cNvSpPr/>
          <p:nvPr/>
        </p:nvSpPr>
        <p:spPr>
          <a:xfrm>
            <a:off x="4663440" y="4434840"/>
            <a:ext cx="2697480" cy="0"/>
          </a:xfrm>
          <a:prstGeom prst="line">
            <a:avLst/>
          </a:prstGeom>
          <a:noFill/>
          <a:ln w="25400">
            <a:solidFill>
              <a:srgbClr val="086679"/>
            </a:solidFill>
            <a:prstDash val="solid"/>
            <a:headEnd type="none"/>
            <a:tailEnd type="triangle"/>
          </a:ln>
        </p:spPr>
      </p:sp>
      <p:sp>
        <p:nvSpPr>
          <p:cNvPr id="18" name="Text 16"/>
          <p:cNvSpPr/>
          <p:nvPr/>
        </p:nvSpPr>
        <p:spPr>
          <a:xfrm>
            <a:off x="4572000" y="3977640"/>
            <a:ext cx="2926080" cy="32004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atlantis apply</a:t>
            </a:r>
            <a:endParaRPr lang="en-US" sz="2100" dirty="0"/>
          </a:p>
        </p:txBody>
      </p:sp>
      <p:sp>
        <p:nvSpPr>
          <p:cNvPr id="19" name="Shape 17"/>
          <p:cNvSpPr/>
          <p:nvPr/>
        </p:nvSpPr>
        <p:spPr>
          <a:xfrm>
            <a:off x="9464040" y="4480560"/>
            <a:ext cx="0" cy="411480"/>
          </a:xfrm>
          <a:prstGeom prst="line">
            <a:avLst/>
          </a:prstGeom>
          <a:noFill/>
          <a:ln w="25400">
            <a:solidFill>
              <a:srgbClr val="086679"/>
            </a:solidFill>
            <a:prstDash val="solid"/>
            <a:headEnd type="none"/>
            <a:tailEnd type="triangle"/>
          </a:ln>
        </p:spPr>
      </p:sp>
      <p:sp>
        <p:nvSpPr>
          <p:cNvPr id="20" name="Shape 18"/>
          <p:cNvSpPr/>
          <p:nvPr/>
        </p:nvSpPr>
        <p:spPr>
          <a:xfrm>
            <a:off x="7589520" y="5010912"/>
            <a:ext cx="3749040" cy="868680"/>
          </a:xfrm>
          <a:prstGeom prst="rect">
            <a:avLst/>
          </a:prstGeom>
          <a:solidFill>
            <a:srgbClr val="EAF1F3"/>
          </a:solidFill>
          <a:ln w="12700">
            <a:solidFill>
              <a:srgbClr val="EAF1F3"/>
            </a:solidFill>
            <a:prstDash val="solid"/>
          </a:ln>
        </p:spPr>
      </p:sp>
      <p:sp>
        <p:nvSpPr>
          <p:cNvPr id="21" name="Text 19"/>
          <p:cNvSpPr/>
          <p:nvPr/>
        </p:nvSpPr>
        <p:spPr>
          <a:xfrm>
            <a:off x="7790688" y="5148072"/>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Infrastructure</a:t>
            </a:r>
            <a:endParaRPr lang="en-US" sz="2700" dirty="0"/>
          </a:p>
        </p:txBody>
      </p:sp>
      <p:sp>
        <p:nvSpPr>
          <p:cNvPr id="22" name="Text 20"/>
          <p:cNvSpPr/>
          <p:nvPr/>
        </p:nvSpPr>
        <p:spPr>
          <a:xfrm>
            <a:off x="7790688" y="5532120"/>
            <a:ext cx="3346704" cy="22860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Via provider APIs</a:t>
            </a:r>
            <a:endParaRPr lang="en-US" sz="1800" dirty="0"/>
          </a:p>
        </p:txBody>
      </p:sp>
      <p:sp>
        <p:nvSpPr>
          <p:cNvPr id="23" name="Text 21"/>
          <p:cNvSpPr/>
          <p:nvPr/>
        </p:nvSpPr>
        <p:spPr>
          <a:xfrm>
            <a:off x="932688" y="4983480"/>
            <a:ext cx="3520440" cy="868680"/>
          </a:xfrm>
          <a:prstGeom prst="rect">
            <a:avLst/>
          </a:prstGeom>
          <a:noFill/>
          <a:ln/>
        </p:spPr>
        <p:txBody>
          <a:bodyPr wrap="square" lIns="0" tIns="0" rIns="0" bIns="0" rtlCol="0" anchor="ctr"/>
          <a:lstStyle/>
          <a:p>
            <a:pPr indent="0" marL="0">
              <a:buNone/>
            </a:pPr>
            <a:r>
              <a:rPr lang="en-US" sz="2600" b="1" dirty="0">
                <a:solidFill>
                  <a:srgbClr val="083E4F"/>
                </a:solidFill>
                <a:latin typeface="Arial" pitchFamily="34" charset="0"/>
                <a:ea typeface="Arial" pitchFamily="34" charset="-122"/>
                <a:cs typeface="Arial" pitchFamily="34" charset="-120"/>
              </a:rPr>
              <a:t>Results stay with</a:t>
            </a:r>
            <a:endParaRPr lang="en-US" sz="2600" dirty="0"/>
          </a:p>
          <a:p>
            <a:pPr indent="0" marL="0">
              <a:buNone/>
            </a:pPr>
            <a:r>
              <a:rPr lang="en-US" sz="2600" b="1" dirty="0">
                <a:solidFill>
                  <a:srgbClr val="083E4F"/>
                </a:solidFill>
                <a:latin typeface="Arial" pitchFamily="34" charset="0"/>
                <a:ea typeface="Arial" pitchFamily="34" charset="-122"/>
                <a:cs typeface="Arial" pitchFamily="34" charset="-120"/>
              </a:rPr>
              <a:t>the pull request.</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Shape 3"/>
          <p:cNvSpPr/>
          <p:nvPr/>
        </p:nvSpPr>
        <p:spPr>
          <a:xfrm>
            <a:off x="658368" y="2148840"/>
            <a:ext cx="10881360" cy="3657600"/>
          </a:xfrm>
          <a:prstGeom prst="rect">
            <a:avLst/>
          </a:prstGeom>
          <a:solidFill>
            <a:srgbClr val="EAF1F3"/>
          </a:solidFill>
          <a:ln w="12700">
            <a:solidFill>
              <a:srgbClr val="EAF1F3"/>
            </a:solidFill>
            <a:prstDash val="solid"/>
          </a:ln>
        </p:spPr>
      </p:sp>
      <p:sp>
        <p:nvSpPr>
          <p:cNvPr id="6" name="Text 4"/>
          <p:cNvSpPr/>
          <p:nvPr/>
        </p:nvSpPr>
        <p:spPr>
          <a:xfrm>
            <a:off x="932688" y="2377440"/>
            <a:ext cx="9966960" cy="384048"/>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 resize production database</a:t>
            </a:r>
            <a:endParaRPr lang="en-US" sz="2700" dirty="0"/>
          </a:p>
        </p:txBody>
      </p:sp>
      <p:sp>
        <p:nvSpPr>
          <p:cNvPr id="7" name="Shape 5"/>
          <p:cNvSpPr/>
          <p:nvPr/>
        </p:nvSpPr>
        <p:spPr>
          <a:xfrm>
            <a:off x="932688" y="2971800"/>
            <a:ext cx="10287000" cy="0"/>
          </a:xfrm>
          <a:prstGeom prst="line">
            <a:avLst/>
          </a:prstGeom>
          <a:noFill/>
          <a:ln w="25400">
            <a:solidFill>
              <a:srgbClr val="A6BAC1"/>
            </a:solidFill>
            <a:prstDash val="solid"/>
            <a:headEnd type="none"/>
            <a:tailEnd type="none"/>
          </a:ln>
        </p:spPr>
      </p:sp>
      <p:sp>
        <p:nvSpPr>
          <p:cNvPr id="8" name="Text 6"/>
          <p:cNvSpPr/>
          <p:nvPr/>
        </p:nvSpPr>
        <p:spPr>
          <a:xfrm>
            <a:off x="950976" y="321868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9" name="Text 7"/>
          <p:cNvSpPr/>
          <p:nvPr/>
        </p:nvSpPr>
        <p:spPr>
          <a:xfrm>
            <a:off x="2743200" y="321868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Plan: 0 to add, 1 to change, 0 to destroy</a:t>
            </a:r>
            <a:endParaRPr lang="en-US" sz="2500" dirty="0"/>
          </a:p>
        </p:txBody>
      </p:sp>
      <p:sp>
        <p:nvSpPr>
          <p:cNvPr id="10" name="Text 8"/>
          <p:cNvSpPr/>
          <p:nvPr/>
        </p:nvSpPr>
        <p:spPr>
          <a:xfrm>
            <a:off x="950976" y="381304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Reviewer</a:t>
            </a:r>
            <a:endParaRPr lang="en-US" sz="2100" dirty="0"/>
          </a:p>
        </p:txBody>
      </p:sp>
      <p:sp>
        <p:nvSpPr>
          <p:cNvPr id="11" name="Text 9"/>
          <p:cNvSpPr/>
          <p:nvPr/>
        </p:nvSpPr>
        <p:spPr>
          <a:xfrm>
            <a:off x="2743200" y="381304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2" name="Text 10"/>
          <p:cNvSpPr/>
          <p:nvPr/>
        </p:nvSpPr>
        <p:spPr>
          <a:xfrm>
            <a:off x="950976" y="440740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Rui</a:t>
            </a:r>
            <a:endParaRPr lang="en-US" sz="2100" dirty="0"/>
          </a:p>
        </p:txBody>
      </p:sp>
      <p:sp>
        <p:nvSpPr>
          <p:cNvPr id="13" name="Text 11"/>
          <p:cNvSpPr/>
          <p:nvPr/>
        </p:nvSpPr>
        <p:spPr>
          <a:xfrm>
            <a:off x="2743200" y="440740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atlantis apply</a:t>
            </a:r>
            <a:endParaRPr lang="en-US" sz="2500" dirty="0"/>
          </a:p>
        </p:txBody>
      </p:sp>
      <p:sp>
        <p:nvSpPr>
          <p:cNvPr id="14" name="Text 12"/>
          <p:cNvSpPr/>
          <p:nvPr/>
        </p:nvSpPr>
        <p:spPr>
          <a:xfrm>
            <a:off x="950976" y="500176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15" name="Text 13"/>
          <p:cNvSpPr/>
          <p:nvPr/>
        </p:nvSpPr>
        <p:spPr>
          <a:xfrm>
            <a:off x="2743200" y="500176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16" name="Text 14"/>
          <p:cNvSpPr/>
          <p:nvPr/>
        </p:nvSpPr>
        <p:spPr>
          <a:xfrm>
            <a:off x="932688" y="5504688"/>
            <a:ext cx="10332720" cy="27432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PLATFORM TEAMS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Shared review. Controlled execution.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Shape 3"/>
          <p:cNvSpPr/>
          <p:nvPr/>
        </p:nvSpPr>
        <p:spPr>
          <a:xfrm>
            <a:off x="777240" y="2487168"/>
            <a:ext cx="365760" cy="365760"/>
          </a:xfrm>
          <a:prstGeom prst="ellipse">
            <a:avLst/>
          </a:prstGeom>
          <a:solidFill>
            <a:srgbClr val="086679"/>
          </a:solidFill>
          <a:ln w="12700">
            <a:solidFill>
              <a:srgbClr val="086679"/>
            </a:solidFill>
            <a:prstDash val="solid"/>
          </a:ln>
        </p:spPr>
      </p:sp>
      <p:sp>
        <p:nvSpPr>
          <p:cNvPr id="6" name="Text 4"/>
          <p:cNvSpPr/>
          <p:nvPr/>
        </p:nvSpPr>
        <p:spPr>
          <a:xfrm>
            <a:off x="1417320" y="2423160"/>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Visible</a:t>
            </a:r>
            <a:endParaRPr lang="en-US" sz="3100" dirty="0"/>
          </a:p>
        </p:txBody>
      </p:sp>
      <p:sp>
        <p:nvSpPr>
          <p:cNvPr id="7" name="Text 5"/>
          <p:cNvSpPr/>
          <p:nvPr/>
        </p:nvSpPr>
        <p:spPr>
          <a:xfrm>
            <a:off x="4572000" y="2423160"/>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Plan and result beside the code</a:t>
            </a:r>
            <a:endParaRPr lang="en-US" sz="2600" dirty="0"/>
          </a:p>
        </p:txBody>
      </p:sp>
      <p:sp>
        <p:nvSpPr>
          <p:cNvPr id="8" name="Shape 6"/>
          <p:cNvSpPr/>
          <p:nvPr/>
        </p:nvSpPr>
        <p:spPr>
          <a:xfrm>
            <a:off x="777240" y="3566160"/>
            <a:ext cx="365760" cy="365760"/>
          </a:xfrm>
          <a:prstGeom prst="ellipse">
            <a:avLst/>
          </a:prstGeom>
          <a:solidFill>
            <a:srgbClr val="086679"/>
          </a:solidFill>
          <a:ln w="12700">
            <a:solidFill>
              <a:srgbClr val="086679"/>
            </a:solidFill>
            <a:prstDash val="solid"/>
          </a:ln>
        </p:spPr>
      </p:sp>
      <p:sp>
        <p:nvSpPr>
          <p:cNvPr id="9" name="Text 7"/>
          <p:cNvSpPr/>
          <p:nvPr/>
        </p:nvSpPr>
        <p:spPr>
          <a:xfrm>
            <a:off x="1417320" y="3502152"/>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Controlled</a:t>
            </a:r>
            <a:endParaRPr lang="en-US" sz="3100" dirty="0"/>
          </a:p>
        </p:txBody>
      </p:sp>
      <p:sp>
        <p:nvSpPr>
          <p:cNvPr id="10" name="Text 8"/>
          <p:cNvSpPr/>
          <p:nvPr/>
        </p:nvSpPr>
        <p:spPr>
          <a:xfrm>
            <a:off x="4572000" y="3502152"/>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Managed execution · configured requirements</a:t>
            </a:r>
            <a:endParaRPr lang="en-US" sz="2600" dirty="0"/>
          </a:p>
        </p:txBody>
      </p:sp>
      <p:sp>
        <p:nvSpPr>
          <p:cNvPr id="11" name="Shape 9"/>
          <p:cNvSpPr/>
          <p:nvPr/>
        </p:nvSpPr>
        <p:spPr>
          <a:xfrm>
            <a:off x="777240" y="4645152"/>
            <a:ext cx="365760" cy="365760"/>
          </a:xfrm>
          <a:prstGeom prst="ellipse">
            <a:avLst/>
          </a:prstGeom>
          <a:solidFill>
            <a:srgbClr val="086679"/>
          </a:solidFill>
          <a:ln w="12700">
            <a:solidFill>
              <a:srgbClr val="086679"/>
            </a:solidFill>
            <a:prstDash val="solid"/>
          </a:ln>
        </p:spPr>
      </p:sp>
      <p:sp>
        <p:nvSpPr>
          <p:cNvPr id="12" name="Text 10"/>
          <p:cNvSpPr/>
          <p:nvPr/>
        </p:nvSpPr>
        <p:spPr>
          <a:xfrm>
            <a:off x="1417320" y="4581144"/>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Collaborative</a:t>
            </a:r>
            <a:endParaRPr lang="en-US" sz="3100" dirty="0"/>
          </a:p>
        </p:txBody>
      </p:sp>
      <p:sp>
        <p:nvSpPr>
          <p:cNvPr id="13" name="Text 11"/>
          <p:cNvSpPr/>
          <p:nvPr/>
        </p:nvSpPr>
        <p:spPr>
          <a:xfrm>
            <a:off x="4572000" y="4581144"/>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Developers propose changes through Git</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CORE INTEGRATIONS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Connect Git to your infrastructure tools.</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5" name="Shape 3"/>
          <p:cNvSpPr/>
          <p:nvPr/>
        </p:nvSpPr>
        <p:spPr>
          <a:xfrm>
            <a:off x="731520" y="2377440"/>
            <a:ext cx="3703320" cy="2286000"/>
          </a:xfrm>
          <a:prstGeom prst="rect">
            <a:avLst/>
          </a:prstGeom>
          <a:solidFill>
            <a:srgbClr val="EAF1F3"/>
          </a:solidFill>
          <a:ln w="12700">
            <a:solidFill>
              <a:srgbClr val="EAF1F3"/>
            </a:solidFill>
            <a:prstDash val="solid"/>
          </a:ln>
        </p:spPr>
      </p:sp>
      <p:sp>
        <p:nvSpPr>
          <p:cNvPr id="6" name="Text 4"/>
          <p:cNvSpPr/>
          <p:nvPr/>
        </p:nvSpPr>
        <p:spPr>
          <a:xfrm>
            <a:off x="932688" y="2514600"/>
            <a:ext cx="330098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Git hosts</a:t>
            </a:r>
            <a:endParaRPr lang="en-US" sz="2700" dirty="0"/>
          </a:p>
        </p:txBody>
      </p:sp>
      <p:sp>
        <p:nvSpPr>
          <p:cNvPr id="7" name="Text 5"/>
          <p:cNvSpPr/>
          <p:nvPr/>
        </p:nvSpPr>
        <p:spPr>
          <a:xfrm>
            <a:off x="932688" y="2971800"/>
            <a:ext cx="3300984" cy="141732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GitHub · GitLab</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Bitbucket Cloud / Server</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Gitea / Forgejo</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Azure DevOps</a:t>
            </a:r>
            <a:endParaRPr lang="en-US" sz="2200" dirty="0"/>
          </a:p>
        </p:txBody>
      </p:sp>
      <p:sp>
        <p:nvSpPr>
          <p:cNvPr id="8" name="Shape 6"/>
          <p:cNvSpPr/>
          <p:nvPr/>
        </p:nvSpPr>
        <p:spPr>
          <a:xfrm>
            <a:off x="5074920" y="2788920"/>
            <a:ext cx="2377440" cy="1234440"/>
          </a:xfrm>
          <a:prstGeom prst="rect">
            <a:avLst/>
          </a:prstGeom>
          <a:solidFill>
            <a:srgbClr val="EAF1F3"/>
          </a:solidFill>
          <a:ln w="12700">
            <a:solidFill>
              <a:srgbClr val="EAF1F3"/>
            </a:solidFill>
            <a:prstDash val="solid"/>
          </a:ln>
        </p:spPr>
      </p:sp>
      <p:sp>
        <p:nvSpPr>
          <p:cNvPr id="9" name="Text 7"/>
          <p:cNvSpPr/>
          <p:nvPr/>
        </p:nvSpPr>
        <p:spPr>
          <a:xfrm>
            <a:off x="5276088" y="2926080"/>
            <a:ext cx="19751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5276088" y="3410712"/>
            <a:ext cx="19751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 automation</a:t>
            </a:r>
            <a:endParaRPr lang="en-US" sz="1900" dirty="0"/>
          </a:p>
        </p:txBody>
      </p:sp>
      <p:sp>
        <p:nvSpPr>
          <p:cNvPr id="11" name="Shape 9"/>
          <p:cNvSpPr/>
          <p:nvPr/>
        </p:nvSpPr>
        <p:spPr>
          <a:xfrm>
            <a:off x="8092440" y="2377440"/>
            <a:ext cx="3337560" cy="2286000"/>
          </a:xfrm>
          <a:prstGeom prst="rect">
            <a:avLst/>
          </a:prstGeom>
          <a:solidFill>
            <a:srgbClr val="EAF1F3"/>
          </a:solidFill>
          <a:ln w="12700">
            <a:solidFill>
              <a:srgbClr val="EAF1F3"/>
            </a:solidFill>
            <a:prstDash val="solid"/>
          </a:ln>
        </p:spPr>
      </p:sp>
      <p:sp>
        <p:nvSpPr>
          <p:cNvPr id="12" name="Text 10"/>
          <p:cNvSpPr/>
          <p:nvPr/>
        </p:nvSpPr>
        <p:spPr>
          <a:xfrm>
            <a:off x="8293608" y="2514600"/>
            <a:ext cx="29352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IaC execution</a:t>
            </a:r>
            <a:endParaRPr lang="en-US" sz="2700" dirty="0"/>
          </a:p>
        </p:txBody>
      </p:sp>
      <p:sp>
        <p:nvSpPr>
          <p:cNvPr id="13" name="Text 11"/>
          <p:cNvSpPr/>
          <p:nvPr/>
        </p:nvSpPr>
        <p:spPr>
          <a:xfrm>
            <a:off x="8293608" y="3017520"/>
            <a:ext cx="2935224" cy="68580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Terraform / OpenTofu</a:t>
            </a:r>
            <a:endParaRPr lang="en-US" sz="2500" dirty="0"/>
          </a:p>
        </p:txBody>
      </p:sp>
      <p:sp>
        <p:nvSpPr>
          <p:cNvPr id="14" name="Text 12"/>
          <p:cNvSpPr/>
          <p:nvPr/>
        </p:nvSpPr>
        <p:spPr>
          <a:xfrm>
            <a:off x="8293608" y="3794760"/>
            <a:ext cx="2935224" cy="68580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Terragrunt via</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custom workflows</a:t>
            </a:r>
            <a:endParaRPr lang="en-US" sz="2200" dirty="0"/>
          </a:p>
        </p:txBody>
      </p:sp>
      <p:sp>
        <p:nvSpPr>
          <p:cNvPr id="15" name="Shape 13"/>
          <p:cNvSpPr/>
          <p:nvPr/>
        </p:nvSpPr>
        <p:spPr>
          <a:xfrm>
            <a:off x="4572000" y="3383280"/>
            <a:ext cx="365760" cy="0"/>
          </a:xfrm>
          <a:prstGeom prst="line">
            <a:avLst/>
          </a:prstGeom>
          <a:noFill/>
          <a:ln w="25400">
            <a:solidFill>
              <a:srgbClr val="086679"/>
            </a:solidFill>
            <a:prstDash val="solid"/>
            <a:headEnd type="none"/>
            <a:tailEnd type="triangle"/>
          </a:ln>
        </p:spPr>
      </p:sp>
      <p:sp>
        <p:nvSpPr>
          <p:cNvPr id="16" name="Shape 14"/>
          <p:cNvSpPr/>
          <p:nvPr/>
        </p:nvSpPr>
        <p:spPr>
          <a:xfrm>
            <a:off x="7589520" y="3383280"/>
            <a:ext cx="365760" cy="0"/>
          </a:xfrm>
          <a:prstGeom prst="line">
            <a:avLst/>
          </a:prstGeom>
          <a:noFill/>
          <a:ln w="25400">
            <a:solidFill>
              <a:srgbClr val="086679"/>
            </a:solidFill>
            <a:prstDash val="solid"/>
            <a:headEnd type="none"/>
            <a:tailEnd type="triangle"/>
          </a:ln>
        </p:spPr>
      </p:sp>
      <p:sp>
        <p:nvSpPr>
          <p:cNvPr id="17" name="Text 15"/>
          <p:cNvSpPr/>
          <p:nvPr/>
        </p:nvSpPr>
        <p:spPr>
          <a:xfrm>
            <a:off x="731520" y="5303520"/>
            <a:ext cx="10789920" cy="594360"/>
          </a:xfrm>
          <a:prstGeom prst="rect">
            <a:avLst/>
          </a:prstGeom>
          <a:noFill/>
          <a:ln/>
        </p:spPr>
        <p:txBody>
          <a:bodyPr wrap="square" lIns="0" tIns="0" rIns="0" bIns="0" rtlCol="0" anchor="ctr"/>
          <a:lstStyle/>
          <a:p>
            <a:pPr indent="0" marL="0">
              <a:buNone/>
            </a:pPr>
            <a:r>
              <a:rPr lang="en-US" sz="3000" b="1" dirty="0">
                <a:solidFill>
                  <a:srgbClr val="086679"/>
                </a:solidFill>
                <a:latin typeface="Arial" pitchFamily="34" charset="0"/>
                <a:ea typeface="Arial" pitchFamily="34" charset="-122"/>
                <a:cs typeface="Arial" pitchFamily="34" charset="-120"/>
              </a:rPr>
              <a:t>Purpose-built infrastructure PR automation</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OPTIONAL INTEGRATIONS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Give reviewers policy and cost context.</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06</a:t>
            </a:r>
            <a:endParaRPr lang="en-US" sz="1200" dirty="0"/>
          </a:p>
        </p:txBody>
      </p:sp>
      <p:sp>
        <p:nvSpPr>
          <p:cNvPr id="5" name="Shape 3"/>
          <p:cNvSpPr/>
          <p:nvPr/>
        </p:nvSpPr>
        <p:spPr>
          <a:xfrm>
            <a:off x="731520" y="2514600"/>
            <a:ext cx="3566160" cy="1280160"/>
          </a:xfrm>
          <a:prstGeom prst="rect">
            <a:avLst/>
          </a:prstGeom>
          <a:solidFill>
            <a:srgbClr val="EAF1F3"/>
          </a:solidFill>
          <a:ln w="12700">
            <a:solidFill>
              <a:srgbClr val="EAF1F3"/>
            </a:solidFill>
            <a:prstDash val="solid"/>
          </a:ln>
        </p:spPr>
      </p:sp>
      <p:sp>
        <p:nvSpPr>
          <p:cNvPr id="6" name="Text 4"/>
          <p:cNvSpPr/>
          <p:nvPr/>
        </p:nvSpPr>
        <p:spPr>
          <a:xfrm>
            <a:off x="932688" y="2651760"/>
            <a:ext cx="31638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Conftest</a:t>
            </a:r>
            <a:endParaRPr lang="en-US" sz="2700" dirty="0"/>
          </a:p>
        </p:txBody>
      </p:sp>
      <p:sp>
        <p:nvSpPr>
          <p:cNvPr id="7" name="Text 5"/>
          <p:cNvSpPr/>
          <p:nvPr/>
        </p:nvSpPr>
        <p:spPr>
          <a:xfrm>
            <a:off x="932688" y="3136392"/>
            <a:ext cx="31638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Policy checks</a:t>
            </a:r>
            <a:endParaRPr lang="en-US" sz="1900" dirty="0"/>
          </a:p>
        </p:txBody>
      </p:sp>
      <p:sp>
        <p:nvSpPr>
          <p:cNvPr id="8" name="Shape 6"/>
          <p:cNvSpPr/>
          <p:nvPr/>
        </p:nvSpPr>
        <p:spPr>
          <a:xfrm>
            <a:off x="731520" y="4251960"/>
            <a:ext cx="3566160" cy="1280160"/>
          </a:xfrm>
          <a:prstGeom prst="rect">
            <a:avLst/>
          </a:prstGeom>
          <a:solidFill>
            <a:srgbClr val="EAF1F3"/>
          </a:solidFill>
          <a:ln w="12700">
            <a:solidFill>
              <a:srgbClr val="EAF1F3"/>
            </a:solidFill>
            <a:prstDash val="solid"/>
          </a:ln>
        </p:spPr>
      </p:sp>
      <p:sp>
        <p:nvSpPr>
          <p:cNvPr id="9" name="Text 7"/>
          <p:cNvSpPr/>
          <p:nvPr/>
        </p:nvSpPr>
        <p:spPr>
          <a:xfrm>
            <a:off x="932688" y="4389120"/>
            <a:ext cx="31638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Infracost</a:t>
            </a:r>
            <a:endParaRPr lang="en-US" sz="2700" dirty="0"/>
          </a:p>
        </p:txBody>
      </p:sp>
      <p:sp>
        <p:nvSpPr>
          <p:cNvPr id="10" name="Text 8"/>
          <p:cNvSpPr/>
          <p:nvPr/>
        </p:nvSpPr>
        <p:spPr>
          <a:xfrm>
            <a:off x="932688" y="4873752"/>
            <a:ext cx="31638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Cost estimates</a:t>
            </a:r>
            <a:endParaRPr lang="en-US" sz="1900" dirty="0"/>
          </a:p>
        </p:txBody>
      </p:sp>
      <p:sp>
        <p:nvSpPr>
          <p:cNvPr id="11" name="Shape 9"/>
          <p:cNvSpPr/>
          <p:nvPr/>
        </p:nvSpPr>
        <p:spPr>
          <a:xfrm>
            <a:off x="7315200" y="3383280"/>
            <a:ext cx="4114800" cy="1417320"/>
          </a:xfrm>
          <a:prstGeom prst="rect">
            <a:avLst/>
          </a:prstGeom>
          <a:solidFill>
            <a:srgbClr val="EAF1F3"/>
          </a:solidFill>
          <a:ln w="12700">
            <a:solidFill>
              <a:srgbClr val="EAF1F3"/>
            </a:solidFill>
            <a:prstDash val="solid"/>
          </a:ln>
        </p:spPr>
      </p:sp>
      <p:sp>
        <p:nvSpPr>
          <p:cNvPr id="12" name="Text 10"/>
          <p:cNvSpPr/>
          <p:nvPr/>
        </p:nvSpPr>
        <p:spPr>
          <a:xfrm>
            <a:off x="7516368" y="3520440"/>
            <a:ext cx="371246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Pull request review</a:t>
            </a:r>
            <a:endParaRPr lang="en-US" sz="2700" dirty="0"/>
          </a:p>
        </p:txBody>
      </p:sp>
      <p:sp>
        <p:nvSpPr>
          <p:cNvPr id="13" name="Text 11"/>
          <p:cNvSpPr/>
          <p:nvPr/>
        </p:nvSpPr>
        <p:spPr>
          <a:xfrm>
            <a:off x="7516368" y="4005072"/>
            <a:ext cx="371246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Code + plan + added context</a:t>
            </a:r>
            <a:endParaRPr lang="en-US" sz="1900" dirty="0"/>
          </a:p>
        </p:txBody>
      </p:sp>
      <p:sp>
        <p:nvSpPr>
          <p:cNvPr id="14" name="Shape 12"/>
          <p:cNvSpPr/>
          <p:nvPr/>
        </p:nvSpPr>
        <p:spPr>
          <a:xfrm>
            <a:off x="4526280" y="3154680"/>
            <a:ext cx="1188720" cy="0"/>
          </a:xfrm>
          <a:prstGeom prst="line">
            <a:avLst/>
          </a:prstGeom>
          <a:noFill/>
          <a:ln w="25400">
            <a:solidFill>
              <a:srgbClr val="086679"/>
            </a:solidFill>
            <a:prstDash val="solid"/>
            <a:headEnd type="none"/>
            <a:tailEnd type="none"/>
          </a:ln>
        </p:spPr>
      </p:sp>
      <p:sp>
        <p:nvSpPr>
          <p:cNvPr id="15" name="Shape 13"/>
          <p:cNvSpPr/>
          <p:nvPr/>
        </p:nvSpPr>
        <p:spPr>
          <a:xfrm>
            <a:off x="4526280" y="4892040"/>
            <a:ext cx="1188720" cy="0"/>
          </a:xfrm>
          <a:prstGeom prst="line">
            <a:avLst/>
          </a:prstGeom>
          <a:noFill/>
          <a:ln w="25400">
            <a:solidFill>
              <a:srgbClr val="086679"/>
            </a:solidFill>
            <a:prstDash val="solid"/>
            <a:headEnd type="none"/>
            <a:tailEnd type="none"/>
          </a:ln>
        </p:spPr>
      </p:sp>
      <p:sp>
        <p:nvSpPr>
          <p:cNvPr id="16" name="Shape 14"/>
          <p:cNvSpPr/>
          <p:nvPr/>
        </p:nvSpPr>
        <p:spPr>
          <a:xfrm>
            <a:off x="5715000" y="3154680"/>
            <a:ext cx="0" cy="1737360"/>
          </a:xfrm>
          <a:prstGeom prst="line">
            <a:avLst/>
          </a:prstGeom>
          <a:noFill/>
          <a:ln w="25400">
            <a:solidFill>
              <a:srgbClr val="086679"/>
            </a:solidFill>
            <a:prstDash val="solid"/>
            <a:headEnd type="none"/>
            <a:tailEnd type="none"/>
          </a:ln>
        </p:spPr>
      </p:sp>
      <p:sp>
        <p:nvSpPr>
          <p:cNvPr id="17" name="Shape 15"/>
          <p:cNvSpPr/>
          <p:nvPr/>
        </p:nvSpPr>
        <p:spPr>
          <a:xfrm>
            <a:off x="5715000" y="4114800"/>
            <a:ext cx="1371600" cy="0"/>
          </a:xfrm>
          <a:prstGeom prst="line">
            <a:avLst/>
          </a:prstGeom>
          <a:noFill/>
          <a:ln w="25400">
            <a:solidFill>
              <a:srgbClr val="086679"/>
            </a:solidFill>
            <a:prstDash val="solid"/>
            <a:headEnd type="none"/>
            <a:tailEnd type="triangle"/>
          </a:ln>
        </p:spPr>
      </p:sp>
      <p:sp>
        <p:nvSpPr>
          <p:cNvPr id="18" name="Text 16"/>
          <p:cNvSpPr/>
          <p:nvPr/>
        </p:nvSpPr>
        <p:spPr>
          <a:xfrm>
            <a:off x="7223760" y="5166360"/>
            <a:ext cx="4297680" cy="594360"/>
          </a:xfrm>
          <a:prstGeom prst="rect">
            <a:avLst/>
          </a:prstGeom>
          <a:noFill/>
          <a:ln/>
        </p:spPr>
        <p:txBody>
          <a:bodyPr wrap="square" lIns="0" tIns="0" rIns="0" bIns="0" rtlCol="0" anchor="ctr"/>
          <a:lstStyle/>
          <a:p>
            <a:pPr indent="0" marL="0">
              <a:buNone/>
            </a:pPr>
            <a:r>
              <a:rPr lang="en-US" sz="2300" dirty="0">
                <a:solidFill>
                  <a:srgbClr val="405965"/>
                </a:solidFill>
                <a:latin typeface="Arial" pitchFamily="34" charset="0"/>
                <a:ea typeface="Arial" pitchFamily="34" charset="-122"/>
                <a:cs typeface="Arial" pitchFamily="34" charset="-120"/>
              </a:rPr>
              <a:t>Configured by your platform team</a:t>
            </a:r>
            <a:endParaRPr lang="en-US"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DEPLOYMENT MODELS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Run Atlantis in your infrastructure.</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07</a:t>
            </a:r>
            <a:endParaRPr lang="en-US" sz="1200" dirty="0"/>
          </a:p>
        </p:txBody>
      </p:sp>
      <p:sp>
        <p:nvSpPr>
          <p:cNvPr id="5" name="Shape 3"/>
          <p:cNvSpPr/>
          <p:nvPr/>
        </p:nvSpPr>
        <p:spPr>
          <a:xfrm>
            <a:off x="640080" y="2560320"/>
            <a:ext cx="3493008" cy="1691640"/>
          </a:xfrm>
          <a:prstGeom prst="rect">
            <a:avLst/>
          </a:prstGeom>
          <a:solidFill>
            <a:srgbClr val="EAF1F3"/>
          </a:solidFill>
          <a:ln w="12700">
            <a:solidFill>
              <a:srgbClr val="EAF1F3"/>
            </a:solidFill>
            <a:prstDash val="solid"/>
          </a:ln>
        </p:spPr>
      </p:sp>
      <p:sp>
        <p:nvSpPr>
          <p:cNvPr id="6" name="Text 4"/>
          <p:cNvSpPr/>
          <p:nvPr/>
        </p:nvSpPr>
        <p:spPr>
          <a:xfrm>
            <a:off x="841248"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Kubernetes</a:t>
            </a:r>
            <a:endParaRPr lang="en-US" sz="2900" dirty="0"/>
          </a:p>
        </p:txBody>
      </p:sp>
      <p:sp>
        <p:nvSpPr>
          <p:cNvPr id="7" name="Text 5"/>
          <p:cNvSpPr/>
          <p:nvPr/>
        </p:nvSpPr>
        <p:spPr>
          <a:xfrm>
            <a:off x="841248"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Official Helm chart</a:t>
            </a:r>
            <a:endParaRPr lang="en-US" sz="2200" dirty="0"/>
          </a:p>
        </p:txBody>
      </p:sp>
      <p:sp>
        <p:nvSpPr>
          <p:cNvPr id="8" name="Shape 6"/>
          <p:cNvSpPr/>
          <p:nvPr/>
        </p:nvSpPr>
        <p:spPr>
          <a:xfrm>
            <a:off x="4352544" y="2560320"/>
            <a:ext cx="3493008" cy="1691640"/>
          </a:xfrm>
          <a:prstGeom prst="rect">
            <a:avLst/>
          </a:prstGeom>
          <a:solidFill>
            <a:srgbClr val="EAF1F3"/>
          </a:solidFill>
          <a:ln w="12700">
            <a:solidFill>
              <a:srgbClr val="EAF1F3"/>
            </a:solidFill>
            <a:prstDash val="solid"/>
          </a:ln>
        </p:spPr>
      </p:sp>
      <p:sp>
        <p:nvSpPr>
          <p:cNvPr id="9" name="Text 7"/>
          <p:cNvSpPr/>
          <p:nvPr/>
        </p:nvSpPr>
        <p:spPr>
          <a:xfrm>
            <a:off x="4553712"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Containers</a:t>
            </a:r>
            <a:endParaRPr lang="en-US" sz="2900" dirty="0"/>
          </a:p>
        </p:txBody>
      </p:sp>
      <p:sp>
        <p:nvSpPr>
          <p:cNvPr id="10" name="Text 8"/>
          <p:cNvSpPr/>
          <p:nvPr/>
        </p:nvSpPr>
        <p:spPr>
          <a:xfrm>
            <a:off x="4553712"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Official Docker image</a:t>
            </a:r>
            <a:endParaRPr lang="en-US" sz="2200" dirty="0"/>
          </a:p>
        </p:txBody>
      </p:sp>
      <p:sp>
        <p:nvSpPr>
          <p:cNvPr id="11" name="Shape 9"/>
          <p:cNvSpPr/>
          <p:nvPr/>
        </p:nvSpPr>
        <p:spPr>
          <a:xfrm>
            <a:off x="8065008" y="2560320"/>
            <a:ext cx="3493008" cy="1691640"/>
          </a:xfrm>
          <a:prstGeom prst="rect">
            <a:avLst/>
          </a:prstGeom>
          <a:solidFill>
            <a:srgbClr val="EAF1F3"/>
          </a:solidFill>
          <a:ln w="12700">
            <a:solidFill>
              <a:srgbClr val="EAF1F3"/>
            </a:solidFill>
            <a:prstDash val="solid"/>
          </a:ln>
        </p:spPr>
      </p:sp>
      <p:sp>
        <p:nvSpPr>
          <p:cNvPr id="12" name="Text 10"/>
          <p:cNvSpPr/>
          <p:nvPr/>
        </p:nvSpPr>
        <p:spPr>
          <a:xfrm>
            <a:off x="8266176"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Server / VM</a:t>
            </a:r>
            <a:endParaRPr lang="en-US" sz="2900" dirty="0"/>
          </a:p>
        </p:txBody>
      </p:sp>
      <p:sp>
        <p:nvSpPr>
          <p:cNvPr id="13" name="Text 11"/>
          <p:cNvSpPr/>
          <p:nvPr/>
        </p:nvSpPr>
        <p:spPr>
          <a:xfrm>
            <a:off x="8266176"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Run the Atlantis binary</a:t>
            </a:r>
            <a:endParaRPr lang="en-US" sz="2200" dirty="0"/>
          </a:p>
        </p:txBody>
      </p:sp>
      <p:sp>
        <p:nvSpPr>
          <p:cNvPr id="14" name="Text 12"/>
          <p:cNvSpPr/>
          <p:nvPr/>
        </p:nvSpPr>
        <p:spPr>
          <a:xfrm>
            <a:off x="640080" y="5074920"/>
            <a:ext cx="10789920" cy="64008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Your hosting choice. Your infrastructure workflow.</a:t>
            </a:r>
            <a:endParaRPr lang="en-US" sz="3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ATLANTIS USER SURVEY · 2024 · N=354</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What the Atlantis community uses</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08</a:t>
            </a:r>
            <a:endParaRPr lang="en-US" sz="1200" dirty="0"/>
          </a:p>
        </p:txBody>
      </p:sp>
      <p:sp>
        <p:nvSpPr>
          <p:cNvPr id="5" name="Text 3"/>
          <p:cNvSpPr/>
          <p:nvPr/>
        </p:nvSpPr>
        <p:spPr>
          <a:xfrm>
            <a:off x="731520" y="2560320"/>
            <a:ext cx="3291840" cy="1188720"/>
          </a:xfrm>
          <a:prstGeom prst="rect">
            <a:avLst/>
          </a:prstGeom>
          <a:noFill/>
          <a:ln/>
        </p:spPr>
        <p:txBody>
          <a:bodyPr wrap="square" lIns="0" tIns="0" rIns="0" bIns="0" rtlCol="0" anchor="ctr"/>
          <a:lstStyle/>
          <a:p>
            <a:pPr indent="0" marL="0">
              <a:buNone/>
            </a:pPr>
            <a:r>
              <a:rPr lang="en-US" sz="8600" b="1" dirty="0">
                <a:solidFill>
                  <a:srgbClr val="086679"/>
                </a:solidFill>
                <a:latin typeface="Arial" pitchFamily="34" charset="0"/>
                <a:ea typeface="Arial" pitchFamily="34" charset="-122"/>
                <a:cs typeface="Arial" pitchFamily="34" charset="-120"/>
              </a:rPr>
              <a:t>354</a:t>
            </a:r>
            <a:endParaRPr lang="en-US" sz="8600" dirty="0"/>
          </a:p>
        </p:txBody>
      </p:sp>
      <p:sp>
        <p:nvSpPr>
          <p:cNvPr id="6" name="Text 4"/>
          <p:cNvSpPr/>
          <p:nvPr/>
        </p:nvSpPr>
        <p:spPr>
          <a:xfrm>
            <a:off x="731520" y="3931920"/>
            <a:ext cx="3383280" cy="457200"/>
          </a:xfrm>
          <a:prstGeom prst="rect">
            <a:avLst/>
          </a:prstGeom>
          <a:noFill/>
          <a:ln/>
        </p:spPr>
        <p:txBody>
          <a:bodyPr wrap="square" lIns="0" tIns="0" rIns="0" bIns="0" rtlCol="0" anchor="ctr"/>
          <a:lstStyle/>
          <a:p>
            <a:pPr indent="0" marL="0">
              <a:buNone/>
            </a:pPr>
            <a:r>
              <a:rPr lang="en-US" sz="2700" dirty="0">
                <a:solidFill>
                  <a:srgbClr val="405965"/>
                </a:solidFill>
                <a:latin typeface="Arial" pitchFamily="34" charset="0"/>
                <a:ea typeface="Arial" pitchFamily="34" charset="-122"/>
                <a:cs typeface="Arial" pitchFamily="34" charset="-120"/>
              </a:rPr>
              <a:t>survey responses</a:t>
            </a:r>
            <a:endParaRPr lang="en-US" sz="2700" dirty="0"/>
          </a:p>
        </p:txBody>
      </p:sp>
      <p:sp>
        <p:nvSpPr>
          <p:cNvPr id="7" name="Text 5"/>
          <p:cNvSpPr/>
          <p:nvPr/>
        </p:nvSpPr>
        <p:spPr>
          <a:xfrm>
            <a:off x="4480560" y="2240280"/>
            <a:ext cx="6766560" cy="274320"/>
          </a:xfrm>
          <a:prstGeom prst="rect">
            <a:avLst/>
          </a:prstGeom>
          <a:noFill/>
          <a:ln/>
        </p:spPr>
        <p:txBody>
          <a:bodyPr wrap="square" lIns="0" tIns="0" rIns="0" bIns="0" rtlCol="0" anchor="ctr"/>
          <a:lstStyle/>
          <a:p>
            <a:pPr indent="0" marL="0">
              <a:buNone/>
            </a:pPr>
            <a:r>
              <a:rPr lang="en-US" sz="1900" b="1" dirty="0">
                <a:solidFill>
                  <a:srgbClr val="086679"/>
                </a:solidFill>
                <a:latin typeface="Arial" pitchFamily="34" charset="0"/>
                <a:ea typeface="Arial" pitchFamily="34" charset="-122"/>
                <a:cs typeface="Arial" pitchFamily="34" charset="-120"/>
              </a:rPr>
              <a:t>GIT</a:t>
            </a:r>
            <a:endParaRPr lang="en-US" sz="1900" dirty="0"/>
          </a:p>
        </p:txBody>
      </p:sp>
      <p:sp>
        <p:nvSpPr>
          <p:cNvPr id="8" name="Text 6"/>
          <p:cNvSpPr/>
          <p:nvPr/>
        </p:nvSpPr>
        <p:spPr>
          <a:xfrm>
            <a:off x="4480560" y="2569464"/>
            <a:ext cx="6812280" cy="694944"/>
          </a:xfrm>
          <a:prstGeom prst="rect">
            <a:avLst/>
          </a:prstGeom>
          <a:noFill/>
          <a:ln/>
        </p:spPr>
        <p:txBody>
          <a:bodyPr wrap="square" lIns="0" tIns="0" rIns="0" bIns="0" rtlCol="0" anchor="ctr"/>
          <a:lstStyle/>
          <a:p>
            <a:pPr indent="0" marL="0">
              <a:buNone/>
            </a:pPr>
            <a:r>
              <a:rPr lang="en-US" sz="2400" dirty="0">
                <a:solidFill>
                  <a:srgbClr val="083E4F"/>
                </a:solidFill>
                <a:latin typeface="Arial" pitchFamily="34" charset="0"/>
                <a:ea typeface="Arial" pitchFamily="34" charset="-122"/>
                <a:cs typeface="Arial" pitchFamily="34" charset="-120"/>
              </a:rPr>
              <a:t>GitHub leads · GitLab sizeable</a:t>
            </a:r>
            <a:endParaRPr lang="en-US" sz="2400" dirty="0"/>
          </a:p>
          <a:p>
            <a:pPr indent="0" marL="0">
              <a:buNone/>
            </a:pPr>
            <a:r>
              <a:rPr lang="en-US" sz="2400" dirty="0">
                <a:solidFill>
                  <a:srgbClr val="083E4F"/>
                </a:solidFill>
                <a:latin typeface="Arial" pitchFamily="34" charset="0"/>
                <a:ea typeface="Arial" pitchFamily="34" charset="-122"/>
                <a:cs typeface="Arial" pitchFamily="34" charset="-120"/>
              </a:rPr>
              <a:t>Bitbucket + others</a:t>
            </a:r>
            <a:endParaRPr lang="en-US" sz="2400" dirty="0"/>
          </a:p>
        </p:txBody>
      </p:sp>
      <p:sp>
        <p:nvSpPr>
          <p:cNvPr id="9" name="Text 7"/>
          <p:cNvSpPr/>
          <p:nvPr/>
        </p:nvSpPr>
        <p:spPr>
          <a:xfrm>
            <a:off x="4480560" y="3383280"/>
            <a:ext cx="6766560" cy="274320"/>
          </a:xfrm>
          <a:prstGeom prst="rect">
            <a:avLst/>
          </a:prstGeom>
          <a:noFill/>
          <a:ln/>
        </p:spPr>
        <p:txBody>
          <a:bodyPr wrap="square" lIns="0" tIns="0" rIns="0" bIns="0" rtlCol="0" anchor="ctr"/>
          <a:lstStyle/>
          <a:p>
            <a:pPr indent="0" marL="0">
              <a:buNone/>
            </a:pPr>
            <a:r>
              <a:rPr lang="en-US" sz="1900" b="1" dirty="0">
                <a:solidFill>
                  <a:srgbClr val="086679"/>
                </a:solidFill>
                <a:latin typeface="Arial" pitchFamily="34" charset="0"/>
                <a:ea typeface="Arial" pitchFamily="34" charset="-122"/>
                <a:cs typeface="Arial" pitchFamily="34" charset="-120"/>
              </a:rPr>
              <a:t>IaC</a:t>
            </a:r>
            <a:endParaRPr lang="en-US" sz="1900" dirty="0"/>
          </a:p>
        </p:txBody>
      </p:sp>
      <p:sp>
        <p:nvSpPr>
          <p:cNvPr id="10" name="Text 8"/>
          <p:cNvSpPr/>
          <p:nvPr/>
        </p:nvSpPr>
        <p:spPr>
          <a:xfrm>
            <a:off x="4480560" y="3712464"/>
            <a:ext cx="6812280" cy="1097280"/>
          </a:xfrm>
          <a:prstGeom prst="rect">
            <a:avLst/>
          </a:prstGeom>
          <a:noFill/>
          <a:ln/>
        </p:spPr>
        <p:txBody>
          <a:bodyPr wrap="square" lIns="0" tIns="0" rIns="0" bIns="0" rtlCol="0" anchor="ctr"/>
          <a:lstStyle/>
          <a:p>
            <a:pPr indent="0" marL="0">
              <a:buNone/>
            </a:pPr>
            <a:r>
              <a:rPr lang="en-US" sz="2400" dirty="0">
                <a:solidFill>
                  <a:srgbClr val="083E4F"/>
                </a:solidFill>
                <a:latin typeface="Arial" pitchFamily="34" charset="0"/>
                <a:ea typeface="Arial" pitchFamily="34" charset="-122"/>
                <a:cs typeface="Arial" pitchFamily="34" charset="-120"/>
              </a:rPr>
              <a:t>Terraform dominant</a:t>
            </a:r>
            <a:endParaRPr lang="en-US" sz="2400" dirty="0"/>
          </a:p>
          <a:p>
            <a:pPr indent="0" marL="0">
              <a:buNone/>
            </a:pPr>
            <a:r>
              <a:rPr lang="en-US" sz="2400" dirty="0">
                <a:solidFill>
                  <a:srgbClr val="083E4F"/>
                </a:solidFill>
                <a:latin typeface="Arial" pitchFamily="34" charset="0"/>
                <a:ea typeface="Arial" pitchFamily="34" charset="-122"/>
                <a:cs typeface="Arial" pitchFamily="34" charset="-120"/>
              </a:rPr>
              <a:t>About half also use Terragrunt</a:t>
            </a:r>
            <a:endParaRPr lang="en-US" sz="2400" dirty="0"/>
          </a:p>
          <a:p>
            <a:pPr indent="0" marL="0">
              <a:buNone/>
            </a:pPr>
            <a:r>
              <a:rPr lang="en-US" sz="2400" dirty="0">
                <a:solidFill>
                  <a:srgbClr val="083E4F"/>
                </a:solidFill>
                <a:latin typeface="Arial" pitchFamily="34" charset="0"/>
                <a:ea typeface="Arial" pitchFamily="34" charset="-122"/>
                <a:cs typeface="Arial" pitchFamily="34" charset="-120"/>
              </a:rPr>
              <a:t>OpenTofu gaining ground</a:t>
            </a:r>
            <a:endParaRPr lang="en-US" sz="2400" dirty="0"/>
          </a:p>
        </p:txBody>
      </p:sp>
      <p:sp>
        <p:nvSpPr>
          <p:cNvPr id="11" name="Text 9"/>
          <p:cNvSpPr/>
          <p:nvPr/>
        </p:nvSpPr>
        <p:spPr>
          <a:xfrm>
            <a:off x="4480560" y="4892040"/>
            <a:ext cx="6766560" cy="274320"/>
          </a:xfrm>
          <a:prstGeom prst="rect">
            <a:avLst/>
          </a:prstGeom>
          <a:noFill/>
          <a:ln/>
        </p:spPr>
        <p:txBody>
          <a:bodyPr wrap="square" lIns="0" tIns="0" rIns="0" bIns="0" rtlCol="0" anchor="ctr"/>
          <a:lstStyle/>
          <a:p>
            <a:pPr indent="0" marL="0">
              <a:buNone/>
            </a:pPr>
            <a:r>
              <a:rPr lang="en-US" sz="1900" b="1" dirty="0">
                <a:solidFill>
                  <a:srgbClr val="086679"/>
                </a:solidFill>
                <a:latin typeface="Arial" pitchFamily="34" charset="0"/>
                <a:ea typeface="Arial" pitchFamily="34" charset="-122"/>
                <a:cs typeface="Arial" pitchFamily="34" charset="-120"/>
              </a:rPr>
              <a:t>DEPLOYMENT</a:t>
            </a:r>
            <a:endParaRPr lang="en-US" sz="1900" dirty="0"/>
          </a:p>
        </p:txBody>
      </p:sp>
      <p:sp>
        <p:nvSpPr>
          <p:cNvPr id="12" name="Text 10"/>
          <p:cNvSpPr/>
          <p:nvPr/>
        </p:nvSpPr>
        <p:spPr>
          <a:xfrm>
            <a:off x="4480560" y="5221224"/>
            <a:ext cx="6812280" cy="694944"/>
          </a:xfrm>
          <a:prstGeom prst="rect">
            <a:avLst/>
          </a:prstGeom>
          <a:noFill/>
          <a:ln/>
        </p:spPr>
        <p:txBody>
          <a:bodyPr wrap="square" lIns="0" tIns="0" rIns="0" bIns="0" rtlCol="0" anchor="ctr"/>
          <a:lstStyle/>
          <a:p>
            <a:pPr indent="0" marL="0">
              <a:buNone/>
            </a:pPr>
            <a:r>
              <a:rPr lang="en-US" sz="2400" dirty="0">
                <a:solidFill>
                  <a:srgbClr val="083E4F"/>
                </a:solidFill>
                <a:latin typeface="Arial" pitchFamily="34" charset="0"/>
                <a:ea typeface="Arial" pitchFamily="34" charset="-122"/>
                <a:cs typeface="Arial" pitchFamily="34" charset="-120"/>
              </a:rPr>
              <a:t>Kubernetes / AWS common</a:t>
            </a:r>
            <a:endParaRPr lang="en-US" sz="2400" dirty="0"/>
          </a:p>
        </p:txBody>
      </p:sp>
      <p:sp>
        <p:nvSpPr>
          <p:cNvPr id="13" name="Text 11">
            <a:hlinkClick r:id="rId1" tooltip=""/>
          </p:cNvPr>
          <p:cNvSpPr/>
          <p:nvPr/>
        </p:nvSpPr>
        <p:spPr>
          <a:xfrm>
            <a:off x="731520" y="5669280"/>
            <a:ext cx="1060704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Official results: runatlantis.io/blog</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PROJECT DIRECTION</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Toward Atlantis 1.0.0</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09</a:t>
            </a:r>
            <a:endParaRPr lang="en-US" sz="1200" dirty="0"/>
          </a:p>
        </p:txBody>
      </p:sp>
      <p:sp>
        <p:nvSpPr>
          <p:cNvPr id="5" name="Text 3"/>
          <p:cNvSpPr/>
          <p:nvPr/>
        </p:nvSpPr>
        <p:spPr>
          <a:xfrm>
            <a:off x="731520" y="2103120"/>
            <a:ext cx="10698480" cy="457200"/>
          </a:xfrm>
          <a:prstGeom prst="rect">
            <a:avLst/>
          </a:prstGeom>
          <a:noFill/>
          <a:ln/>
        </p:spPr>
        <p:txBody>
          <a:bodyPr wrap="square" lIns="0" tIns="0" rIns="0" bIns="0" rtlCol="0" anchor="ctr"/>
          <a:lstStyle/>
          <a:p>
            <a:pPr indent="0" marL="0">
              <a:buNone/>
            </a:pPr>
            <a:r>
              <a:rPr lang="en-US" sz="2700" b="1" dirty="0">
                <a:solidFill>
                  <a:srgbClr val="086679"/>
                </a:solidFill>
                <a:latin typeface="Arial" pitchFamily="34" charset="0"/>
                <a:ea typeface="Arial" pitchFamily="34" charset="-122"/>
                <a:cs typeface="Arial" pitchFamily="34" charset="-120"/>
              </a:rPr>
              <a:t>Planning discussion · not released</a:t>
            </a:r>
            <a:endParaRPr lang="en-US" sz="2700" dirty="0"/>
          </a:p>
        </p:txBody>
      </p:sp>
      <p:sp>
        <p:nvSpPr>
          <p:cNvPr id="6" name="Shape 4"/>
          <p:cNvSpPr/>
          <p:nvPr/>
        </p:nvSpPr>
        <p:spPr>
          <a:xfrm>
            <a:off x="731520" y="3017520"/>
            <a:ext cx="3429000" cy="1920240"/>
          </a:xfrm>
          <a:prstGeom prst="rect">
            <a:avLst/>
          </a:prstGeom>
          <a:solidFill>
            <a:srgbClr val="EAF1F3"/>
          </a:solidFill>
          <a:ln w="12700">
            <a:solidFill>
              <a:srgbClr val="EAF1F3"/>
            </a:solidFill>
            <a:prstDash val="solid"/>
          </a:ln>
        </p:spPr>
      </p:sp>
      <p:sp>
        <p:nvSpPr>
          <p:cNvPr id="7" name="Text 5"/>
          <p:cNvSpPr/>
          <p:nvPr/>
        </p:nvSpPr>
        <p:spPr>
          <a:xfrm>
            <a:off x="932688" y="3291840"/>
            <a:ext cx="3026664" cy="1371600"/>
          </a:xfrm>
          <a:prstGeom prst="rect">
            <a:avLst/>
          </a:prstGeom>
          <a:noFill/>
          <a:ln/>
        </p:spPr>
        <p:txBody>
          <a:bodyPr wrap="square" lIns="0" tIns="0" rIns="0" bIns="0" rtlCol="0" anchor="ctr"/>
          <a:lstStyle/>
          <a:p>
            <a:pPr indent="0" marL="0">
              <a:buNone/>
            </a:pPr>
            <a:r>
              <a:rPr lang="en-US" sz="3000" b="1" dirty="0">
                <a:solidFill>
                  <a:srgbClr val="083E4F"/>
                </a:solidFill>
                <a:latin typeface="Arial" pitchFamily="34" charset="0"/>
                <a:ea typeface="Arial" pitchFamily="34" charset="-122"/>
                <a:cs typeface="Arial" pitchFamily="34" charset="-120"/>
              </a:rPr>
              <a:t>Stability</a:t>
            </a:r>
            <a:endParaRPr lang="en-US" sz="3000" dirty="0"/>
          </a:p>
        </p:txBody>
      </p:sp>
      <p:sp>
        <p:nvSpPr>
          <p:cNvPr id="8" name="Shape 6"/>
          <p:cNvSpPr/>
          <p:nvPr/>
        </p:nvSpPr>
        <p:spPr>
          <a:xfrm>
            <a:off x="4389120" y="3017520"/>
            <a:ext cx="3429000" cy="1920240"/>
          </a:xfrm>
          <a:prstGeom prst="rect">
            <a:avLst/>
          </a:prstGeom>
          <a:solidFill>
            <a:srgbClr val="EAF1F3"/>
          </a:solidFill>
          <a:ln w="12700">
            <a:solidFill>
              <a:srgbClr val="EAF1F3"/>
            </a:solidFill>
            <a:prstDash val="solid"/>
          </a:ln>
        </p:spPr>
      </p:sp>
      <p:sp>
        <p:nvSpPr>
          <p:cNvPr id="9" name="Text 7"/>
          <p:cNvSpPr/>
          <p:nvPr/>
        </p:nvSpPr>
        <p:spPr>
          <a:xfrm>
            <a:off x="4590288" y="3291840"/>
            <a:ext cx="3026664" cy="1371600"/>
          </a:xfrm>
          <a:prstGeom prst="rect">
            <a:avLst/>
          </a:prstGeom>
          <a:noFill/>
          <a:ln/>
        </p:spPr>
        <p:txBody>
          <a:bodyPr wrap="square" lIns="0" tIns="0" rIns="0" bIns="0" rtlCol="0" anchor="ctr"/>
          <a:lstStyle/>
          <a:p>
            <a:pPr indent="0" marL="0">
              <a:buNone/>
            </a:pPr>
            <a:r>
              <a:rPr lang="en-US" sz="3000" b="1" dirty="0">
                <a:solidFill>
                  <a:srgbClr val="083E4F"/>
                </a:solidFill>
                <a:latin typeface="Arial" pitchFamily="34" charset="0"/>
                <a:ea typeface="Arial" pitchFamily="34" charset="-122"/>
                <a:cs typeface="Arial" pitchFamily="34" charset="-120"/>
              </a:rPr>
              <a:t>Backwards</a:t>
            </a:r>
            <a:endParaRPr lang="en-US" sz="3000" dirty="0"/>
          </a:p>
          <a:p>
            <a:pPr indent="0" marL="0">
              <a:buNone/>
            </a:pPr>
            <a:r>
              <a:rPr lang="en-US" sz="3000" b="1" dirty="0">
                <a:solidFill>
                  <a:srgbClr val="083E4F"/>
                </a:solidFill>
                <a:latin typeface="Arial" pitchFamily="34" charset="0"/>
                <a:ea typeface="Arial" pitchFamily="34" charset="-122"/>
                <a:cs typeface="Arial" pitchFamily="34" charset="-120"/>
              </a:rPr>
              <a:t>compatibility</a:t>
            </a:r>
            <a:endParaRPr lang="en-US" sz="3000" dirty="0"/>
          </a:p>
        </p:txBody>
      </p:sp>
      <p:sp>
        <p:nvSpPr>
          <p:cNvPr id="10" name="Shape 8"/>
          <p:cNvSpPr/>
          <p:nvPr/>
        </p:nvSpPr>
        <p:spPr>
          <a:xfrm>
            <a:off x="8046720" y="3017520"/>
            <a:ext cx="3429000" cy="1920240"/>
          </a:xfrm>
          <a:prstGeom prst="rect">
            <a:avLst/>
          </a:prstGeom>
          <a:solidFill>
            <a:srgbClr val="EAF1F3"/>
          </a:solidFill>
          <a:ln w="12700">
            <a:solidFill>
              <a:srgbClr val="EAF1F3"/>
            </a:solidFill>
            <a:prstDash val="solid"/>
          </a:ln>
        </p:spPr>
      </p:sp>
      <p:sp>
        <p:nvSpPr>
          <p:cNvPr id="11" name="Text 9"/>
          <p:cNvSpPr/>
          <p:nvPr/>
        </p:nvSpPr>
        <p:spPr>
          <a:xfrm>
            <a:off x="8247888" y="3291840"/>
            <a:ext cx="3026664" cy="1371600"/>
          </a:xfrm>
          <a:prstGeom prst="rect">
            <a:avLst/>
          </a:prstGeom>
          <a:noFill/>
          <a:ln/>
        </p:spPr>
        <p:txBody>
          <a:bodyPr wrap="square" lIns="0" tIns="0" rIns="0" bIns="0" rtlCol="0" anchor="ctr"/>
          <a:lstStyle/>
          <a:p>
            <a:pPr indent="0" marL="0">
              <a:buNone/>
            </a:pPr>
            <a:r>
              <a:rPr lang="en-US" sz="3000" b="1" dirty="0">
                <a:solidFill>
                  <a:srgbClr val="083E4F"/>
                </a:solidFill>
                <a:latin typeface="Arial" pitchFamily="34" charset="0"/>
                <a:ea typeface="Arial" pitchFamily="34" charset="-122"/>
                <a:cs typeface="Arial" pitchFamily="34" charset="-120"/>
              </a:rPr>
              <a:t>Clearer</a:t>
            </a:r>
            <a:endParaRPr lang="en-US" sz="3000" dirty="0"/>
          </a:p>
          <a:p>
            <a:pPr indent="0" marL="0">
              <a:buNone/>
            </a:pPr>
            <a:r>
              <a:rPr lang="en-US" sz="3000" b="1" dirty="0">
                <a:solidFill>
                  <a:srgbClr val="083E4F"/>
                </a:solidFill>
                <a:latin typeface="Arial" pitchFamily="34" charset="0"/>
                <a:ea typeface="Arial" pitchFamily="34" charset="-122"/>
                <a:cs typeface="Arial" pitchFamily="34" charset="-120"/>
              </a:rPr>
              <a:t>versioning</a:t>
            </a:r>
            <a:endParaRPr lang="en-US" sz="3000" dirty="0"/>
          </a:p>
        </p:txBody>
      </p:sp>
      <p:sp>
        <p:nvSpPr>
          <p:cNvPr id="12" name="Text 10">
            <a:hlinkClick r:id="rId1" tooltip=""/>
          </p:cNvPr>
          <p:cNvSpPr/>
          <p:nvPr/>
        </p:nvSpPr>
        <p:spPr>
          <a:xfrm>
            <a:off x="731520" y="5577840"/>
            <a:ext cx="10698480" cy="41148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Draft proposal #5296 · release tracking #2496</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176272"/>
            <a:ext cx="7406640" cy="2514600"/>
          </a:xfrm>
          <a:prstGeom prst="rect">
            <a:avLst/>
          </a:prstGeom>
          <a:noFill/>
          <a:ln/>
        </p:spPr>
        <p:txBody>
          <a:bodyPr wrap="square" lIns="0" tIns="0" rIns="0" bIns="0" rtlCol="0" anchor="ctr"/>
          <a:lstStyle/>
          <a:p>
            <a:pPr indent="0" marL="0">
              <a:buNone/>
            </a:pPr>
            <a:r>
              <a:rPr lang="en-US" sz="5100" b="1" dirty="0">
                <a:solidFill>
                  <a:srgbClr val="086679"/>
                </a:solidFill>
                <a:latin typeface="Arial" pitchFamily="34" charset="0"/>
                <a:ea typeface="Arial" pitchFamily="34" charset="-122"/>
                <a:cs typeface="Arial" pitchFamily="34" charset="-120"/>
              </a:rPr>
              <a:t>Plan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Review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Apply it.</a:t>
            </a:r>
            <a:endParaRPr lang="en-US" sz="5100" dirty="0"/>
          </a:p>
        </p:txBody>
      </p:sp>
      <p:sp>
        <p:nvSpPr>
          <p:cNvPr id="6" name="Text 4"/>
          <p:cNvSpPr/>
          <p:nvPr/>
        </p:nvSpPr>
        <p:spPr>
          <a:xfrm>
            <a:off x="566928" y="4800600"/>
            <a:ext cx="7589520" cy="457200"/>
          </a:xfrm>
          <a:prstGeom prst="rect">
            <a:avLst/>
          </a:prstGeom>
          <a:noFill/>
          <a:ln/>
        </p:spPr>
        <p:txBody>
          <a:bodyPr wrap="square" lIns="0" tIns="0" rIns="0" bIns="0" rtlCol="0" anchor="ctr"/>
          <a:lstStyle/>
          <a:p>
            <a:pPr indent="0" marL="0">
              <a:buNone/>
            </a:pPr>
            <a:r>
              <a:rPr lang="en-US" sz="3300" b="1" dirty="0">
                <a:solidFill>
                  <a:srgbClr val="083E4F"/>
                </a:solidFill>
                <a:latin typeface="Arial" pitchFamily="34" charset="0"/>
                <a:ea typeface="Arial" pitchFamily="34" charset="-122"/>
                <a:cs typeface="Arial" pitchFamily="34" charset="-120"/>
              </a:rPr>
              <a:t>From the pull request.</a:t>
            </a:r>
            <a:endParaRPr lang="en-US" sz="3300" dirty="0"/>
          </a:p>
        </p:txBody>
      </p:sp>
      <p:pic>
        <p:nvPicPr>
          <p:cNvPr id="7" name="Image 0" descr="QR code for https://www.runatlantis.io/">
            <a:hlinkClick r:id="rId2" tooltip=""/>
          </p:cNvPr>
          <p:cNvPicPr>
            <a:picLocks noChangeAspect="1"/>
          </p:cNvPicPr>
          <p:nvPr/>
        </p:nvPicPr>
        <p:blipFill>
          <a:blip r:embed="rId1"/>
          <a:stretch>
            <a:fillRect/>
          </a:stretch>
        </p:blipFill>
        <p:spPr>
          <a:xfrm>
            <a:off x="8339328" y="2231136"/>
            <a:ext cx="3017520" cy="3017520"/>
          </a:xfrm>
          <a:prstGeom prst="rect">
            <a:avLst/>
          </a:prstGeom>
        </p:spPr>
      </p:pic>
      <p:sp>
        <p:nvSpPr>
          <p:cNvPr id="8" name="Text 5">
            <a:hlinkClick r:id="rId3" tooltip=""/>
          </p:cNvPr>
          <p:cNvSpPr/>
          <p:nvPr/>
        </p:nvSpPr>
        <p:spPr>
          <a:xfrm>
            <a:off x="8119872" y="5431536"/>
            <a:ext cx="3456432" cy="393192"/>
          </a:xfrm>
          <a:prstGeom prst="rect">
            <a:avLst/>
          </a:prstGeom>
          <a:noFill/>
          <a:ln/>
        </p:spPr>
        <p:txBody>
          <a:bodyPr wrap="square" lIns="0" tIns="0" rIns="0" bIns="0" rtlCol="0" anchor="ctr"/>
          <a:lstStyle/>
          <a:p>
            <a:pPr algn="ctr" indent="0" marL="0">
              <a:buNone/>
            </a:pPr>
            <a:r>
              <a:rPr lang="en-US" sz="2700" b="1" u="sng" dirty="0">
                <a:solidFill>
                  <a:srgbClr val="086679"/>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runatlantis.io</a:t>
            </a:r>
            <a:endParaRPr lang="en-US" sz="2700" dirty="0"/>
          </a:p>
        </p:txBody>
      </p:sp>
      <p:sp>
        <p:nvSpPr>
          <p:cNvPr id="9" name="Text 6">
            <a:hlinkClick r:id="rId4" tooltip=""/>
          </p:cNvPr>
          <p:cNvSpPr/>
          <p:nvPr/>
        </p:nvSpPr>
        <p:spPr>
          <a:xfrm>
            <a:off x="566928" y="5385816"/>
            <a:ext cx="7772400" cy="301752"/>
          </a:xfrm>
          <a:prstGeom prst="rect">
            <a:avLst/>
          </a:prstGeom>
          <a:noFill/>
          <a:ln/>
        </p:spPr>
        <p:txBody>
          <a:bodyPr wrap="square" lIns="0" tIns="0" rIns="0" bIns="0" rtlCol="0" anchor="ctr"/>
          <a:lstStyle/>
          <a:p>
            <a:pPr indent="0" marL="0">
              <a:buNone/>
            </a:pPr>
            <a:r>
              <a:rPr lang="en-US" sz="2200" u="sng" dirty="0">
                <a:solidFill>
                  <a:srgbClr val="40596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 runatlantis/atlantis</a:t>
            </a:r>
            <a:endParaRPr lang="en-US" sz="2200" dirty="0"/>
          </a:p>
        </p:txBody>
      </p:sp>
      <p:sp>
        <p:nvSpPr>
          <p:cNvPr id="10" name="Text 7">
            <a:hlinkClick r:id="rId5" tooltip=""/>
          </p:cNvPr>
          <p:cNvSpPr/>
          <p:nvPr/>
        </p:nvSpPr>
        <p:spPr>
          <a:xfrm>
            <a:off x="566928" y="5806440"/>
            <a:ext cx="10789920" cy="274320"/>
          </a:xfrm>
          <a:prstGeom prst="rect">
            <a:avLst/>
          </a:prstGeom>
          <a:noFill/>
          <a:ln/>
        </p:spPr>
        <p:txBody>
          <a:bodyPr wrap="square" lIns="0" tIns="0" rIns="0" bIns="0" rtlCol="0" anchor="ctr"/>
          <a:lstStyle/>
          <a:p>
            <a:pPr indent="0" marL="0">
              <a:buNone/>
            </a:pPr>
            <a:r>
              <a:rPr lang="en-US" sz="1800" u="sng" dirty="0">
                <a:solidFill>
                  <a:srgbClr val="405965"/>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Atlantis: Project Pavilion · T-10 · Tue 10:30–14:30</a:t>
            </a:r>
            <a:endParaRPr lang="en-US" sz="18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2026-09-07T07:10:13Z</dcterms:created>
  <dcterms:modified xsi:type="dcterms:W3CDTF">2026-09-07T07:10:13Z</dcterms:modified>
</cp:coreProperties>
</file>