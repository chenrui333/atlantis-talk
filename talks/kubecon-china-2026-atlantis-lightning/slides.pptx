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Masters/conference_slideMaster1.xml" ContentType="application/vnd.openxmlformats-officedocument.presentationml.slideMaster+xml"/>
  <Override PartName="/ppt/theme/conference_theme1.xml" ContentType="application/vnd.openxmlformats-officedocument.theme+xml"/>
  <Override PartName="/ppt/slideLayouts/conference_slideLayout1.xml" ContentType="application/vnd.openxmlformats-officedocument.presentationml.slideLayout+xml"/>
  <Override PartName="/ppt/slideLayouts/conference_slideLayout2.xml" ContentType="application/vnd.openxmlformats-officedocument.presentationml.slideLayout+xml"/>
  <Override PartName="/ppt/slideLayouts/conference_slideLayout3.xml" ContentType="application/vnd.openxmlformats-officedocument.presentationml.slideLayout+xml"/>
  <Override PartName="/ppt/slideLayouts/conference_slideLayout4.xml" ContentType="application/vnd.openxmlformats-officedocument.presentationml.slideLayout+xml"/>
  <Override PartName="/ppt/slideLayouts/conference_slideLayout5.xml" ContentType="application/vnd.openxmlformats-officedocument.presentationml.slideLayout+xml"/>
  <Override PartName="/ppt/slideLayouts/conference_slideLayout6.xml" ContentType="application/vnd.openxmlformats-officedocument.presentationml.slideLayout+xml"/>
  <Override PartName="/ppt/slideLayouts/conference_slideLayout7.xml" ContentType="application/vnd.openxmlformats-officedocument.presentationml.slideLayout+xml"/>
  <Override PartName="/ppt/slideLayouts/conference_slideLayout8.xml" ContentType="application/vnd.openxmlformats-officedocument.presentationml.slideLayout+xml"/>
  <Override PartName="/ppt/slideLayouts/conference_slideLayout9.xml" ContentType="application/vnd.openxmlformats-officedocument.presentationml.slideLayout+xml"/>
  <Override PartName="/ppt/slideLayouts/conference_slideLayout10.xml" ContentType="application/vnd.openxmlformats-officedocument.presentationml.slideLayout+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conference_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0:00–0:35 (35 seconds)
Spoken words: 70
Cue: Define Atlantis, then expose the laptop handoff.
Hi, I'm Rui, an Atlantis maintainer. Atlantis is an open-source service that runs Terraform and OpenTofu plans and applies from pull requests. Many teams already automate infrastructure. But if your workflow still ends with someone running a command from a laptop, the reviewer may see the code without seeing the plan or the result. Atlantis brings those parts of the change into the same conversation.
Transition: Here is how that works.
Emergency cuts: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0:35–1:40 (65 seconds)
Spoken words: 128
Cue: Trace 1 → 2 → 3 → 4. Atlantis executes; Git holds the review.
A developer opens a pull request. The Git host sends a webhook to Atlantis, a service your team hosts. Atlantis detects affected projects and runs a plan using Terraform or OpenTofu. The plan describes the proposed infrastructure changes. Atlantis posts the result back to the pull request, so reviewers can read the code and the plan together. After review, an authorized engineer comments atlantis apply. Atlantis checks the requirements your platform team configured, then runs the apply and reports the result. Terraform or OpenTofu still talks to provider APIs and uses your state backend. Atlantis coordinates the workflow around those tools. You can host Atlantis on Kubernetes with the official Helm chart, or run it on a server. Kubernetes is optional.
Transition: For the engineer, that looks like this.
Emergency cuts:
Terraform or OpenTofu still talks to provider APIs and uses your state backend.
Atlantis coordinates the workflow around those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1:40–2:40 (60 seconds)
Spoken words: 125
Cue: Read the plan summary. Approval is a review action, not an LGTM comment.
Here is a simplified example: increase a database's capacity. Atlantis posts a plan: zero resources to add, one to change, zero to destroy. That one change still deserves attention. For a database, that could include downtime, connection limits, and the cost change. The reviewer reads the full plan and checks the operational impact, then approves the pull request. I comment atlantis apply, and the bot reports completion. In this workflow, we apply before merging. If the apply fails, we can fix the change in the same pull request and try again. The code, the proposed changes, the review, and the execution result stay together. That is the experience to remember: review infrastructure where you already review code.
Transition: Why choose a service built around that workflow?
Emergency cuts:
The code, the proposed changes, the review, and the execution result stay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2:40–4:05 (85 seconds)
Spoken words: 179
Cue: Visible → controlled → collaborative. Last 25 seconds: current project signals.
First, visibility: the plan and execution results sit beside the code review. Second, control: the platform team configures credentials, approval requirements, and optional policy checks. Atlantis project locks help coordinate competing pull requests. Third, collaboration: developers can propose changes through a familiar workflow, without each person needing a privileged workstation. You could build this in generic CI. Atlantis packages the PR interaction, planning, applying, and locking into a purpose-built service. The core workflow needs no separate Atlantis SaaS control plane. Your Git host, state backend, and cloud services remain part of the system. This still runs powerful code: even planning can execute code. Trusted repositories, restricted permissions, and a maintained deployment remain essential. The project continues to evolve for Terraform and OpenTofu users. Recent work includes alpha APIs for drift workflows; version zero point forty-seven added richer drift plan output. The latest release, zero point forty-seven point one, fixes a command-injection vulnerability. These are useful updates for existing operators. For a new team, the starting point is still the pull request.
Transition: And that is the idea to take away.
Emergency cuts:
You could build this in generic CI.
Atlantis packages the PR interaction, planning, applying, and locking into a purpose-built service.
Your Git host, state backend, and cloud services remain part of the system.
Recent work includes alpha APIs for drift workflows; version zero point forty-seven added richer drift plan output.
These are useful updates for existing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4:05–4:35 (30 seconds)
Spoken words: 52
Cue: Point to the URL, then land the final four phrases.
Atlantis is a CNCF Sandbox project. Visit runatlantis dot io for the getting-started guide, or find the code and contribution guide on GitHub. Start with one repository and one infrastructure change. Bring your team's review rules into that workflow. Infrastructure is code. Plan it. Review it. Apply it. From the pull request.
Transition: Hold the closing slide.
Emergency cuts:
Start with one repository and one infrastructure change.
Bring your team's review rules into that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conference_slideLayout1.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2.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3.xml.rels><?xml version="1.0" encoding="utf-8"?><Relationships xmlns="http://schemas.openxmlformats.org/package/2006/relationships"><Relationship Id="rId3" Type="http://schemas.openxmlformats.org/officeDocument/2006/relationships/image" Target="../media/conference_image5.png"/><Relationship Id="rId2" Type="http://schemas.openxmlformats.org/officeDocument/2006/relationships/image" Target="../media/conference_image4.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4.xml.rels><?xml version="1.0" encoding="utf-8"?><Relationships xmlns="http://schemas.openxmlformats.org/package/2006/relationships"><Relationship Id="rId3" Type="http://schemas.openxmlformats.org/officeDocument/2006/relationships/image" Target="../media/conference_image7.png"/><Relationship Id="rId2" Type="http://schemas.openxmlformats.org/officeDocument/2006/relationships/image" Target="../media/conference_image6.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5.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6.xml.rels><?xml version="1.0" encoding="utf-8"?><Relationships xmlns="http://schemas.openxmlformats.org/package/2006/relationships"><Relationship Id="rId3" Type="http://schemas.openxmlformats.org/officeDocument/2006/relationships/image" Target="../media/conference_image3.svg"/><Relationship Id="rId2" Type="http://schemas.openxmlformats.org/officeDocument/2006/relationships/image" Target="../media/conference_image2.png"/><Relationship Id="rId1" Type="http://schemas.openxmlformats.org/officeDocument/2006/relationships/slideMaster" Target="../slideMasters/conference_slideMaster1.xml"/></Relationships>
</file>

<file path=ppt/slideLayouts/_rels/conference_slideLayout7.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8.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9.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10.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0.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conference_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083E4F"/>
        </a:solidFill>
        <a:effectLst/>
      </p:bgPr>
    </p:bg>
    <p:spTree>
      <p:nvGrpSpPr>
        <p:cNvPr id="1" name="Shape 9"/>
        <p:cNvGrpSpPr/>
        <p:nvPr/>
      </p:nvGrpSpPr>
      <p:grpSpPr>
        <a:xfrm>
          <a:off x="0" y="0"/>
          <a:ext cx="0" cy="0"/>
          <a:chOff x="0" y="0"/>
          <a:chExt cx="0" cy="0"/>
        </a:xfrm>
      </p:grpSpPr>
      <p:grpSp>
        <p:nvGrpSpPr>
          <p:cNvPr id="10" name="Google Shape;10;p12"/>
          <p:cNvGrpSpPr/>
          <p:nvPr/>
        </p:nvGrpSpPr>
        <p:grpSpPr>
          <a:xfrm>
            <a:off x="0" y="0"/>
            <a:ext cx="12192000" cy="6861416"/>
            <a:chOff x="0" y="0"/>
            <a:chExt cx="12192000" cy="6861416"/>
          </a:xfrm>
        </p:grpSpPr>
        <p:pic>
          <p:nvPicPr>
            <p:cNvPr id="11" name="Google Shape;11;p12"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12" name="Google Shape;12;p12"/>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13" name="Google Shape;13;p12"/>
          <p:cNvSpPr txBox="1">
            <a:spLocks noGrp="1"/>
          </p:cNvSpPr>
          <p:nvPr>
            <p:ph type="ctrTitle"/>
          </p:nvPr>
        </p:nvSpPr>
        <p:spPr>
          <a:xfrm>
            <a:off x="414953" y="1668595"/>
            <a:ext cx="10680268" cy="1940237"/>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14" name="Google Shape;14;p12"/>
          <p:cNvSpPr txBox="1">
            <a:spLocks noGrp="1"/>
          </p:cNvSpPr>
          <p:nvPr>
            <p:ph type="subTitle" idx="1"/>
          </p:nvPr>
        </p:nvSpPr>
        <p:spPr>
          <a:xfrm>
            <a:off x="414952" y="3608832"/>
            <a:ext cx="10680268" cy="812339"/>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sp>
        <p:nvSpPr>
          <p:cNvPr id="15" name="Google Shape;15;p12"/>
          <p:cNvSpPr txBox="1"/>
          <p:nvPr/>
        </p:nvSpPr>
        <p:spPr>
          <a:xfrm>
            <a:off x="6096000" y="238043"/>
            <a:ext cx="5673420" cy="615499"/>
          </a:xfrm>
          <a:prstGeom prst="rect">
            <a:avLst/>
          </a:prstGeom>
          <a:noFill/>
          <a:ln>
            <a:noFill/>
          </a:ln>
        </p:spPr>
        <p:txBody>
          <a:bodyPr spcFirstLastPara="1" wrap="square" lIns="121900" tIns="60933" rIns="121900" bIns="60933" anchor="t" anchorCtr="0">
            <a:spAutoFit/>
          </a:bodyPr>
          <a:lstStyle/>
          <a:p>
            <a:pPr marL="0" marR="0" lvl="0" indent="0" algn="r" defTabSz="12192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lt1"/>
                </a:solidFill>
                <a:latin typeface="Arial"/>
                <a:ea typeface="Arial"/>
                <a:cs typeface="Arial"/>
                <a:sym typeface="Arial"/>
              </a:rPr>
              <a:t>#</a:t>
            </a:r>
            <a:r>
              <a:rPr lang="en" sz="1600" b="0" i="0" u="none" strike="noStrike" cap="none" dirty="0" err="1">
                <a:solidFill>
                  <a:schemeClr val="lt1"/>
                </a:solidFill>
                <a:latin typeface="Arial"/>
                <a:ea typeface="Arial"/>
                <a:cs typeface="Arial"/>
                <a:sym typeface="Arial"/>
              </a:rPr>
              <a:t>KubeCon</a:t>
            </a:r>
            <a:r>
              <a:rPr lang="en" sz="1600" b="0" i="0" u="none" strike="noStrike" cap="none" dirty="0">
                <a:solidFill>
                  <a:schemeClr val="lt1"/>
                </a:solidFill>
                <a:latin typeface="Arial"/>
                <a:ea typeface="Arial"/>
                <a:cs typeface="Arial"/>
                <a:sym typeface="Arial"/>
              </a:rPr>
              <a:t> #</a:t>
            </a:r>
            <a:r>
              <a:rPr lang="en" sz="1600" b="0" i="0" u="none" strike="noStrike" cap="none" dirty="0" err="1">
                <a:solidFill>
                  <a:schemeClr val="lt1"/>
                </a:solidFill>
                <a:latin typeface="Arial"/>
                <a:ea typeface="Arial"/>
                <a:cs typeface="Arial"/>
                <a:sym typeface="Arial"/>
              </a:rPr>
              <a:t>CloudNativeCon</a:t>
            </a:r>
            <a:br>
              <a:rPr lang="en" sz="1600" b="0" i="0" u="none" strike="noStrike" cap="none" dirty="0">
                <a:solidFill>
                  <a:schemeClr val="lt1"/>
                </a:solidFill>
                <a:latin typeface="Arial"/>
                <a:ea typeface="Arial"/>
                <a:cs typeface="Arial"/>
                <a:sym typeface="Arial"/>
              </a:rPr>
            </a:br>
            <a:r>
              <a:rPr lang="en-GB" sz="1600" b="0" i="0" u="none" strike="noStrike" cap="none" dirty="0">
                <a:solidFill>
                  <a:schemeClr val="lt1"/>
                </a:solidFill>
                <a:latin typeface="Arial"/>
                <a:ea typeface="Arial"/>
                <a:cs typeface="Arial"/>
                <a:sym typeface="Arial"/>
              </a:rPr>
              <a:t>#</a:t>
            </a:r>
            <a:r>
              <a:rPr lang="en-GB" sz="1600" b="0" i="0" u="none" strike="noStrike" cap="none" dirty="0" err="1">
                <a:solidFill>
                  <a:schemeClr val="lt1"/>
                </a:solidFill>
                <a:latin typeface="Arial"/>
                <a:ea typeface="Arial"/>
                <a:cs typeface="Arial"/>
                <a:sym typeface="Arial"/>
              </a:rPr>
              <a:t>OpenInfraSummit</a:t>
            </a:r>
            <a:r>
              <a:rPr lang="en-GB" sz="1600" b="0" i="0" u="none" strike="noStrike" cap="none" dirty="0">
                <a:solidFill>
                  <a:schemeClr val="lt1"/>
                </a:solidFill>
                <a:latin typeface="Arial"/>
                <a:ea typeface="Arial"/>
                <a:cs typeface="Arial"/>
                <a:sym typeface="Arial"/>
              </a:rPr>
              <a:t> #</a:t>
            </a:r>
            <a:r>
              <a:rPr lang="en-GB" sz="1600" b="0" i="0" u="none" strike="noStrike" cap="none" dirty="0" err="1">
                <a:solidFill>
                  <a:schemeClr val="lt1"/>
                </a:solidFill>
                <a:latin typeface="Arial"/>
                <a:ea typeface="Arial"/>
                <a:cs typeface="Arial"/>
                <a:sym typeface="Arial"/>
              </a:rPr>
              <a:t>PyTorchCon</a:t>
            </a:r>
            <a:endParaRPr sz="1600" b="0" i="0" u="none" strike="noStrike" cap="none" dirty="0">
              <a:solidFill>
                <a:schemeClr val="lt1"/>
              </a:solidFill>
              <a:latin typeface="Arial"/>
              <a:ea typeface="Arial"/>
              <a:cs typeface="Arial"/>
              <a:sym typeface="Arial"/>
            </a:endParaRPr>
          </a:p>
        </p:txBody>
      </p:sp>
      <p:pic>
        <p:nvPicPr>
          <p:cNvPr id="4" name="Graphic 3">
            <a:extLst>
              <a:ext uri="{FF2B5EF4-FFF2-40B4-BE49-F238E27FC236}">
                <a16:creationId xmlns:a16="http://schemas.microsoft.com/office/drawing/2014/main" id="{626DCC9B-2A07-45D4-4017-DC6D4710845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083E4F"/>
        </a:solidFill>
        <a:effectLst/>
      </p:bgPr>
    </p:bg>
    <p:spTree>
      <p:nvGrpSpPr>
        <p:cNvPr id="1" name="Shape 17"/>
        <p:cNvGrpSpPr/>
        <p:nvPr/>
      </p:nvGrpSpPr>
      <p:grpSpPr>
        <a:xfrm>
          <a:off x="0" y="0"/>
          <a:ext cx="0" cy="0"/>
          <a:chOff x="0" y="0"/>
          <a:chExt cx="0" cy="0"/>
        </a:xfrm>
      </p:grpSpPr>
      <p:grpSp>
        <p:nvGrpSpPr>
          <p:cNvPr id="18" name="Google Shape;18;p13"/>
          <p:cNvGrpSpPr/>
          <p:nvPr/>
        </p:nvGrpSpPr>
        <p:grpSpPr>
          <a:xfrm>
            <a:off x="0" y="0"/>
            <a:ext cx="12192000" cy="6861416"/>
            <a:chOff x="0" y="0"/>
            <a:chExt cx="12192000" cy="6861416"/>
          </a:xfrm>
        </p:grpSpPr>
        <p:pic>
          <p:nvPicPr>
            <p:cNvPr id="19" name="Google Shape;19;p13"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20" name="Google Shape;20;p13"/>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21" name="Google Shape;21;p13"/>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pic>
        <p:nvPicPr>
          <p:cNvPr id="2" name="Graphic 1">
            <a:extLst>
              <a:ext uri="{FF2B5EF4-FFF2-40B4-BE49-F238E27FC236}">
                <a16:creationId xmlns:a16="http://schemas.microsoft.com/office/drawing/2014/main" id="{FE2330E7-5222-0892-9C8D-9687A11B437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3.xml><?xml version="1.0" encoding="utf-8"?>
<p:sldLayout xmlns:a="http://schemas.openxmlformats.org/drawingml/2006/main" xmlns:r="http://schemas.openxmlformats.org/officeDocument/2006/relationships" xmlns:p="http://schemas.openxmlformats.org/presentationml/2006/main" matchingName="Section header">
  <p:cSld name="1_Section header">
    <p:bg>
      <p:bgPr>
        <a:solidFill>
          <a:srgbClr val="083E4F"/>
        </a:solidFill>
        <a:effectLst/>
      </p:bgPr>
    </p:bg>
    <p:spTree>
      <p:nvGrpSpPr>
        <p:cNvPr id="1" name="Shape 23"/>
        <p:cNvGrpSpPr/>
        <p:nvPr/>
      </p:nvGrpSpPr>
      <p:grpSpPr>
        <a:xfrm>
          <a:off x="0" y="0"/>
          <a:ext cx="0" cy="0"/>
          <a:chOff x="0" y="0"/>
          <a:chExt cx="0" cy="0"/>
        </a:xfrm>
      </p:grpSpPr>
      <p:sp>
        <p:nvSpPr>
          <p:cNvPr id="24" name="Google Shape;24;p14"/>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grpSp>
        <p:nvGrpSpPr>
          <p:cNvPr id="26" name="Google Shape;26;p14"/>
          <p:cNvGrpSpPr/>
          <p:nvPr/>
        </p:nvGrpSpPr>
        <p:grpSpPr>
          <a:xfrm>
            <a:off x="0" y="3998132"/>
            <a:ext cx="12192000" cy="2859868"/>
            <a:chOff x="133979" y="4029559"/>
            <a:chExt cx="12058021" cy="2828441"/>
          </a:xfrm>
        </p:grpSpPr>
        <p:pic>
          <p:nvPicPr>
            <p:cNvPr id="27" name="Google Shape;27;p14"/>
            <p:cNvPicPr preferRelativeResize="0"/>
            <p:nvPr/>
          </p:nvPicPr>
          <p:blipFill rotWithShape="1">
            <a:blip r:embed="rId2">
              <a:alphaModFix/>
            </a:blip>
            <a:srcRect r="14460"/>
            <a:stretch/>
          </p:blipFill>
          <p:spPr>
            <a:xfrm>
              <a:off x="3714663" y="4029559"/>
              <a:ext cx="8477337" cy="2828441"/>
            </a:xfrm>
            <a:prstGeom prst="rect">
              <a:avLst/>
            </a:prstGeom>
            <a:noFill/>
            <a:ln>
              <a:noFill/>
            </a:ln>
          </p:spPr>
        </p:pic>
        <p:pic>
          <p:nvPicPr>
            <p:cNvPr id="28" name="Google Shape;28;p14"/>
            <p:cNvPicPr preferRelativeResize="0"/>
            <p:nvPr/>
          </p:nvPicPr>
          <p:blipFill rotWithShape="1">
            <a:blip r:embed="rId3">
              <a:alphaModFix/>
            </a:blip>
            <a:srcRect l="64144"/>
            <a:stretch/>
          </p:blipFill>
          <p:spPr>
            <a:xfrm>
              <a:off x="133979" y="5443779"/>
              <a:ext cx="3580685" cy="1414221"/>
            </a:xfrm>
            <a:prstGeom prst="rect">
              <a:avLst/>
            </a:prstGeom>
            <a:noFill/>
            <a:ln>
              <a:noFill/>
            </a:ln>
          </p:spPr>
        </p:pic>
      </p:grpSp>
      <p:pic>
        <p:nvPicPr>
          <p:cNvPr id="2" name="Graphic 1">
            <a:extLst>
              <a:ext uri="{FF2B5EF4-FFF2-40B4-BE49-F238E27FC236}">
                <a16:creationId xmlns:a16="http://schemas.microsoft.com/office/drawing/2014/main" id="{53859CBE-6B18-D927-EE94-D8A879AB2F7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4.xml><?xml version="1.0" encoding="utf-8"?>
<p:sldLayout xmlns:a="http://schemas.openxmlformats.org/drawingml/2006/main" xmlns:r="http://schemas.openxmlformats.org/officeDocument/2006/relationships" xmlns:p="http://schemas.openxmlformats.org/presentationml/2006/main" matchingName="Section header">
  <p:cSld name="1_Section header 2">
    <p:bg>
      <p:bgPr>
        <a:solidFill>
          <a:srgbClr val="083E4F"/>
        </a:solidFill>
        <a:effectLst/>
      </p:bgPr>
    </p:bg>
    <p:spTree>
      <p:nvGrpSpPr>
        <p:cNvPr id="1" name="Shape 29"/>
        <p:cNvGrpSpPr/>
        <p:nvPr/>
      </p:nvGrpSpPr>
      <p:grpSpPr>
        <a:xfrm>
          <a:off x="0" y="0"/>
          <a:ext cx="0" cy="0"/>
          <a:chOff x="0" y="0"/>
          <a:chExt cx="0" cy="0"/>
        </a:xfrm>
      </p:grpSpPr>
      <p:sp>
        <p:nvSpPr>
          <p:cNvPr id="30" name="Google Shape;30;p15"/>
          <p:cNvSpPr txBox="1">
            <a:spLocks noGrp="1"/>
          </p:cNvSpPr>
          <p:nvPr>
            <p:ph type="ctrTitle"/>
          </p:nvPr>
        </p:nvSpPr>
        <p:spPr>
          <a:xfrm>
            <a:off x="531069" y="1831156"/>
            <a:ext cx="10680268" cy="2699251"/>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a:solidFill>
                  <a:schemeClr val="lt1"/>
                </a:solidFil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31" name="Google Shape;31;p15"/>
          <p:cNvSpPr txBox="1">
            <a:spLocks noGrp="1"/>
          </p:cNvSpPr>
          <p:nvPr>
            <p:ph type="subTitle" idx="1"/>
          </p:nvPr>
        </p:nvSpPr>
        <p:spPr>
          <a:xfrm>
            <a:off x="531068" y="4530407"/>
            <a:ext cx="10680268" cy="893572"/>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a:solidFill>
                  <a:schemeClr val="lt1"/>
                </a:solidFil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pic>
        <p:nvPicPr>
          <p:cNvPr id="32" name="Google Shape;32;p15"/>
          <p:cNvPicPr preferRelativeResize="0"/>
          <p:nvPr/>
        </p:nvPicPr>
        <p:blipFill rotWithShape="1">
          <a:blip r:embed="rId2">
            <a:alphaModFix/>
          </a:blip>
          <a:srcRect/>
          <a:stretch/>
        </p:blipFill>
        <p:spPr>
          <a:xfrm>
            <a:off x="6721097" y="604044"/>
            <a:ext cx="3454400" cy="1574800"/>
          </a:xfrm>
          <a:prstGeom prst="rect">
            <a:avLst/>
          </a:prstGeom>
          <a:noFill/>
          <a:ln>
            <a:noFill/>
          </a:ln>
        </p:spPr>
      </p:pic>
      <p:pic>
        <p:nvPicPr>
          <p:cNvPr id="33" name="Google Shape;33;p15"/>
          <p:cNvPicPr preferRelativeResize="0"/>
          <p:nvPr/>
        </p:nvPicPr>
        <p:blipFill rotWithShape="1">
          <a:blip r:embed="rId2">
            <a:alphaModFix/>
          </a:blip>
          <a:srcRect l="41002" b="9974"/>
          <a:stretch/>
        </p:blipFill>
        <p:spPr>
          <a:xfrm>
            <a:off x="-1" y="5440279"/>
            <a:ext cx="2038047" cy="1417721"/>
          </a:xfrm>
          <a:prstGeom prst="rect">
            <a:avLst/>
          </a:prstGeom>
          <a:noFill/>
          <a:ln>
            <a:noFill/>
          </a:ln>
        </p:spPr>
      </p:pic>
      <p:pic>
        <p:nvPicPr>
          <p:cNvPr id="35" name="Google Shape;35;p15"/>
          <p:cNvPicPr preferRelativeResize="0"/>
          <p:nvPr/>
        </p:nvPicPr>
        <p:blipFill rotWithShape="1">
          <a:blip r:embed="rId3">
            <a:alphaModFix/>
          </a:blip>
          <a:srcRect t="40037" r="35395" b="24793"/>
          <a:stretch/>
        </p:blipFill>
        <p:spPr>
          <a:xfrm>
            <a:off x="7853935" y="-1"/>
            <a:ext cx="4338067" cy="6858001"/>
          </a:xfrm>
          <a:prstGeom prst="rect">
            <a:avLst/>
          </a:prstGeom>
          <a:noFill/>
          <a:ln>
            <a:noFill/>
          </a:ln>
        </p:spPr>
      </p:pic>
      <p:pic>
        <p:nvPicPr>
          <p:cNvPr id="2" name="Graphic 1">
            <a:extLst>
              <a:ext uri="{FF2B5EF4-FFF2-40B4-BE49-F238E27FC236}">
                <a16:creationId xmlns:a16="http://schemas.microsoft.com/office/drawing/2014/main" id="{D0016DEC-A700-C8D3-8ED7-2F40D152C3D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chemeClr val="lt1"/>
        </a:solidFill>
        <a:effectLst/>
      </p:bgPr>
    </p:bg>
    <p:spTree>
      <p:nvGrpSpPr>
        <p:cNvPr id="1" name="Shape 36"/>
        <p:cNvGrpSpPr/>
        <p:nvPr/>
      </p:nvGrpSpPr>
      <p:grpSpPr>
        <a:xfrm>
          <a:off x="0" y="0"/>
          <a:ext cx="0" cy="0"/>
          <a:chOff x="0" y="0"/>
          <a:chExt cx="0" cy="0"/>
        </a:xfrm>
      </p:grpSpPr>
      <p:sp>
        <p:nvSpPr>
          <p:cNvPr id="37" name="Google Shape;37;p16"/>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38" name="Google Shape;38;p16"/>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39" name="Google Shape;39;p16"/>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4" name="Graphic 3">
            <a:extLst>
              <a:ext uri="{FF2B5EF4-FFF2-40B4-BE49-F238E27FC236}">
                <a16:creationId xmlns:a16="http://schemas.microsoft.com/office/drawing/2014/main" id="{6854D43B-6AB1-147E-1BEF-3B7B8CA552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6.xml><?xml version="1.0" encoding="utf-8"?>
<p:sldLayout xmlns:a="http://schemas.openxmlformats.org/drawingml/2006/main" xmlns:r="http://schemas.openxmlformats.org/officeDocument/2006/relationships" xmlns:p="http://schemas.openxmlformats.org/presentationml/2006/main" matchingName="Title and body">
  <p:cSld name="1_Title and body">
    <p:bg>
      <p:bgPr>
        <a:solidFill>
          <a:schemeClr val="lt1"/>
        </a:solidFill>
        <a:effectLst/>
      </p:bgPr>
    </p:bg>
    <p:spTree>
      <p:nvGrpSpPr>
        <p:cNvPr id="1" name="Shape 41"/>
        <p:cNvGrpSpPr/>
        <p:nvPr/>
      </p:nvGrpSpPr>
      <p:grpSpPr>
        <a:xfrm>
          <a:off x="0" y="0"/>
          <a:ext cx="0" cy="0"/>
          <a:chOff x="0" y="0"/>
          <a:chExt cx="0" cy="0"/>
        </a:xfrm>
      </p:grpSpPr>
      <p:sp>
        <p:nvSpPr>
          <p:cNvPr id="42" name="Google Shape;42;p17"/>
          <p:cNvSpPr/>
          <p:nvPr/>
        </p:nvSpPr>
        <p:spPr>
          <a:xfrm>
            <a:off x="9467" y="7500"/>
            <a:ext cx="12182533" cy="1397200"/>
          </a:xfrm>
          <a:prstGeom prst="rect">
            <a:avLst/>
          </a:prstGeom>
          <a:solidFill>
            <a:srgbClr val="083E4F"/>
          </a:solid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867"/>
              <a:buFont typeface="Arial"/>
              <a:buNone/>
            </a:pPr>
            <a:endParaRPr sz="1867" b="0" i="0" u="none" strike="noStrike" cap="none">
              <a:solidFill>
                <a:srgbClr val="000000"/>
              </a:solidFill>
              <a:latin typeface="Arial"/>
              <a:ea typeface="Arial"/>
              <a:cs typeface="Arial"/>
              <a:sym typeface="Arial"/>
            </a:endParaRPr>
          </a:p>
        </p:txBody>
      </p:sp>
      <p:sp>
        <p:nvSpPr>
          <p:cNvPr id="43" name="Google Shape;43;p17"/>
          <p:cNvSpPr txBox="1">
            <a:spLocks noGrp="1"/>
          </p:cNvSpPr>
          <p:nvPr>
            <p:ph type="title"/>
          </p:nvPr>
        </p:nvSpPr>
        <p:spPr>
          <a:xfrm>
            <a:off x="415601" y="0"/>
            <a:ext cx="6869864" cy="13972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3733"/>
              <a:buNone/>
              <a:defRPr>
                <a:solidFill>
                  <a:schemeClr val="lt1"/>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dirty="0"/>
          </a:p>
        </p:txBody>
      </p:sp>
      <p:sp>
        <p:nvSpPr>
          <p:cNvPr id="44" name="Google Shape;44;p17"/>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45" name="Google Shape;45;p17"/>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D78742C-108D-9408-D6DB-E8F8B8A0748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606375" y="361489"/>
            <a:ext cx="4264715" cy="697500"/>
          </a:xfrm>
          <a:prstGeom prst="rect">
            <a:avLst/>
          </a:prstGeom>
        </p:spPr>
      </p:pic>
    </p:spTree>
  </p:cSld>
  <p:clrMapOvr>
    <a:masterClrMapping/>
  </p:clrMapOvr>
</p:sldLayout>
</file>

<file path=ppt/slideLayouts/conference_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chemeClr val="lt1"/>
        </a:solidFill>
        <a:effectLst/>
      </p:bgPr>
    </p:bg>
    <p:spTree>
      <p:nvGrpSpPr>
        <p:cNvPr id="1" name="Shape 47"/>
        <p:cNvGrpSpPr/>
        <p:nvPr/>
      </p:nvGrpSpPr>
      <p:grpSpPr>
        <a:xfrm>
          <a:off x="0" y="0"/>
          <a:ext cx="0" cy="0"/>
          <a:chOff x="0" y="0"/>
          <a:chExt cx="0" cy="0"/>
        </a:xfrm>
      </p:grpSpPr>
      <p:sp>
        <p:nvSpPr>
          <p:cNvPr id="48" name="Google Shape;48;p18"/>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49" name="Google Shape;49;p18"/>
          <p:cNvSpPr txBox="1">
            <a:spLocks noGrp="1"/>
          </p:cNvSpPr>
          <p:nvPr>
            <p:ph type="body" idx="1"/>
          </p:nvPr>
        </p:nvSpPr>
        <p:spPr>
          <a:xfrm>
            <a:off x="4156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0" name="Google Shape;50;p18"/>
          <p:cNvSpPr txBox="1">
            <a:spLocks noGrp="1"/>
          </p:cNvSpPr>
          <p:nvPr>
            <p:ph type="body" idx="2"/>
          </p:nvPr>
        </p:nvSpPr>
        <p:spPr>
          <a:xfrm>
            <a:off x="64432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1" name="Google Shape;51;p18"/>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 name="Graphic 1">
            <a:extLst>
              <a:ext uri="{FF2B5EF4-FFF2-40B4-BE49-F238E27FC236}">
                <a16:creationId xmlns:a16="http://schemas.microsoft.com/office/drawing/2014/main" id="{5AE44EE6-2B97-D0C3-B694-1E87082403C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53"/>
        <p:cNvGrpSpPr/>
        <p:nvPr/>
      </p:nvGrpSpPr>
      <p:grpSpPr>
        <a:xfrm>
          <a:off x="0" y="0"/>
          <a:ext cx="0" cy="0"/>
          <a:chOff x="0" y="0"/>
          <a:chExt cx="0" cy="0"/>
        </a:xfrm>
      </p:grpSpPr>
      <p:sp>
        <p:nvSpPr>
          <p:cNvPr id="54" name="Google Shape;54;p19"/>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55" name="Google Shape;55;p19"/>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C85FDC8E-54F0-6F05-42EE-9D2C823888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20"/>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E1DFC6C-6771-8459-E441-CFAEECF17AB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10.xml><?xml version="1.0" encoding="utf-8"?>
<p:sldLayout xmlns:a="http://schemas.openxmlformats.org/drawingml/2006/main" xmlns:r="http://schemas.openxmlformats.org/officeDocument/2006/relationships" xmlns:p="http://schemas.openxmlformats.org/presentationml/2006/main" matchingName="Section header">
  <p:cSld name="Logo">
    <p:bg>
      <p:bgPr>
        <a:solidFill>
          <a:srgbClr val="00737C"/>
        </a:solidFill>
        <a:effectLst/>
      </p:bgPr>
    </p:bg>
    <p:spTree>
      <p:nvGrpSpPr>
        <p:cNvPr id="1" name="Shape 60"/>
        <p:cNvGrpSpPr/>
        <p:nvPr/>
      </p:nvGrpSpPr>
      <p:grpSpPr>
        <a:xfrm>
          <a:off x="0" y="0"/>
          <a:ext cx="0" cy="0"/>
          <a:chOff x="0" y="0"/>
          <a:chExt cx="0" cy="0"/>
        </a:xfrm>
      </p:grpSpPr>
      <p:pic>
        <p:nvPicPr>
          <p:cNvPr id="61" name="Google Shape;61;p21"/>
          <p:cNvPicPr preferRelativeResize="0"/>
          <p:nvPr/>
        </p:nvPicPr>
        <p:blipFill rotWithShape="1">
          <a:blip r:embed="rId2">
            <a:alphaModFix/>
          </a:blip>
          <a:srcRect/>
          <a:stretch/>
        </p:blipFill>
        <p:spPr>
          <a:xfrm>
            <a:off x="-15089" y="0"/>
            <a:ext cx="12222179" cy="6858000"/>
          </a:xfrm>
          <a:prstGeom prst="rect">
            <a:avLst/>
          </a:prstGeom>
          <a:noFill/>
          <a:ln>
            <a:noFill/>
          </a:ln>
        </p:spPr>
      </p:pic>
      <p:pic>
        <p:nvPicPr>
          <p:cNvPr id="4" name="Graphic 3">
            <a:extLst>
              <a:ext uri="{FF2B5EF4-FFF2-40B4-BE49-F238E27FC236}">
                <a16:creationId xmlns:a16="http://schemas.microsoft.com/office/drawing/2014/main" id="{1BD2A404-4005-F016-A8A5-790A1FBDB8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1" y="238015"/>
            <a:ext cx="5673420" cy="927896"/>
          </a:xfrm>
          <a:prstGeom prst="rect">
            <a:avLst/>
          </a:prstGeom>
        </p:spPr>
      </p:pic>
    </p:spTree>
  </p:cSld>
  <p:clrMapOvr>
    <a:masterClrMapping/>
  </p:clrMapOvr>
</p:sldLayout>
</file>

<file path=ppt/slideMasters/_rels/conference_slideMaster1.xml.rels><?xml version="1.0" encoding="utf-8"?><Relationships xmlns="http://schemas.openxmlformats.org/package/2006/relationships"><Relationship Id="rId8" Type="http://schemas.openxmlformats.org/officeDocument/2006/relationships/slideLayout" Target="../slideLayouts/conference_slideLayout8.xml"/><Relationship Id="rId3" Type="http://schemas.openxmlformats.org/officeDocument/2006/relationships/slideLayout" Target="../slideLayouts/conference_slideLayout3.xml"/><Relationship Id="rId7" Type="http://schemas.openxmlformats.org/officeDocument/2006/relationships/slideLayout" Target="../slideLayouts/conference_slideLayout7.xml"/><Relationship Id="rId2" Type="http://schemas.openxmlformats.org/officeDocument/2006/relationships/slideLayout" Target="../slideLayouts/conference_slideLayout2.xml"/><Relationship Id="rId1" Type="http://schemas.openxmlformats.org/officeDocument/2006/relationships/slideLayout" Target="../slideLayouts/conference_slideLayout1.xml"/><Relationship Id="rId6" Type="http://schemas.openxmlformats.org/officeDocument/2006/relationships/slideLayout" Target="../slideLayouts/conference_slideLayout6.xml"/><Relationship Id="rId11" Type="http://schemas.openxmlformats.org/officeDocument/2006/relationships/theme" Target="../theme/conference_theme1.xml"/><Relationship Id="rId5" Type="http://schemas.openxmlformats.org/officeDocument/2006/relationships/slideLayout" Target="../slideLayouts/conference_slideLayout5.xml"/><Relationship Id="rId10" Type="http://schemas.openxmlformats.org/officeDocument/2006/relationships/slideLayout" Target="../slideLayouts/conference_slideLayout10.xml"/><Relationship Id="rId4" Type="http://schemas.openxmlformats.org/officeDocument/2006/relationships/slideLayout" Target="../slideLayouts/conference_slideLayout4.xml"/><Relationship Id="rId9" Type="http://schemas.openxmlformats.org/officeDocument/2006/relationships/slideLayout" Target="../slideLayouts/conference_slideLayout9.xml"/></Relationships>
</file>

<file path=ppt/slideMasters/conference_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1"/>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accent1"/>
              </a:buClr>
              <a:buSzPts val="3733"/>
              <a:buFont typeface="Arial"/>
              <a:buNone/>
              <a:defRPr sz="3733" b="1" i="0" u="none" strike="noStrike" cap="none">
                <a:solidFill>
                  <a:schemeClr val="accent1"/>
                </a:solidFill>
                <a:latin typeface="Arial"/>
                <a:ea typeface="Arial"/>
                <a:cs typeface="Arial"/>
                <a:sym typeface="Arial"/>
              </a:defRPr>
            </a:lvl1pPr>
            <a:lvl2pPr marR="0" lvl="1"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2pPr>
            <a:lvl3pPr marR="0" lvl="2"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3pPr>
            <a:lvl4pPr marR="0" lvl="3"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4pPr>
            <a:lvl5pPr marR="0" lvl="4"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5pPr>
            <a:lvl6pPr marR="0" lvl="5"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9pPr>
          </a:lstStyle>
          <a:p>
            <a:endParaRPr/>
          </a:p>
        </p:txBody>
      </p:sp>
      <p:sp>
        <p:nvSpPr>
          <p:cNvPr id="7" name="Google Shape;7;p11"/>
          <p:cNvSpPr txBox="1">
            <a:spLocks noGrp="1"/>
          </p:cNvSpPr>
          <p:nvPr>
            <p:ph type="body" idx="1"/>
          </p:nvPr>
        </p:nvSpPr>
        <p:spPr>
          <a:xfrm>
            <a:off x="415600" y="1536633"/>
            <a:ext cx="11360800" cy="4555200"/>
          </a:xfrm>
          <a:prstGeom prst="rect">
            <a:avLst/>
          </a:prstGeom>
          <a:noFill/>
          <a:ln>
            <a:noFill/>
          </a:ln>
        </p:spPr>
        <p:txBody>
          <a:bodyPr spcFirstLastPara="1" wrap="square" lIns="0" tIns="0" rIns="0" bIns="0" anchor="t" anchorCtr="0">
            <a:noAutofit/>
          </a:bodyPr>
          <a:lstStyle>
            <a:lvl1pPr marL="609600" marR="0" lvl="0" indent="-457200" algn="l" rtl="0">
              <a:lnSpc>
                <a:spcPct val="115000"/>
              </a:lnSpc>
              <a:spcBef>
                <a:spcPts val="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1pPr>
            <a:lvl2pPr marL="1219200" marR="0" lvl="1"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2pPr>
            <a:lvl3pPr marL="1828800" marR="0" lvl="2"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3pPr>
            <a:lvl4pPr marL="2438400" marR="0" lvl="3"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4pPr>
            <a:lvl5pPr marL="3048000" marR="0" lvl="4"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5pPr>
            <a:lvl6pPr marL="3657600" marR="0" lvl="5"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6pPr>
            <a:lvl7pPr marL="4267200" marR="0" lvl="6"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7pPr>
            <a:lvl8pPr marL="4876800" marR="0" lvl="7"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8pPr>
            <a:lvl9pPr marL="5486400" marR="0" lvl="8"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9pPr>
          </a:lstStyle>
          <a:p>
            <a:endParaRPr/>
          </a:p>
        </p:txBody>
      </p:sp>
      <p:sp>
        <p:nvSpPr>
          <p:cNvPr id="8" name="Google Shape;8;p11"/>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conference_slideLayout2.xml"/><Relationship Id="rId4"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2" Type="http://schemas.openxmlformats.org/officeDocument/2006/relationships/hyperlink" Target="https://www.runatlantis.io/" TargetMode="External"/><Relationship Id="rId3" Type="http://schemas.openxmlformats.org/officeDocument/2006/relationships/hyperlink" Target="https://www.runatlantis.io/" TargetMode="External"/><Relationship Id="rId4" Type="http://schemas.openxmlformats.org/officeDocument/2006/relationships/hyperlink" Target="https://github.com/runatlantis/atlantis" TargetMode="External"/><Relationship Id="rId1" Type="http://schemas.openxmlformats.org/officeDocument/2006/relationships/image" Target="../media/image-5-1.png"/><Relationship Id="rId5" Type="http://schemas.openxmlformats.org/officeDocument/2006/relationships/slideLayout" Target="../slideLayouts/conference_slideLayout5.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66928" y="1389888"/>
            <a:ext cx="8229600" cy="329184"/>
          </a:xfrm>
          <a:prstGeom prst="rect">
            <a:avLst/>
          </a:prstGeom>
          <a:noFill/>
          <a:ln/>
        </p:spPr>
        <p:txBody>
          <a:bodyPr wrap="square" lIns="0" tIns="0" rIns="0" bIns="0" rtlCol="0" anchor="ctr"/>
          <a:lstStyle/>
          <a:p>
            <a:pPr indent="0" marL="0">
              <a:buNone/>
            </a:pPr>
            <a:r>
              <a:rPr lang="en-US" sz="1800" b="1" spc="100" kern="0" dirty="0">
                <a:solidFill>
                  <a:srgbClr val="FFFFFF"/>
                </a:solidFill>
                <a:latin typeface="Arial" pitchFamily="34" charset="0"/>
                <a:ea typeface="Arial" pitchFamily="34" charset="-122"/>
                <a:cs typeface="Arial" pitchFamily="34" charset="-120"/>
              </a:rPr>
              <a:t>PROJECT LIGHTNING TALK:</a:t>
            </a:r>
            <a:endParaRPr lang="en-US" sz="1800" dirty="0"/>
          </a:p>
        </p:txBody>
      </p:sp>
      <p:sp>
        <p:nvSpPr>
          <p:cNvPr id="3" name="Text 1"/>
          <p:cNvSpPr/>
          <p:nvPr/>
        </p:nvSpPr>
        <p:spPr>
          <a:xfrm>
            <a:off x="566928" y="1856232"/>
            <a:ext cx="7955280" cy="886968"/>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Atlantis:</a:t>
            </a:r>
            <a:endParaRPr lang="en-US" sz="6000" dirty="0"/>
          </a:p>
        </p:txBody>
      </p:sp>
      <p:pic>
        <p:nvPicPr>
          <p:cNvPr id="4" name="Image 0" descr="Official Atlantis project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858000" y="1563624"/>
            <a:ext cx="1143000" cy="1143000"/>
          </a:xfrm>
          <a:prstGeom prst="rect">
            <a:avLst/>
          </a:prstGeom>
        </p:spPr>
      </p:pic>
      <p:sp>
        <p:nvSpPr>
          <p:cNvPr id="5" name="Text 2"/>
          <p:cNvSpPr/>
          <p:nvPr/>
        </p:nvSpPr>
        <p:spPr>
          <a:xfrm>
            <a:off x="566928" y="2898648"/>
            <a:ext cx="8229600" cy="1024128"/>
          </a:xfrm>
          <a:prstGeom prst="rect">
            <a:avLst/>
          </a:prstGeom>
          <a:noFill/>
          <a:ln/>
        </p:spPr>
        <p:txBody>
          <a:bodyPr wrap="square" lIns="0" tIns="0" rIns="0" bIns="0" rtlCol="0" anchor="ctr"/>
          <a:lstStyle/>
          <a:p>
            <a:pPr indent="0" marL="0">
              <a:buNone/>
            </a:pPr>
            <a:r>
              <a:rPr lang="en-US" sz="3100" b="1" dirty="0">
                <a:solidFill>
                  <a:srgbClr val="FFFFFF"/>
                </a:solidFill>
                <a:latin typeface="Arial" pitchFamily="34" charset="0"/>
                <a:ea typeface="Arial" pitchFamily="34" charset="-122"/>
                <a:cs typeface="Arial" pitchFamily="34" charset="-120"/>
              </a:rPr>
              <a:t>Terraform Pull Request Automation</a:t>
            </a:r>
            <a:endParaRPr lang="en-US" sz="3100" dirty="0"/>
          </a:p>
          <a:p>
            <a:pPr indent="0" marL="0">
              <a:buNone/>
            </a:pPr>
            <a:r>
              <a:rPr lang="en-US" sz="3100" b="1" dirty="0">
                <a:solidFill>
                  <a:srgbClr val="FFFFFF"/>
                </a:solidFill>
                <a:latin typeface="Arial" pitchFamily="34" charset="0"/>
                <a:ea typeface="Arial" pitchFamily="34" charset="-122"/>
                <a:cs typeface="Arial" pitchFamily="34" charset="-120"/>
              </a:rPr>
              <a:t>for Cloud Native Teams</a:t>
            </a:r>
            <a:endParaRPr lang="en-US" sz="3100" dirty="0"/>
          </a:p>
        </p:txBody>
      </p:sp>
      <p:sp>
        <p:nvSpPr>
          <p:cNvPr id="6" name="Text 3"/>
          <p:cNvSpPr/>
          <p:nvPr/>
        </p:nvSpPr>
        <p:spPr>
          <a:xfrm>
            <a:off x="566928" y="4197096"/>
            <a:ext cx="8229600" cy="384048"/>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Rui Chen  ·  Atlantis Maintainer</a:t>
            </a:r>
            <a:endParaRPr lang="en-US" sz="2400" dirty="0"/>
          </a:p>
        </p:txBody>
      </p:sp>
      <p:sp>
        <p:nvSpPr>
          <p:cNvPr id="7" name="Text 4"/>
          <p:cNvSpPr/>
          <p:nvPr/>
        </p:nvSpPr>
        <p:spPr>
          <a:xfrm>
            <a:off x="566928" y="4672584"/>
            <a:ext cx="8229600" cy="30175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Shanghai, China  ·  September 8,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THE MENTAL MODEL</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The pull request becomes the workflow.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02</a:t>
            </a:r>
            <a:endParaRPr lang="en-US" sz="1200" dirty="0"/>
          </a:p>
        </p:txBody>
      </p:sp>
      <p:sp>
        <p:nvSpPr>
          <p:cNvPr id="5" name="Shape 3"/>
          <p:cNvSpPr/>
          <p:nvPr/>
        </p:nvSpPr>
        <p:spPr>
          <a:xfrm>
            <a:off x="640080" y="2340864"/>
            <a:ext cx="3657600" cy="1188720"/>
          </a:xfrm>
          <a:prstGeom prst="rect">
            <a:avLst/>
          </a:prstGeom>
          <a:solidFill>
            <a:srgbClr val="EAF1F3"/>
          </a:solidFill>
          <a:ln w="12700">
            <a:solidFill>
              <a:srgbClr val="EAF1F3"/>
            </a:solidFill>
            <a:prstDash val="solid"/>
          </a:ln>
        </p:spPr>
      </p:sp>
      <p:sp>
        <p:nvSpPr>
          <p:cNvPr id="6" name="Text 4"/>
          <p:cNvSpPr/>
          <p:nvPr/>
        </p:nvSpPr>
        <p:spPr>
          <a:xfrm>
            <a:off x="841248" y="2478024"/>
            <a:ext cx="325526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Git pull request</a:t>
            </a:r>
            <a:endParaRPr lang="en-US" sz="2700" dirty="0"/>
          </a:p>
        </p:txBody>
      </p:sp>
      <p:sp>
        <p:nvSpPr>
          <p:cNvPr id="7" name="Text 5"/>
          <p:cNvSpPr/>
          <p:nvPr/>
        </p:nvSpPr>
        <p:spPr>
          <a:xfrm>
            <a:off x="841248" y="2962656"/>
            <a:ext cx="325526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Developer opens a change</a:t>
            </a:r>
            <a:endParaRPr lang="en-US" sz="1900" dirty="0"/>
          </a:p>
        </p:txBody>
      </p:sp>
      <p:sp>
        <p:nvSpPr>
          <p:cNvPr id="8" name="Shape 6"/>
          <p:cNvSpPr/>
          <p:nvPr/>
        </p:nvSpPr>
        <p:spPr>
          <a:xfrm>
            <a:off x="7315200" y="2340864"/>
            <a:ext cx="4206240" cy="1188720"/>
          </a:xfrm>
          <a:prstGeom prst="rect">
            <a:avLst/>
          </a:prstGeom>
          <a:solidFill>
            <a:srgbClr val="EAF1F3"/>
          </a:solidFill>
          <a:ln w="12700">
            <a:solidFill>
              <a:srgbClr val="EAF1F3"/>
            </a:solidFill>
            <a:prstDash val="solid"/>
          </a:ln>
        </p:spPr>
      </p:sp>
      <p:sp>
        <p:nvSpPr>
          <p:cNvPr id="9" name="Text 7"/>
          <p:cNvSpPr/>
          <p:nvPr/>
        </p:nvSpPr>
        <p:spPr>
          <a:xfrm>
            <a:off x="7516368" y="2478024"/>
            <a:ext cx="38039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Atlantis</a:t>
            </a:r>
            <a:endParaRPr lang="en-US" sz="2700" dirty="0"/>
          </a:p>
        </p:txBody>
      </p:sp>
      <p:sp>
        <p:nvSpPr>
          <p:cNvPr id="10" name="Text 8"/>
          <p:cNvSpPr/>
          <p:nvPr/>
        </p:nvSpPr>
        <p:spPr>
          <a:xfrm>
            <a:off x="7516368" y="2962656"/>
            <a:ext cx="380390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Runs Terraform / OpenTofu</a:t>
            </a:r>
            <a:endParaRPr lang="en-US" sz="1900" dirty="0"/>
          </a:p>
        </p:txBody>
      </p:sp>
      <p:sp>
        <p:nvSpPr>
          <p:cNvPr id="11" name="Shape 9"/>
          <p:cNvSpPr/>
          <p:nvPr/>
        </p:nvSpPr>
        <p:spPr>
          <a:xfrm>
            <a:off x="4416552" y="2651760"/>
            <a:ext cx="2743200" cy="0"/>
          </a:xfrm>
          <a:prstGeom prst="line">
            <a:avLst/>
          </a:prstGeom>
          <a:noFill/>
          <a:ln w="25400">
            <a:solidFill>
              <a:srgbClr val="086679"/>
            </a:solidFill>
            <a:prstDash val="solid"/>
            <a:headEnd type="none"/>
            <a:tailEnd type="triangle"/>
          </a:ln>
        </p:spPr>
      </p:sp>
      <p:sp>
        <p:nvSpPr>
          <p:cNvPr id="12" name="Text 10"/>
          <p:cNvSpPr/>
          <p:nvPr/>
        </p:nvSpPr>
        <p:spPr>
          <a:xfrm>
            <a:off x="4498848" y="2194560"/>
            <a:ext cx="2697480" cy="365760"/>
          </a:xfrm>
          <a:prstGeom prst="rect">
            <a:avLst/>
          </a:prstGeom>
          <a:noFill/>
          <a:ln/>
        </p:spPr>
        <p:txBody>
          <a:bodyPr wrap="square" lIns="0" tIns="0" rIns="0" bIns="0" rtlCol="0" anchor="ctr"/>
          <a:lstStyle/>
          <a:p>
            <a:pPr algn="ctr" indent="0" marL="0">
              <a:buNone/>
            </a:pPr>
            <a:r>
              <a:rPr lang="en-US" sz="2000" dirty="0">
                <a:solidFill>
                  <a:srgbClr val="086679"/>
                </a:solidFill>
                <a:latin typeface="Arial" pitchFamily="34" charset="0"/>
                <a:ea typeface="Arial" pitchFamily="34" charset="-122"/>
                <a:cs typeface="Arial" pitchFamily="34" charset="-120"/>
              </a:rPr>
              <a:t>1  Webhook → plan</a:t>
            </a:r>
            <a:endParaRPr lang="en-US" sz="2000" dirty="0"/>
          </a:p>
        </p:txBody>
      </p:sp>
      <p:sp>
        <p:nvSpPr>
          <p:cNvPr id="13" name="Shape 11"/>
          <p:cNvSpPr/>
          <p:nvPr/>
        </p:nvSpPr>
        <p:spPr>
          <a:xfrm>
            <a:off x="7150608" y="3255264"/>
            <a:ext cx="-2743200" cy="0"/>
          </a:xfrm>
          <a:prstGeom prst="line">
            <a:avLst/>
          </a:prstGeom>
          <a:noFill/>
          <a:ln w="25400">
            <a:solidFill>
              <a:srgbClr val="086679"/>
            </a:solidFill>
            <a:prstDash val="solid"/>
            <a:headEnd type="none"/>
            <a:tailEnd type="triangle"/>
          </a:ln>
        </p:spPr>
      </p:sp>
      <p:sp>
        <p:nvSpPr>
          <p:cNvPr id="14" name="Text 12"/>
          <p:cNvSpPr/>
          <p:nvPr/>
        </p:nvSpPr>
        <p:spPr>
          <a:xfrm>
            <a:off x="4526280" y="3410712"/>
            <a:ext cx="2651760" cy="365760"/>
          </a:xfrm>
          <a:prstGeom prst="rect">
            <a:avLst/>
          </a:prstGeom>
          <a:noFill/>
          <a:ln/>
        </p:spPr>
        <p:txBody>
          <a:bodyPr wrap="square" lIns="0" tIns="0" rIns="0" bIns="0" rtlCol="0" anchor="ctr"/>
          <a:lstStyle/>
          <a:p>
            <a:pPr algn="ctr" indent="0" marL="0">
              <a:buNone/>
            </a:pPr>
            <a:r>
              <a:rPr lang="en-US" sz="2000" dirty="0">
                <a:solidFill>
                  <a:srgbClr val="086679"/>
                </a:solidFill>
                <a:latin typeface="Arial" pitchFamily="34" charset="0"/>
                <a:ea typeface="Arial" pitchFamily="34" charset="-122"/>
                <a:cs typeface="Arial" pitchFamily="34" charset="-120"/>
              </a:rPr>
              <a:t>2  Plan in PR</a:t>
            </a:r>
            <a:endParaRPr lang="en-US" sz="2000" dirty="0"/>
          </a:p>
        </p:txBody>
      </p:sp>
      <p:sp>
        <p:nvSpPr>
          <p:cNvPr id="15" name="Shape 13"/>
          <p:cNvSpPr/>
          <p:nvPr/>
        </p:nvSpPr>
        <p:spPr>
          <a:xfrm>
            <a:off x="640080" y="4069080"/>
            <a:ext cx="5989320" cy="1078992"/>
          </a:xfrm>
          <a:prstGeom prst="rect">
            <a:avLst/>
          </a:prstGeom>
          <a:solidFill>
            <a:srgbClr val="EAF1F3"/>
          </a:solidFill>
          <a:ln w="12700">
            <a:solidFill>
              <a:srgbClr val="EAF1F3"/>
            </a:solidFill>
            <a:prstDash val="solid"/>
          </a:ln>
        </p:spPr>
      </p:sp>
      <p:sp>
        <p:nvSpPr>
          <p:cNvPr id="16" name="Text 14"/>
          <p:cNvSpPr/>
          <p:nvPr/>
        </p:nvSpPr>
        <p:spPr>
          <a:xfrm>
            <a:off x="841248" y="4233672"/>
            <a:ext cx="5605272" cy="658368"/>
          </a:xfrm>
          <a:prstGeom prst="rect">
            <a:avLst/>
          </a:prstGeom>
          <a:noFill/>
          <a:ln/>
        </p:spPr>
        <p:txBody>
          <a:bodyPr wrap="square" lIns="0" tIns="0" rIns="0" bIns="0" rtlCol="0" anchor="ctr"/>
          <a:lstStyle/>
          <a:p>
            <a:pPr indent="0" marL="0">
              <a:buNone/>
            </a:pPr>
            <a:r>
              <a:rPr lang="en-US" sz="2500" b="1" dirty="0">
                <a:solidFill>
                  <a:srgbClr val="083E4F"/>
                </a:solidFill>
                <a:latin typeface="Arial" pitchFamily="34" charset="0"/>
                <a:ea typeface="Arial" pitchFamily="34" charset="-122"/>
                <a:cs typeface="Arial" pitchFamily="34" charset="-120"/>
              </a:rPr>
              <a:t>3  Review → approve</a:t>
            </a:r>
            <a:endParaRPr lang="en-US" sz="2500" dirty="0"/>
          </a:p>
          <a:p>
            <a:pPr indent="0" marL="0">
              <a:buNone/>
            </a:pPr>
            <a:r>
              <a:rPr lang="en-US" sz="2500" b="1" dirty="0">
                <a:solidFill>
                  <a:srgbClr val="083E4F"/>
                </a:solidFill>
                <a:latin typeface="Arial" pitchFamily="34" charset="0"/>
                <a:ea typeface="Arial" pitchFamily="34" charset="-122"/>
                <a:cs typeface="Arial" pitchFamily="34" charset="-120"/>
              </a:rPr>
              <a:t>Comment: atlantis apply</a:t>
            </a:r>
            <a:endParaRPr lang="en-US" sz="2500" dirty="0"/>
          </a:p>
        </p:txBody>
      </p:sp>
      <p:sp>
        <p:nvSpPr>
          <p:cNvPr id="17" name="Shape 15"/>
          <p:cNvSpPr/>
          <p:nvPr/>
        </p:nvSpPr>
        <p:spPr>
          <a:xfrm>
            <a:off x="6757416" y="4608576"/>
            <a:ext cx="914400" cy="0"/>
          </a:xfrm>
          <a:prstGeom prst="line">
            <a:avLst/>
          </a:prstGeom>
          <a:noFill/>
          <a:ln w="25400">
            <a:solidFill>
              <a:srgbClr val="086679"/>
            </a:solidFill>
            <a:prstDash val="solid"/>
            <a:headEnd type="none"/>
            <a:tailEnd type="none"/>
          </a:ln>
        </p:spPr>
      </p:sp>
      <p:sp>
        <p:nvSpPr>
          <p:cNvPr id="18" name="Shape 16"/>
          <p:cNvSpPr/>
          <p:nvPr/>
        </p:nvSpPr>
        <p:spPr>
          <a:xfrm>
            <a:off x="7680960" y="4608576"/>
            <a:ext cx="0" cy="-868680"/>
          </a:xfrm>
          <a:prstGeom prst="line">
            <a:avLst/>
          </a:prstGeom>
          <a:noFill/>
          <a:ln w="25400">
            <a:solidFill>
              <a:srgbClr val="086679"/>
            </a:solidFill>
            <a:prstDash val="solid"/>
            <a:headEnd type="none"/>
            <a:tailEnd type="triangle"/>
          </a:ln>
        </p:spPr>
      </p:sp>
      <p:sp>
        <p:nvSpPr>
          <p:cNvPr id="19" name="Shape 17"/>
          <p:cNvSpPr/>
          <p:nvPr/>
        </p:nvSpPr>
        <p:spPr>
          <a:xfrm>
            <a:off x="9464040" y="3648456"/>
            <a:ext cx="0" cy="1133856"/>
          </a:xfrm>
          <a:prstGeom prst="line">
            <a:avLst/>
          </a:prstGeom>
          <a:noFill/>
          <a:ln w="25400">
            <a:solidFill>
              <a:srgbClr val="086679"/>
            </a:solidFill>
            <a:prstDash val="solid"/>
            <a:headEnd type="none"/>
            <a:tailEnd type="triangle"/>
          </a:ln>
        </p:spPr>
      </p:sp>
      <p:sp>
        <p:nvSpPr>
          <p:cNvPr id="20" name="Text 18"/>
          <p:cNvSpPr/>
          <p:nvPr/>
        </p:nvSpPr>
        <p:spPr>
          <a:xfrm>
            <a:off x="9665208" y="4160520"/>
            <a:ext cx="1737360" cy="384048"/>
          </a:xfrm>
          <a:prstGeom prst="rect">
            <a:avLst/>
          </a:prstGeom>
          <a:noFill/>
          <a:ln/>
        </p:spPr>
        <p:txBody>
          <a:bodyPr wrap="square" lIns="0" tIns="0" rIns="0" bIns="0" rtlCol="0" anchor="ctr"/>
          <a:lstStyle/>
          <a:p>
            <a:pPr indent="0" marL="0">
              <a:buNone/>
            </a:pPr>
            <a:r>
              <a:rPr lang="en-US" sz="2200" dirty="0">
                <a:solidFill>
                  <a:srgbClr val="086679"/>
                </a:solidFill>
                <a:latin typeface="Arial" pitchFamily="34" charset="0"/>
                <a:ea typeface="Arial" pitchFamily="34" charset="-122"/>
                <a:cs typeface="Arial" pitchFamily="34" charset="-120"/>
              </a:rPr>
              <a:t>4  Apply</a:t>
            </a:r>
            <a:endParaRPr lang="en-US" sz="2200" dirty="0"/>
          </a:p>
        </p:txBody>
      </p:sp>
      <p:sp>
        <p:nvSpPr>
          <p:cNvPr id="21" name="Shape 19"/>
          <p:cNvSpPr/>
          <p:nvPr/>
        </p:nvSpPr>
        <p:spPr>
          <a:xfrm>
            <a:off x="7315200" y="4928616"/>
            <a:ext cx="4206240" cy="1060704"/>
          </a:xfrm>
          <a:prstGeom prst="rect">
            <a:avLst/>
          </a:prstGeom>
          <a:solidFill>
            <a:srgbClr val="EAF1F3"/>
          </a:solidFill>
          <a:ln w="12700">
            <a:solidFill>
              <a:srgbClr val="EAF1F3"/>
            </a:solidFill>
            <a:prstDash val="solid"/>
          </a:ln>
        </p:spPr>
      </p:sp>
      <p:sp>
        <p:nvSpPr>
          <p:cNvPr id="22" name="Text 20"/>
          <p:cNvSpPr/>
          <p:nvPr/>
        </p:nvSpPr>
        <p:spPr>
          <a:xfrm>
            <a:off x="7516368" y="5065776"/>
            <a:ext cx="38039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Cloud infrastructure</a:t>
            </a:r>
            <a:endParaRPr lang="en-US" sz="2700" dirty="0"/>
          </a:p>
        </p:txBody>
      </p:sp>
      <p:sp>
        <p:nvSpPr>
          <p:cNvPr id="23" name="Text 21"/>
          <p:cNvSpPr/>
          <p:nvPr/>
        </p:nvSpPr>
        <p:spPr>
          <a:xfrm>
            <a:off x="7516368" y="5550408"/>
            <a:ext cx="380390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Provider APIs</a:t>
            </a:r>
            <a:endParaRPr lang="en-US" sz="1900" dirty="0"/>
          </a:p>
        </p:txBody>
      </p:sp>
      <p:sp>
        <p:nvSpPr>
          <p:cNvPr id="24" name="Text 22"/>
          <p:cNvSpPr/>
          <p:nvPr/>
        </p:nvSpPr>
        <p:spPr>
          <a:xfrm>
            <a:off x="640080" y="5486400"/>
            <a:ext cx="5943600" cy="384048"/>
          </a:xfrm>
          <a:prstGeom prst="rect">
            <a:avLst/>
          </a:prstGeom>
          <a:noFill/>
          <a:ln/>
        </p:spPr>
        <p:txBody>
          <a:bodyPr wrap="square" lIns="0" tIns="0" rIns="0" bIns="0" rtlCol="0" anchor="ctr"/>
          <a:lstStyle/>
          <a:p>
            <a:pPr indent="0" marL="0">
              <a:buNone/>
            </a:pPr>
            <a:r>
              <a:rPr lang="en-US" sz="2300" dirty="0">
                <a:solidFill>
                  <a:srgbClr val="405965"/>
                </a:solidFill>
                <a:latin typeface="Arial" pitchFamily="34" charset="0"/>
                <a:ea typeface="Arial" pitchFamily="34" charset="-122"/>
                <a:cs typeface="Arial" pitchFamily="34" charset="-120"/>
              </a:rPr>
              <a:t>Self-hosted service. Review stays in Git.</a:t>
            </a:r>
            <a:endParaRPr lang="en-US" sz="2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ENGINEER EXPERIENCE</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One change. One PR conversation.</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03</a:t>
            </a:r>
            <a:endParaRPr lang="en-US" sz="1200" dirty="0"/>
          </a:p>
        </p:txBody>
      </p:sp>
      <p:sp>
        <p:nvSpPr>
          <p:cNvPr id="5" name="Shape 3"/>
          <p:cNvSpPr/>
          <p:nvPr/>
        </p:nvSpPr>
        <p:spPr>
          <a:xfrm>
            <a:off x="658368" y="2148840"/>
            <a:ext cx="10881360" cy="3657600"/>
          </a:xfrm>
          <a:prstGeom prst="rect">
            <a:avLst/>
          </a:prstGeom>
          <a:solidFill>
            <a:srgbClr val="EAF1F3"/>
          </a:solidFill>
          <a:ln w="12700">
            <a:solidFill>
              <a:srgbClr val="EAF1F3"/>
            </a:solidFill>
            <a:prstDash val="solid"/>
          </a:ln>
        </p:spPr>
      </p:sp>
      <p:sp>
        <p:nvSpPr>
          <p:cNvPr id="6" name="Text 4"/>
          <p:cNvSpPr/>
          <p:nvPr/>
        </p:nvSpPr>
        <p:spPr>
          <a:xfrm>
            <a:off x="932688" y="2377440"/>
            <a:ext cx="9966960" cy="384048"/>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infra: resize production database</a:t>
            </a:r>
            <a:endParaRPr lang="en-US" sz="2700" dirty="0"/>
          </a:p>
        </p:txBody>
      </p:sp>
      <p:sp>
        <p:nvSpPr>
          <p:cNvPr id="7" name="Shape 5"/>
          <p:cNvSpPr/>
          <p:nvPr/>
        </p:nvSpPr>
        <p:spPr>
          <a:xfrm>
            <a:off x="932688" y="2971800"/>
            <a:ext cx="10287000" cy="0"/>
          </a:xfrm>
          <a:prstGeom prst="line">
            <a:avLst/>
          </a:prstGeom>
          <a:noFill/>
          <a:ln w="25400">
            <a:solidFill>
              <a:srgbClr val="A6BAC1"/>
            </a:solidFill>
            <a:prstDash val="solid"/>
            <a:headEnd type="none"/>
            <a:tailEnd type="none"/>
          </a:ln>
        </p:spPr>
      </p:sp>
      <p:sp>
        <p:nvSpPr>
          <p:cNvPr id="8" name="Text 6"/>
          <p:cNvSpPr/>
          <p:nvPr/>
        </p:nvSpPr>
        <p:spPr>
          <a:xfrm>
            <a:off x="950976" y="321868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Atlantis</a:t>
            </a:r>
            <a:endParaRPr lang="en-US" sz="2100" dirty="0"/>
          </a:p>
        </p:txBody>
      </p:sp>
      <p:sp>
        <p:nvSpPr>
          <p:cNvPr id="9" name="Text 7"/>
          <p:cNvSpPr/>
          <p:nvPr/>
        </p:nvSpPr>
        <p:spPr>
          <a:xfrm>
            <a:off x="2743200" y="3218688"/>
            <a:ext cx="8412480" cy="365760"/>
          </a:xfrm>
          <a:prstGeom prst="rect">
            <a:avLst/>
          </a:prstGeom>
          <a:noFill/>
          <a:ln/>
        </p:spPr>
        <p:txBody>
          <a:bodyPr wrap="square" lIns="0" tIns="0" rIns="0" bIns="0" rtlCol="0" anchor="ctr"/>
          <a:lstStyle/>
          <a:p>
            <a:pPr indent="0" marL="0">
              <a:buNone/>
            </a:pPr>
            <a:r>
              <a:rPr lang="en-US" sz="2500" b="1" dirty="0">
                <a:solidFill>
                  <a:srgbClr val="086679"/>
                </a:solidFill>
                <a:latin typeface="Arial" pitchFamily="34" charset="0"/>
                <a:ea typeface="Arial" pitchFamily="34" charset="-122"/>
                <a:cs typeface="Arial" pitchFamily="34" charset="-120"/>
              </a:rPr>
              <a:t>Plan: 0 to add, 1 to change, 0 to destroy</a:t>
            </a:r>
            <a:endParaRPr lang="en-US" sz="2500" dirty="0"/>
          </a:p>
        </p:txBody>
      </p:sp>
      <p:sp>
        <p:nvSpPr>
          <p:cNvPr id="10" name="Text 8"/>
          <p:cNvSpPr/>
          <p:nvPr/>
        </p:nvSpPr>
        <p:spPr>
          <a:xfrm>
            <a:off x="950976" y="381304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Reviewer</a:t>
            </a:r>
            <a:endParaRPr lang="en-US" sz="2100" dirty="0"/>
          </a:p>
        </p:txBody>
      </p:sp>
      <p:sp>
        <p:nvSpPr>
          <p:cNvPr id="11" name="Text 9"/>
          <p:cNvSpPr/>
          <p:nvPr/>
        </p:nvSpPr>
        <p:spPr>
          <a:xfrm>
            <a:off x="2743200" y="3813048"/>
            <a:ext cx="8412480" cy="36576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Approved</a:t>
            </a:r>
            <a:endParaRPr lang="en-US" sz="2500" dirty="0"/>
          </a:p>
        </p:txBody>
      </p:sp>
      <p:sp>
        <p:nvSpPr>
          <p:cNvPr id="12" name="Text 10"/>
          <p:cNvSpPr/>
          <p:nvPr/>
        </p:nvSpPr>
        <p:spPr>
          <a:xfrm>
            <a:off x="950976" y="440740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Rui</a:t>
            </a:r>
            <a:endParaRPr lang="en-US" sz="2100" dirty="0"/>
          </a:p>
        </p:txBody>
      </p:sp>
      <p:sp>
        <p:nvSpPr>
          <p:cNvPr id="13" name="Text 11"/>
          <p:cNvSpPr/>
          <p:nvPr/>
        </p:nvSpPr>
        <p:spPr>
          <a:xfrm>
            <a:off x="2743200" y="4407408"/>
            <a:ext cx="8412480" cy="365760"/>
          </a:xfrm>
          <a:prstGeom prst="rect">
            <a:avLst/>
          </a:prstGeom>
          <a:noFill/>
          <a:ln/>
        </p:spPr>
        <p:txBody>
          <a:bodyPr wrap="square" lIns="0" tIns="0" rIns="0" bIns="0" rtlCol="0" anchor="ctr"/>
          <a:lstStyle/>
          <a:p>
            <a:pPr indent="0" marL="0">
              <a:buNone/>
            </a:pPr>
            <a:r>
              <a:rPr lang="en-US" sz="2500" b="1" dirty="0">
                <a:solidFill>
                  <a:srgbClr val="086679"/>
                </a:solidFill>
                <a:latin typeface="Arial" pitchFamily="34" charset="0"/>
                <a:ea typeface="Arial" pitchFamily="34" charset="-122"/>
                <a:cs typeface="Arial" pitchFamily="34" charset="-120"/>
              </a:rPr>
              <a:t>atlantis apply</a:t>
            </a:r>
            <a:endParaRPr lang="en-US" sz="2500" dirty="0"/>
          </a:p>
        </p:txBody>
      </p:sp>
      <p:sp>
        <p:nvSpPr>
          <p:cNvPr id="14" name="Text 12"/>
          <p:cNvSpPr/>
          <p:nvPr/>
        </p:nvSpPr>
        <p:spPr>
          <a:xfrm>
            <a:off x="950976" y="500176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Atlantis</a:t>
            </a:r>
            <a:endParaRPr lang="en-US" sz="2100" dirty="0"/>
          </a:p>
        </p:txBody>
      </p:sp>
      <p:sp>
        <p:nvSpPr>
          <p:cNvPr id="15" name="Text 13"/>
          <p:cNvSpPr/>
          <p:nvPr/>
        </p:nvSpPr>
        <p:spPr>
          <a:xfrm>
            <a:off x="2743200" y="5001768"/>
            <a:ext cx="8412480" cy="36576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Apply complete.</a:t>
            </a:r>
            <a:endParaRPr lang="en-US" sz="2500" dirty="0"/>
          </a:p>
        </p:txBody>
      </p:sp>
      <p:sp>
        <p:nvSpPr>
          <p:cNvPr id="16" name="Text 14"/>
          <p:cNvSpPr/>
          <p:nvPr/>
        </p:nvSpPr>
        <p:spPr>
          <a:xfrm>
            <a:off x="932688" y="5504688"/>
            <a:ext cx="10332720" cy="274320"/>
          </a:xfrm>
          <a:prstGeom prst="rect">
            <a:avLst/>
          </a:prstGeom>
          <a:noFill/>
          <a:ln/>
        </p:spPr>
        <p:txBody>
          <a:bodyPr wrap="square" lIns="0" tIns="0" rIns="0" bIns="0" rtlCol="0" anchor="ctr"/>
          <a:lstStyle/>
          <a:p>
            <a:pPr indent="0" marL="0">
              <a:buNone/>
            </a:pPr>
            <a:r>
              <a:rPr lang="en-US" sz="1800" dirty="0">
                <a:solidFill>
                  <a:srgbClr val="405965"/>
                </a:solidFill>
                <a:latin typeface="Arial" pitchFamily="34" charset="0"/>
                <a:ea typeface="Arial" pitchFamily="34" charset="-122"/>
                <a:cs typeface="Arial" pitchFamily="34" charset="-120"/>
              </a:rPr>
              <a:t>Illustrative PR · approval requirement configured · apply before merge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WHY PLATFORM TEAMS CHOOSE IT</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A shared workflow. A platform you control.</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04</a:t>
            </a:r>
            <a:endParaRPr lang="en-US" sz="1200" dirty="0"/>
          </a:p>
        </p:txBody>
      </p:sp>
      <p:sp>
        <p:nvSpPr>
          <p:cNvPr id="5" name="Shape 3"/>
          <p:cNvSpPr/>
          <p:nvPr/>
        </p:nvSpPr>
        <p:spPr>
          <a:xfrm>
            <a:off x="640080" y="2395728"/>
            <a:ext cx="3493008" cy="2267712"/>
          </a:xfrm>
          <a:prstGeom prst="rect">
            <a:avLst/>
          </a:prstGeom>
          <a:solidFill>
            <a:srgbClr val="EAF1F3"/>
          </a:solidFill>
          <a:ln w="12700">
            <a:solidFill>
              <a:srgbClr val="EAF1F3"/>
            </a:solidFill>
            <a:prstDash val="solid"/>
          </a:ln>
        </p:spPr>
      </p:sp>
      <p:sp>
        <p:nvSpPr>
          <p:cNvPr id="6" name="Text 4"/>
          <p:cNvSpPr/>
          <p:nvPr/>
        </p:nvSpPr>
        <p:spPr>
          <a:xfrm>
            <a:off x="850392" y="2606040"/>
            <a:ext cx="2743200" cy="347472"/>
          </a:xfrm>
          <a:prstGeom prst="rect">
            <a:avLst/>
          </a:prstGeom>
          <a:noFill/>
          <a:ln/>
        </p:spPr>
        <p:txBody>
          <a:bodyPr wrap="square" lIns="0" tIns="0" rIns="0" bIns="0" rtlCol="0" anchor="ctr"/>
          <a:lstStyle/>
          <a:p>
            <a:pPr indent="0" marL="0">
              <a:buNone/>
            </a:pPr>
            <a:r>
              <a:rPr lang="en-US" sz="2000" dirty="0">
                <a:solidFill>
                  <a:srgbClr val="086679"/>
                </a:solidFill>
                <a:latin typeface="Arial" pitchFamily="34" charset="0"/>
                <a:ea typeface="Arial" pitchFamily="34" charset="-122"/>
                <a:cs typeface="Arial" pitchFamily="34" charset="-120"/>
              </a:rPr>
              <a:t>01</a:t>
            </a:r>
            <a:endParaRPr lang="en-US" sz="2000" dirty="0"/>
          </a:p>
        </p:txBody>
      </p:sp>
      <p:sp>
        <p:nvSpPr>
          <p:cNvPr id="7" name="Text 5"/>
          <p:cNvSpPr/>
          <p:nvPr/>
        </p:nvSpPr>
        <p:spPr>
          <a:xfrm>
            <a:off x="850392" y="3182112"/>
            <a:ext cx="3108960" cy="411480"/>
          </a:xfrm>
          <a:prstGeom prst="rect">
            <a:avLst/>
          </a:prstGeom>
          <a:noFill/>
          <a:ln/>
        </p:spPr>
        <p:txBody>
          <a:bodyPr wrap="square" lIns="0" tIns="0" rIns="0" bIns="0" rtlCol="0" anchor="ctr"/>
          <a:lstStyle/>
          <a:p>
            <a:pPr indent="0" marL="0">
              <a:buNone/>
            </a:pPr>
            <a:r>
              <a:rPr lang="en-US" sz="2900" b="1" dirty="0">
                <a:solidFill>
                  <a:srgbClr val="083E4F"/>
                </a:solidFill>
                <a:latin typeface="Arial" pitchFamily="34" charset="0"/>
                <a:ea typeface="Arial" pitchFamily="34" charset="-122"/>
                <a:cs typeface="Arial" pitchFamily="34" charset="-120"/>
              </a:rPr>
              <a:t>Visible</a:t>
            </a:r>
            <a:endParaRPr lang="en-US" sz="2900" dirty="0"/>
          </a:p>
        </p:txBody>
      </p:sp>
      <p:sp>
        <p:nvSpPr>
          <p:cNvPr id="8" name="Text 6"/>
          <p:cNvSpPr/>
          <p:nvPr/>
        </p:nvSpPr>
        <p:spPr>
          <a:xfrm>
            <a:off x="850392" y="3886200"/>
            <a:ext cx="3108960" cy="658368"/>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Plan + execution results</a:t>
            </a:r>
            <a:endParaRPr lang="en-US" sz="2200" dirty="0"/>
          </a:p>
          <a:p>
            <a:pPr indent="0" marL="0">
              <a:buNone/>
            </a:pPr>
            <a:r>
              <a:rPr lang="en-US" sz="2200" dirty="0">
                <a:solidFill>
                  <a:srgbClr val="405965"/>
                </a:solidFill>
                <a:latin typeface="Arial" pitchFamily="34" charset="0"/>
                <a:ea typeface="Arial" pitchFamily="34" charset="-122"/>
                <a:cs typeface="Arial" pitchFamily="34" charset="-120"/>
              </a:rPr>
              <a:t>beside the code review.</a:t>
            </a:r>
            <a:endParaRPr lang="en-US" sz="2200" dirty="0"/>
          </a:p>
        </p:txBody>
      </p:sp>
      <p:sp>
        <p:nvSpPr>
          <p:cNvPr id="9" name="Shape 7"/>
          <p:cNvSpPr/>
          <p:nvPr/>
        </p:nvSpPr>
        <p:spPr>
          <a:xfrm>
            <a:off x="4352544" y="2395728"/>
            <a:ext cx="3493008" cy="2267712"/>
          </a:xfrm>
          <a:prstGeom prst="rect">
            <a:avLst/>
          </a:prstGeom>
          <a:solidFill>
            <a:srgbClr val="EAF1F3"/>
          </a:solidFill>
          <a:ln w="12700">
            <a:solidFill>
              <a:srgbClr val="EAF1F3"/>
            </a:solidFill>
            <a:prstDash val="solid"/>
          </a:ln>
        </p:spPr>
      </p:sp>
      <p:sp>
        <p:nvSpPr>
          <p:cNvPr id="10" name="Text 8"/>
          <p:cNvSpPr/>
          <p:nvPr/>
        </p:nvSpPr>
        <p:spPr>
          <a:xfrm>
            <a:off x="4562856" y="2606040"/>
            <a:ext cx="2743200" cy="347472"/>
          </a:xfrm>
          <a:prstGeom prst="rect">
            <a:avLst/>
          </a:prstGeom>
          <a:noFill/>
          <a:ln/>
        </p:spPr>
        <p:txBody>
          <a:bodyPr wrap="square" lIns="0" tIns="0" rIns="0" bIns="0" rtlCol="0" anchor="ctr"/>
          <a:lstStyle/>
          <a:p>
            <a:pPr indent="0" marL="0">
              <a:buNone/>
            </a:pPr>
            <a:r>
              <a:rPr lang="en-US" sz="2000" dirty="0">
                <a:solidFill>
                  <a:srgbClr val="086679"/>
                </a:solidFill>
                <a:latin typeface="Arial" pitchFamily="34" charset="0"/>
                <a:ea typeface="Arial" pitchFamily="34" charset="-122"/>
                <a:cs typeface="Arial" pitchFamily="34" charset="-120"/>
              </a:rPr>
              <a:t>02</a:t>
            </a:r>
            <a:endParaRPr lang="en-US" sz="2000" dirty="0"/>
          </a:p>
        </p:txBody>
      </p:sp>
      <p:sp>
        <p:nvSpPr>
          <p:cNvPr id="11" name="Text 9"/>
          <p:cNvSpPr/>
          <p:nvPr/>
        </p:nvSpPr>
        <p:spPr>
          <a:xfrm>
            <a:off x="4562856" y="3182112"/>
            <a:ext cx="3108960" cy="411480"/>
          </a:xfrm>
          <a:prstGeom prst="rect">
            <a:avLst/>
          </a:prstGeom>
          <a:noFill/>
          <a:ln/>
        </p:spPr>
        <p:txBody>
          <a:bodyPr wrap="square" lIns="0" tIns="0" rIns="0" bIns="0" rtlCol="0" anchor="ctr"/>
          <a:lstStyle/>
          <a:p>
            <a:pPr indent="0" marL="0">
              <a:buNone/>
            </a:pPr>
            <a:r>
              <a:rPr lang="en-US" sz="2900" b="1" dirty="0">
                <a:solidFill>
                  <a:srgbClr val="083E4F"/>
                </a:solidFill>
                <a:latin typeface="Arial" pitchFamily="34" charset="0"/>
                <a:ea typeface="Arial" pitchFamily="34" charset="-122"/>
                <a:cs typeface="Arial" pitchFamily="34" charset="-120"/>
              </a:rPr>
              <a:t>Controlled</a:t>
            </a:r>
            <a:endParaRPr lang="en-US" sz="2900" dirty="0"/>
          </a:p>
        </p:txBody>
      </p:sp>
      <p:sp>
        <p:nvSpPr>
          <p:cNvPr id="12" name="Text 10"/>
          <p:cNvSpPr/>
          <p:nvPr/>
        </p:nvSpPr>
        <p:spPr>
          <a:xfrm>
            <a:off x="4562856" y="3886200"/>
            <a:ext cx="3108960" cy="658368"/>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Configured approvals,</a:t>
            </a:r>
            <a:endParaRPr lang="en-US" sz="2200" dirty="0"/>
          </a:p>
          <a:p>
            <a:pPr indent="0" marL="0">
              <a:buNone/>
            </a:pPr>
            <a:r>
              <a:rPr lang="en-US" sz="2200" dirty="0">
                <a:solidFill>
                  <a:srgbClr val="405965"/>
                </a:solidFill>
                <a:latin typeface="Arial" pitchFamily="34" charset="0"/>
                <a:ea typeface="Arial" pitchFamily="34" charset="-122"/>
                <a:cs typeface="Arial" pitchFamily="34" charset="-120"/>
              </a:rPr>
              <a:t>policies + project locks.</a:t>
            </a:r>
            <a:endParaRPr lang="en-US" sz="2200" dirty="0"/>
          </a:p>
        </p:txBody>
      </p:sp>
      <p:sp>
        <p:nvSpPr>
          <p:cNvPr id="13" name="Shape 11"/>
          <p:cNvSpPr/>
          <p:nvPr/>
        </p:nvSpPr>
        <p:spPr>
          <a:xfrm>
            <a:off x="8065008" y="2395728"/>
            <a:ext cx="3493008" cy="2267712"/>
          </a:xfrm>
          <a:prstGeom prst="rect">
            <a:avLst/>
          </a:prstGeom>
          <a:solidFill>
            <a:srgbClr val="EAF1F3"/>
          </a:solidFill>
          <a:ln w="12700">
            <a:solidFill>
              <a:srgbClr val="EAF1F3"/>
            </a:solidFill>
            <a:prstDash val="solid"/>
          </a:ln>
        </p:spPr>
      </p:sp>
      <p:sp>
        <p:nvSpPr>
          <p:cNvPr id="14" name="Text 12"/>
          <p:cNvSpPr/>
          <p:nvPr/>
        </p:nvSpPr>
        <p:spPr>
          <a:xfrm>
            <a:off x="8275320" y="2606040"/>
            <a:ext cx="2743200" cy="347472"/>
          </a:xfrm>
          <a:prstGeom prst="rect">
            <a:avLst/>
          </a:prstGeom>
          <a:noFill/>
          <a:ln/>
        </p:spPr>
        <p:txBody>
          <a:bodyPr wrap="square" lIns="0" tIns="0" rIns="0" bIns="0" rtlCol="0" anchor="ctr"/>
          <a:lstStyle/>
          <a:p>
            <a:pPr indent="0" marL="0">
              <a:buNone/>
            </a:pPr>
            <a:r>
              <a:rPr lang="en-US" sz="2000" dirty="0">
                <a:solidFill>
                  <a:srgbClr val="086679"/>
                </a:solidFill>
                <a:latin typeface="Arial" pitchFamily="34" charset="0"/>
                <a:ea typeface="Arial" pitchFamily="34" charset="-122"/>
                <a:cs typeface="Arial" pitchFamily="34" charset="-120"/>
              </a:rPr>
              <a:t>03</a:t>
            </a:r>
            <a:endParaRPr lang="en-US" sz="2000" dirty="0"/>
          </a:p>
        </p:txBody>
      </p:sp>
      <p:sp>
        <p:nvSpPr>
          <p:cNvPr id="15" name="Text 13"/>
          <p:cNvSpPr/>
          <p:nvPr/>
        </p:nvSpPr>
        <p:spPr>
          <a:xfrm>
            <a:off x="8275320" y="3182112"/>
            <a:ext cx="3108960" cy="411480"/>
          </a:xfrm>
          <a:prstGeom prst="rect">
            <a:avLst/>
          </a:prstGeom>
          <a:noFill/>
          <a:ln/>
        </p:spPr>
        <p:txBody>
          <a:bodyPr wrap="square" lIns="0" tIns="0" rIns="0" bIns="0" rtlCol="0" anchor="ctr"/>
          <a:lstStyle/>
          <a:p>
            <a:pPr indent="0" marL="0">
              <a:buNone/>
            </a:pPr>
            <a:r>
              <a:rPr lang="en-US" sz="2900" b="1" dirty="0">
                <a:solidFill>
                  <a:srgbClr val="083E4F"/>
                </a:solidFill>
                <a:latin typeface="Arial" pitchFamily="34" charset="0"/>
                <a:ea typeface="Arial" pitchFamily="34" charset="-122"/>
                <a:cs typeface="Arial" pitchFamily="34" charset="-120"/>
              </a:rPr>
              <a:t>Collaborative</a:t>
            </a:r>
            <a:endParaRPr lang="en-US" sz="2900" dirty="0"/>
          </a:p>
        </p:txBody>
      </p:sp>
      <p:sp>
        <p:nvSpPr>
          <p:cNvPr id="16" name="Text 14"/>
          <p:cNvSpPr/>
          <p:nvPr/>
        </p:nvSpPr>
        <p:spPr>
          <a:xfrm>
            <a:off x="8275320" y="3886200"/>
            <a:ext cx="3108960" cy="658368"/>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Developers propose.</a:t>
            </a:r>
            <a:endParaRPr lang="en-US" sz="2200" dirty="0"/>
          </a:p>
          <a:p>
            <a:pPr indent="0" marL="0">
              <a:buNone/>
            </a:pPr>
            <a:r>
              <a:rPr lang="en-US" sz="2200" dirty="0">
                <a:solidFill>
                  <a:srgbClr val="405965"/>
                </a:solidFill>
                <a:latin typeface="Arial" pitchFamily="34" charset="0"/>
                <a:ea typeface="Arial" pitchFamily="34" charset="-122"/>
                <a:cs typeface="Arial" pitchFamily="34" charset="-120"/>
              </a:rPr>
              <a:t>The platform runs it.</a:t>
            </a:r>
            <a:endParaRPr lang="en-US" sz="2200" dirty="0"/>
          </a:p>
        </p:txBody>
      </p:sp>
      <p:sp>
        <p:nvSpPr>
          <p:cNvPr id="17" name="Text 15"/>
          <p:cNvSpPr/>
          <p:nvPr/>
        </p:nvSpPr>
        <p:spPr>
          <a:xfrm>
            <a:off x="640080" y="4992624"/>
            <a:ext cx="10972800" cy="411480"/>
          </a:xfrm>
          <a:prstGeom prst="rect">
            <a:avLst/>
          </a:prstGeom>
          <a:noFill/>
          <a:ln/>
        </p:spPr>
        <p:txBody>
          <a:bodyPr wrap="square" lIns="0" tIns="0" rIns="0" bIns="0" rtlCol="0" anchor="ctr"/>
          <a:lstStyle/>
          <a:p>
            <a:pPr indent="0" marL="0">
              <a:buNone/>
            </a:pPr>
            <a:r>
              <a:rPr lang="en-US" sz="2600" b="1" dirty="0">
                <a:solidFill>
                  <a:srgbClr val="086679"/>
                </a:solidFill>
                <a:latin typeface="Arial" pitchFamily="34" charset="0"/>
                <a:ea typeface="Arial" pitchFamily="34" charset="-122"/>
                <a:cs typeface="Arial" pitchFamily="34" charset="-120"/>
              </a:rPr>
              <a:t>Self-hosted · Kubernetes / Helm, or a server</a:t>
            </a:r>
            <a:endParaRPr lang="en-US" sz="2600" dirty="0"/>
          </a:p>
        </p:txBody>
      </p:sp>
      <p:sp>
        <p:nvSpPr>
          <p:cNvPr id="18" name="Text 16"/>
          <p:cNvSpPr/>
          <p:nvPr/>
        </p:nvSpPr>
        <p:spPr>
          <a:xfrm>
            <a:off x="640080" y="5504688"/>
            <a:ext cx="10972800" cy="320040"/>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Today: alpha drift APIs · v0.47.1 command-injection fix</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OPEN SOURCE · CNCF SANDBOX · APACHE 2.0</a:t>
            </a:r>
            <a:endParaRPr lang="en-US" sz="1600" dirty="0"/>
          </a:p>
        </p:txBody>
      </p:sp>
      <p:sp>
        <p:nvSpPr>
          <p:cNvPr id="3" name="Text 1"/>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05</a:t>
            </a:r>
            <a:endParaRPr lang="en-US" sz="1200" dirty="0"/>
          </a:p>
        </p:txBody>
      </p:sp>
      <p:sp>
        <p:nvSpPr>
          <p:cNvPr id="4" name="Text 2"/>
          <p:cNvSpPr/>
          <p:nvPr/>
        </p:nvSpPr>
        <p:spPr>
          <a:xfrm>
            <a:off x="566928" y="960120"/>
            <a:ext cx="10972800" cy="914400"/>
          </a:xfrm>
          <a:prstGeom prst="rect">
            <a:avLst/>
          </a:prstGeom>
          <a:noFill/>
          <a:ln/>
        </p:spPr>
        <p:txBody>
          <a:bodyPr wrap="square" lIns="0" tIns="0" rIns="0" bIns="0" rtlCol="0" anchor="ctr"/>
          <a:lstStyle/>
          <a:p>
            <a:pPr indent="0" marL="0">
              <a:buNone/>
            </a:pPr>
            <a:r>
              <a:rPr lang="en-US" sz="4400" b="1" dirty="0">
                <a:solidFill>
                  <a:srgbClr val="083E4F"/>
                </a:solidFill>
                <a:latin typeface="Arial" pitchFamily="34" charset="0"/>
                <a:ea typeface="Arial" pitchFamily="34" charset="-122"/>
                <a:cs typeface="Arial" pitchFamily="34" charset="-120"/>
              </a:rPr>
              <a:t>Infrastructure is code.</a:t>
            </a:r>
            <a:endParaRPr lang="en-US" sz="4400" dirty="0"/>
          </a:p>
        </p:txBody>
      </p:sp>
      <p:sp>
        <p:nvSpPr>
          <p:cNvPr id="5" name="Text 3"/>
          <p:cNvSpPr/>
          <p:nvPr/>
        </p:nvSpPr>
        <p:spPr>
          <a:xfrm>
            <a:off x="566928" y="2176272"/>
            <a:ext cx="7406640" cy="2514600"/>
          </a:xfrm>
          <a:prstGeom prst="rect">
            <a:avLst/>
          </a:prstGeom>
          <a:noFill/>
          <a:ln/>
        </p:spPr>
        <p:txBody>
          <a:bodyPr wrap="square" lIns="0" tIns="0" rIns="0" bIns="0" rtlCol="0" anchor="ctr"/>
          <a:lstStyle/>
          <a:p>
            <a:pPr indent="0" marL="0">
              <a:buNone/>
            </a:pPr>
            <a:r>
              <a:rPr lang="en-US" sz="5100" b="1" dirty="0">
                <a:solidFill>
                  <a:srgbClr val="086679"/>
                </a:solidFill>
                <a:latin typeface="Arial" pitchFamily="34" charset="0"/>
                <a:ea typeface="Arial" pitchFamily="34" charset="-122"/>
                <a:cs typeface="Arial" pitchFamily="34" charset="-120"/>
              </a:rPr>
              <a:t>Plan it.</a:t>
            </a:r>
            <a:endParaRPr lang="en-US" sz="5100" dirty="0"/>
          </a:p>
          <a:p>
            <a:pPr indent="0" marL="0">
              <a:buNone/>
            </a:pPr>
            <a:r>
              <a:rPr lang="en-US" sz="5100" b="1" dirty="0">
                <a:solidFill>
                  <a:srgbClr val="086679"/>
                </a:solidFill>
                <a:latin typeface="Arial" pitchFamily="34" charset="0"/>
                <a:ea typeface="Arial" pitchFamily="34" charset="-122"/>
                <a:cs typeface="Arial" pitchFamily="34" charset="-120"/>
              </a:rPr>
              <a:t>Review it.</a:t>
            </a:r>
            <a:endParaRPr lang="en-US" sz="5100" dirty="0"/>
          </a:p>
          <a:p>
            <a:pPr indent="0" marL="0">
              <a:buNone/>
            </a:pPr>
            <a:r>
              <a:rPr lang="en-US" sz="5100" b="1" dirty="0">
                <a:solidFill>
                  <a:srgbClr val="086679"/>
                </a:solidFill>
                <a:latin typeface="Arial" pitchFamily="34" charset="0"/>
                <a:ea typeface="Arial" pitchFamily="34" charset="-122"/>
                <a:cs typeface="Arial" pitchFamily="34" charset="-120"/>
              </a:rPr>
              <a:t>Apply it.</a:t>
            </a:r>
            <a:endParaRPr lang="en-US" sz="5100" dirty="0"/>
          </a:p>
        </p:txBody>
      </p:sp>
      <p:sp>
        <p:nvSpPr>
          <p:cNvPr id="6" name="Text 4"/>
          <p:cNvSpPr/>
          <p:nvPr/>
        </p:nvSpPr>
        <p:spPr>
          <a:xfrm>
            <a:off x="566928" y="4864608"/>
            <a:ext cx="7589520" cy="594360"/>
          </a:xfrm>
          <a:prstGeom prst="rect">
            <a:avLst/>
          </a:prstGeom>
          <a:noFill/>
          <a:ln/>
        </p:spPr>
        <p:txBody>
          <a:bodyPr wrap="square" lIns="0" tIns="0" rIns="0" bIns="0" rtlCol="0" anchor="ctr"/>
          <a:lstStyle/>
          <a:p>
            <a:pPr indent="0" marL="0">
              <a:buNone/>
            </a:pPr>
            <a:r>
              <a:rPr lang="en-US" sz="3300" b="1" dirty="0">
                <a:solidFill>
                  <a:srgbClr val="083E4F"/>
                </a:solidFill>
                <a:latin typeface="Arial" pitchFamily="34" charset="0"/>
                <a:ea typeface="Arial" pitchFamily="34" charset="-122"/>
                <a:cs typeface="Arial" pitchFamily="34" charset="-120"/>
              </a:rPr>
              <a:t>From the pull request.</a:t>
            </a:r>
            <a:endParaRPr lang="en-US" sz="3300" dirty="0"/>
          </a:p>
        </p:txBody>
      </p:sp>
      <p:pic>
        <p:nvPicPr>
          <p:cNvPr id="7" name="Image 0" descr="QR code for https://www.runatlantis.io/">
            <a:hlinkClick r:id="rId2" tooltip=""/>
          </p:cNvPr>
          <p:cNvPicPr>
            <a:picLocks noChangeAspect="1"/>
          </p:cNvPicPr>
          <p:nvPr/>
        </p:nvPicPr>
        <p:blipFill>
          <a:blip r:embed="rId1"/>
          <a:stretch>
            <a:fillRect/>
          </a:stretch>
        </p:blipFill>
        <p:spPr>
          <a:xfrm>
            <a:off x="8339328" y="2231136"/>
            <a:ext cx="3017520" cy="3017520"/>
          </a:xfrm>
          <a:prstGeom prst="rect">
            <a:avLst/>
          </a:prstGeom>
        </p:spPr>
      </p:pic>
      <p:sp>
        <p:nvSpPr>
          <p:cNvPr id="8" name="Text 5">
            <a:hlinkClick r:id="rId3" tooltip=""/>
          </p:cNvPr>
          <p:cNvSpPr/>
          <p:nvPr/>
        </p:nvSpPr>
        <p:spPr>
          <a:xfrm>
            <a:off x="8119872" y="5431536"/>
            <a:ext cx="3456432" cy="393192"/>
          </a:xfrm>
          <a:prstGeom prst="rect">
            <a:avLst/>
          </a:prstGeom>
          <a:noFill/>
          <a:ln/>
        </p:spPr>
        <p:txBody>
          <a:bodyPr wrap="square" lIns="0" tIns="0" rIns="0" bIns="0" rtlCol="0" anchor="ctr"/>
          <a:lstStyle/>
          <a:p>
            <a:pPr algn="ctr" indent="0" marL="0">
              <a:buNone/>
            </a:pPr>
            <a:r>
              <a:rPr lang="en-US" sz="2700" b="1" u="sng" dirty="0">
                <a:solidFill>
                  <a:srgbClr val="086679"/>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runatlantis.io</a:t>
            </a:r>
            <a:endParaRPr lang="en-US" sz="2700" dirty="0"/>
          </a:p>
        </p:txBody>
      </p:sp>
      <p:sp>
        <p:nvSpPr>
          <p:cNvPr id="9" name="Text 6">
            <a:hlinkClick r:id="rId4" tooltip=""/>
          </p:cNvPr>
          <p:cNvSpPr/>
          <p:nvPr/>
        </p:nvSpPr>
        <p:spPr>
          <a:xfrm>
            <a:off x="566928" y="5559552"/>
            <a:ext cx="7772400" cy="347472"/>
          </a:xfrm>
          <a:prstGeom prst="rect">
            <a:avLst/>
          </a:prstGeom>
          <a:noFill/>
          <a:ln/>
        </p:spPr>
        <p:txBody>
          <a:bodyPr wrap="square" lIns="0" tIns="0" rIns="0" bIns="0" rtlCol="0" anchor="ctr"/>
          <a:lstStyle/>
          <a:p>
            <a:pPr indent="0" marL="0">
              <a:buNone/>
            </a:pPr>
            <a:r>
              <a:rPr lang="en-US" sz="2200" u="sng" dirty="0">
                <a:solidFill>
                  <a:srgbClr val="405965"/>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github.com/runatlantis/atlantis</a:t>
            </a:r>
            <a:endParaRPr lang="en-US" sz="2200" dirty="0"/>
          </a:p>
        </p:txBody>
      </p:sp>
    </p:spTree>
  </p:cSld>
  <p:clrMapOvr>
    <a:masterClrMapping/>
  </p:clrMapOvr>
</p:sld>
</file>

<file path=ppt/theme/conference_theme1.xml><?xml version="1.0" encoding="utf-8"?>
<a:theme xmlns:a="http://schemas.openxmlformats.org/drawingml/2006/main" name="OSSNA24">
  <a:themeElements>
    <a:clrScheme name="Custom 2">
      <a:dk1>
        <a:srgbClr val="000000"/>
      </a:dk1>
      <a:lt1>
        <a:srgbClr val="FFFFFF"/>
      </a:lt1>
      <a:dk2>
        <a:srgbClr val="000000"/>
      </a:dk2>
      <a:lt2>
        <a:srgbClr val="EEEEEE"/>
      </a:lt2>
      <a:accent1>
        <a:srgbClr val="083E4F"/>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Atlantis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Lightning Talk: Atlantis: Terraform Pull Request Automation for Cloud Native Teams</dc:title>
  <dc:subject>Five-minute CNCF Project Lightning Talk</dc:subject>
  <dc:creator>Rui Chen</dc:creator>
  <cp:lastModifiedBy>Rui Chen</cp:lastModifiedBy>
  <cp:revision>1</cp:revision>
  <dcterms:created xsi:type="dcterms:W3CDTF">2026-09-07T05:34:32Z</dcterms:created>
  <dcterms:modified xsi:type="dcterms:W3CDTF">2026-09-07T05:34:32Z</dcterms:modified>
</cp:coreProperties>
</file>