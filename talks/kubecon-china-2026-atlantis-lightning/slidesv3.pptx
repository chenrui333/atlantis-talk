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Masters/conference_slideMaster1.xml" ContentType="application/vnd.openxmlformats-officedocument.presentationml.slideMaster+xml"/>
  <Override PartName="/ppt/theme/conference_theme1.xml" ContentType="application/vnd.openxmlformats-officedocument.theme+xml"/>
  <Override PartName="/ppt/slideLayouts/conference_slideLayout1.xml" ContentType="application/vnd.openxmlformats-officedocument.presentationml.slideLayout+xml"/>
  <Override PartName="/ppt/slideLayouts/conference_slideLayout2.xml" ContentType="application/vnd.openxmlformats-officedocument.presentationml.slideLayout+xml"/>
  <Override PartName="/ppt/slideLayouts/conference_slideLayout3.xml" ContentType="application/vnd.openxmlformats-officedocument.presentationml.slideLayout+xml"/>
  <Override PartName="/ppt/slideLayouts/conference_slideLayout4.xml" ContentType="application/vnd.openxmlformats-officedocument.presentationml.slideLayout+xml"/>
  <Override PartName="/ppt/slideLayouts/conference_slideLayout5.xml" ContentType="application/vnd.openxmlformats-officedocument.presentationml.slideLayout+xml"/>
  <Override PartName="/ppt/slideLayouts/conference_slideLayout6.xml" ContentType="application/vnd.openxmlformats-officedocument.presentationml.slideLayout+xml"/>
  <Override PartName="/ppt/slideLayouts/conference_slideLayout7.xml" ContentType="application/vnd.openxmlformats-officedocument.presentationml.slideLayout+xml"/>
  <Override PartName="/ppt/slideLayouts/conference_slideLayout8.xml" ContentType="application/vnd.openxmlformats-officedocument.presentationml.slideLayout+xml"/>
  <Override PartName="/ppt/slideLayouts/conference_slideLayout9.xml" ContentType="application/vnd.openxmlformats-officedocument.presentationml.slideLayout+xml"/>
  <Override PartName="/ppt/slideLayouts/conference_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conference_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目标时间: 0:00–0:25 (25 seconds)
Chinese characters: 59 (English terms counted separately in timing.md)
提示: 先定义项目；不要展开个人介绍。
大家好，我是 Rui，Atlantis 的维护者。Atlantis 是一个开源服务，让团队在拉取请求里完成 Terraform 和 OpenTofu 的计划与执行。今天只记住一句话：基础设施变更，也应该在代码评审里完成。
转场: Advance after the final sentence.
超时可删:
None; retain this slide’s narration.
技术参考（不朗读）:
C01: Atlantis definition; C02: maintainer identity.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目标时间: 0:25–1:35 (70 seconds)
Chinese characters: 184 (English terms counted separately in timing.md)
提示: 沿图走一遍；在评审和执行条件处停顿。
很多团队已经把基础设施代码放进 Git，也有自动化流水线。但代码评审、执行计划和实际操作，有时仍然分散在不同地方。Atlantis 把这些步骤连在一起。开发者提交拉取请求，Git 平台通过 webhook 通知 Atlantis。它调用 Terraform 或 OpenTofu 生成计划，再把结果贴回请求。大家一起评审代码和计划，有权限的人发出 atlantis apply。Atlantis 检查配置好的执行条件，再执行变更、回传结果。这里要分清职责：Atlantis 负责组织流程，底层工具负责调用云 API 和管理状态。你也可以用通用 CI 自己搭；Atlantis 把项目识别、计划、执行和锁定这些专用流程打包好了。
转场: Advance after the final sentence.
超时可删:
你也可以用通用 CI 自己搭；Atlantis 把项目识别、计划、执行和锁定这些专用流程打包好了。
技术参考（不朗读）:
C01/C05/C06: Atlantis orchestrates VCS interaction, affected-project workflows, command requirements and reporting. Terraform/OpenTofu handles provider APIs and remote state/backend operations. The diagram combines plan and apply result arrows; they are separate events.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目标时间: 1:35–2:30 (55 seconds)
Chinese characters: 189 (English terms counted separately in timing.md)
提示: 读懂一项变更；不要复述架构。
看一个数据库扩容的例子。机器人说：不新增、不销毁，只修改一个资源。但变更小，不代表风险小。评审者还要看完整计划，确认是否重建实例、是否影响服务。批准之后，工程师直接在评论里请求执行，结果也留在同一段对话中。执行失败，就在原请求里修正。这个例子是在合并之前执行。对平台团队来说，价值是计划和结果可见，执行与凭据集中管理，开发者可以提议变更，平台规则控制如何执行。锁定机制帮助协调并发变更，但集中执行仍然需要可信仓库和合理权限。
转场: Advance after the final sentence.
超时可删:
执行失败，就在原请求里修正。
技术参考（不朗读）:
C18: Provider credentials are supplied to the Atlantis execution environment; this does not assert that all developer credentials disappear. Repo/server configuration controls requirements. Atlantis locks a directory/workspace across PRs; this is separate from Terraform state locking. Plan execution also needs trusted repositories and restricted permissions.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目标时间: 2:30–4:15 (105 seconds)
Chinese characters: 260 (English terms counted separately in timing.md)
提示: 先分清 Git 接入与云 Provider；再指出调查年份和样本量。
它也不是只服务于 GitHub 的机器人。比如企业自建的 GitLab，以及 Gitea 和兼容的 Forgejo，都在官方支持范围内。Gitee 没有列在官方支持清单里，不能因为同样使用 Git，就默认接口兼容。云厂商是另一层：通过对应的 Provider，可以管理阿里云、腾讯云等基础设施。这不是 Atlantis 自带两套云接口，而是由 Terraform 或 OpenTofu 调用相应工具；具体版本、资源支持和凭据仍要按 Provider 文档配置。Atlantis 本身可以用 Helm、容器或二进制部署，运行在 Kubernetes 上，并不意味着只能管理 Kubernetes。团队也能用自定义工作流接入 Terragrunt，或用 Conftest 做策略检查、Infracost 提供成本信息；这些都需要配置。右边是项目二〇二四年的调查，收到三百五十四份回复：GitHub 最多，GitLab 也有相当一部分；Terraform 占主导，约一半还使用 Terragrunt。这是历史社区反馈，不是市场份额。工具组合可以不同，拉取请求里的协作方式可以一致。
转场: Advance after the final sentence.
超时可删:
Gitee 没有列在官方支持清单里，不能因为同样使用 Git，就默认接口兼容。
团队也能用自定义工作流接入 Terragrunt，或用 Conftest 做策略检查、Infracost 提供成本信息；这些都需要配置。
技术参考（不朗读）:
P01–P07, S01–S05, CN01–CN03 in sources.md. Git provider support and cloud resource providers are separate interfaces. Alibaba Cloud/Tencent Cloud are provider examples, not an Atlantis-maintained compatibility promise. Gitee is not listed in official requirements; no absolute claim about every external plugin/fork is made. The 1.0 draft proposal remains reference-only in the ten-slide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目标时间: 4:15–4:55 (40 seconds)
Chinese characters: 102 (English terms counted separately in timing.md)
提示: 指向参与链接和展台信息；说完后保持这一页。
欢迎从文档开始，也欢迎来贡献代码、文档，或者分享你们在中国团队里的使用经验。社区每两周有一次会议，议程和日历链接都在这里。周二十点半到下午两点半，Atlantis 在 Grand Ballroom One 的 T 十展台，欢迎来交流。基础设施就是代码。先计划，再评审，再执行。都在拉取请求里完成。
转场: Hold the closing slide.
超时可删:
社区每两周有一次会议，议程和日历链接都在这里。
技术参考（不朗读）:
E03: Project Pavilion T-10, Tuesday September 8, 10:30–14:30, Grand Ballroom I. The slot extends into afternoon. This does not promise Rui is continuously present during the whole pavilion slot. Community meetings: every two weeks on Wednesday at 16:00 UTC. Official agenda/notes and calendar access: https://docs.google.com/document/d/1EzseHmT4Zarj-_7MO8ud5mHByIJGIHS7JdoNNK9ZckU/edit (verified against the public document and official v0.37.0 release announcement).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conference_slideLayout1.xml.rels><?xml version="1.0" encoding="utf-8"?><Relationships xmlns="http://schemas.openxmlformats.org/package/2006/relationships"><Relationship Id="rId3" Type="http://schemas.openxmlformats.org/officeDocument/2006/relationships/image" Target="../media/conference_image2.png"/><Relationship Id="rId2" Type="http://schemas.openxmlformats.org/officeDocument/2006/relationships/image" Target="../media/conference_image1.png"/><Relationship Id="rId1" Type="http://schemas.openxmlformats.org/officeDocument/2006/relationships/slideMaster" Target="../slideMasters/conference_slideMaster1.xml"/><Relationship Id="rId4" Type="http://schemas.openxmlformats.org/officeDocument/2006/relationships/image" Target="../media/conference_image3.svg"/></Relationships>
</file>

<file path=ppt/slideLayouts/_rels/conference_slideLayout2.xml.rels><?xml version="1.0" encoding="utf-8"?><Relationships xmlns="http://schemas.openxmlformats.org/package/2006/relationships"><Relationship Id="rId3" Type="http://schemas.openxmlformats.org/officeDocument/2006/relationships/image" Target="../media/conference_image2.png"/><Relationship Id="rId2" Type="http://schemas.openxmlformats.org/officeDocument/2006/relationships/image" Target="../media/conference_image1.png"/><Relationship Id="rId1" Type="http://schemas.openxmlformats.org/officeDocument/2006/relationships/slideMaster" Target="../slideMasters/conference_slideMaster1.xml"/><Relationship Id="rId4" Type="http://schemas.openxmlformats.org/officeDocument/2006/relationships/image" Target="../media/conference_image3.svg"/></Relationships>
</file>

<file path=ppt/slideLayouts/_rels/conference_slideLayout3.xml.rels><?xml version="1.0" encoding="utf-8"?><Relationships xmlns="http://schemas.openxmlformats.org/package/2006/relationships"><Relationship Id="rId3" Type="http://schemas.openxmlformats.org/officeDocument/2006/relationships/image" Target="../media/conference_image5.png"/><Relationship Id="rId2" Type="http://schemas.openxmlformats.org/officeDocument/2006/relationships/image" Target="../media/conference_image4.png"/><Relationship Id="rId1" Type="http://schemas.openxmlformats.org/officeDocument/2006/relationships/slideMaster" Target="../slideMasters/conference_slideMaster1.xml"/><Relationship Id="rId5" Type="http://schemas.openxmlformats.org/officeDocument/2006/relationships/image" Target="../media/conference_image3.svg"/><Relationship Id="rId4" Type="http://schemas.openxmlformats.org/officeDocument/2006/relationships/image" Target="../media/conference_image2.png"/></Relationships>
</file>

<file path=ppt/slideLayouts/_rels/conference_slideLayout4.xml.rels><?xml version="1.0" encoding="utf-8"?><Relationships xmlns="http://schemas.openxmlformats.org/package/2006/relationships"><Relationship Id="rId3" Type="http://schemas.openxmlformats.org/officeDocument/2006/relationships/image" Target="../media/conference_image7.png"/><Relationship Id="rId2" Type="http://schemas.openxmlformats.org/officeDocument/2006/relationships/image" Target="../media/conference_image6.png"/><Relationship Id="rId1" Type="http://schemas.openxmlformats.org/officeDocument/2006/relationships/slideMaster" Target="../slideMasters/conference_slideMaster1.xml"/><Relationship Id="rId5" Type="http://schemas.openxmlformats.org/officeDocument/2006/relationships/image" Target="../media/conference_image3.svg"/><Relationship Id="rId4" Type="http://schemas.openxmlformats.org/officeDocument/2006/relationships/image" Target="../media/conference_image2.png"/></Relationships>
</file>

<file path=ppt/slideLayouts/_rels/conference_slideLayout5.xml.rels><?xml version="1.0" encoding="utf-8"?><Relationships xmlns="http://schemas.openxmlformats.org/package/2006/relationships"><Relationship Id="rId3" Type="http://schemas.openxmlformats.org/officeDocument/2006/relationships/image" Target="../media/conference_image9.svg"/><Relationship Id="rId2" Type="http://schemas.openxmlformats.org/officeDocument/2006/relationships/image" Target="../media/conference_image8.png"/><Relationship Id="rId1" Type="http://schemas.openxmlformats.org/officeDocument/2006/relationships/slideMaster" Target="../slideMasters/conference_slideMaster1.xml"/></Relationships>
</file>

<file path=ppt/slideLayouts/_rels/conference_slideLayout6.xml.rels><?xml version="1.0" encoding="utf-8"?><Relationships xmlns="http://schemas.openxmlformats.org/package/2006/relationships"><Relationship Id="rId3" Type="http://schemas.openxmlformats.org/officeDocument/2006/relationships/image" Target="../media/conference_image3.svg"/><Relationship Id="rId2" Type="http://schemas.openxmlformats.org/officeDocument/2006/relationships/image" Target="../media/conference_image2.png"/><Relationship Id="rId1" Type="http://schemas.openxmlformats.org/officeDocument/2006/relationships/slideMaster" Target="../slideMasters/conference_slideMaster1.xml"/></Relationships>
</file>

<file path=ppt/slideLayouts/_rels/conference_slideLayout7.xml.rels><?xml version="1.0" encoding="utf-8"?><Relationships xmlns="http://schemas.openxmlformats.org/package/2006/relationships"><Relationship Id="rId3" Type="http://schemas.openxmlformats.org/officeDocument/2006/relationships/image" Target="../media/conference_image9.svg"/><Relationship Id="rId2" Type="http://schemas.openxmlformats.org/officeDocument/2006/relationships/image" Target="../media/conference_image8.png"/><Relationship Id="rId1" Type="http://schemas.openxmlformats.org/officeDocument/2006/relationships/slideMaster" Target="../slideMasters/conference_slideMaster1.xml"/></Relationships>
</file>

<file path=ppt/slideLayouts/_rels/conference_slideLayout8.xml.rels><?xml version="1.0" encoding="utf-8"?><Relationships xmlns="http://schemas.openxmlformats.org/package/2006/relationships"><Relationship Id="rId3" Type="http://schemas.openxmlformats.org/officeDocument/2006/relationships/image" Target="../media/conference_image9.svg"/><Relationship Id="rId2" Type="http://schemas.openxmlformats.org/officeDocument/2006/relationships/image" Target="../media/conference_image8.png"/><Relationship Id="rId1" Type="http://schemas.openxmlformats.org/officeDocument/2006/relationships/slideMaster" Target="../slideMasters/conference_slideMaster1.xml"/></Relationships>
</file>

<file path=ppt/slideLayouts/_rels/conference_slideLayout9.xml.rels><?xml version="1.0" encoding="utf-8"?><Relationships xmlns="http://schemas.openxmlformats.org/package/2006/relationships"><Relationship Id="rId3" Type="http://schemas.openxmlformats.org/officeDocument/2006/relationships/image" Target="../media/conference_image9.svg"/><Relationship Id="rId2" Type="http://schemas.openxmlformats.org/officeDocument/2006/relationships/image" Target="../media/conference_image8.png"/><Relationship Id="rId1" Type="http://schemas.openxmlformats.org/officeDocument/2006/relationships/slideMaster" Target="../slideMasters/conference_slideMaster1.xml"/></Relationships>
</file>

<file path=ppt/slideLayouts/_rels/conference_slideLayout10.xml.rels><?xml version="1.0" encoding="utf-8"?><Relationships xmlns="http://schemas.openxmlformats.org/package/2006/relationships"><Relationship Id="rId3" Type="http://schemas.openxmlformats.org/officeDocument/2006/relationships/image" Target="../media/conference_image2.png"/><Relationship Id="rId2" Type="http://schemas.openxmlformats.org/officeDocument/2006/relationships/image" Target="../media/conference_image10.png"/><Relationship Id="rId1" Type="http://schemas.openxmlformats.org/officeDocument/2006/relationships/slideMaster" Target="../slideMasters/conference_slideMaster1.xml"/><Relationship Id="rId4" Type="http://schemas.openxmlformats.org/officeDocument/2006/relationships/image" Target="../media/conference_image3.svg"/></Relationships>
</file>

<file path=ppt/slideLayouts/conference_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083E4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2"/>
          <p:cNvGrpSpPr/>
          <p:nvPr/>
        </p:nvGrpSpPr>
        <p:grpSpPr>
          <a:xfrm>
            <a:off x="0" y="0"/>
            <a:ext cx="12192000" cy="6861416"/>
            <a:chOff x="0" y="0"/>
            <a:chExt cx="12192000" cy="6861416"/>
          </a:xfrm>
        </p:grpSpPr>
        <p:pic>
          <p:nvPicPr>
            <p:cNvPr id="11" name="Google Shape;11;p12" descr="A green cityscape with a globe&#10;&#10;Description automatically generated"/>
            <p:cNvPicPr preferRelativeResize="0"/>
            <p:nvPr/>
          </p:nvPicPr>
          <p:blipFill rotWithShape="1">
            <a:blip r:embed="rId2">
              <a:alphaModFix/>
            </a:blip>
            <a:srcRect l="7975" r="3180"/>
            <a:stretch/>
          </p:blipFill>
          <p:spPr>
            <a:xfrm>
              <a:off x="0" y="0"/>
              <a:ext cx="12192000" cy="68614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2;p12"/>
            <p:cNvSpPr/>
            <p:nvPr/>
          </p:nvSpPr>
          <p:spPr>
            <a:xfrm>
              <a:off x="0" y="3375600"/>
              <a:ext cx="1750000" cy="1285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" name="Google Shape;13;p12"/>
          <p:cNvSpPr txBox="1">
            <a:spLocks noGrp="1"/>
          </p:cNvSpPr>
          <p:nvPr>
            <p:ph type="ctrTitle"/>
          </p:nvPr>
        </p:nvSpPr>
        <p:spPr>
          <a:xfrm>
            <a:off x="414953" y="1668595"/>
            <a:ext cx="10680268" cy="1940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ubTitle" idx="1"/>
          </p:nvPr>
        </p:nvSpPr>
        <p:spPr>
          <a:xfrm>
            <a:off x="414952" y="3608832"/>
            <a:ext cx="10680268" cy="812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33"/>
              <a:buNone/>
              <a:defRPr sz="3733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33"/>
              <a:buNone/>
              <a:defRPr sz="3733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33"/>
              <a:buNone/>
              <a:defRPr sz="3733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33"/>
              <a:buNone/>
              <a:defRPr sz="3733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33"/>
              <a:buNone/>
              <a:defRPr sz="3733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33"/>
              <a:buNone/>
              <a:defRPr sz="3733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33"/>
              <a:buNone/>
              <a:defRPr sz="3733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33"/>
              <a:buNone/>
              <a:defRPr sz="3733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33"/>
              <a:buNone/>
              <a:defRPr sz="37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12"/>
          <p:cNvSpPr txBox="1"/>
          <p:nvPr/>
        </p:nvSpPr>
        <p:spPr>
          <a:xfrm>
            <a:off x="6096000" y="238043"/>
            <a:ext cx="5673420" cy="615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</a:t>
            </a:r>
            <a:r>
              <a:rPr lang="en" sz="16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KubeCon</a:t>
            </a:r>
            <a:r>
              <a:rPr lang="en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#</a:t>
            </a:r>
            <a:r>
              <a:rPr lang="en" sz="16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CloudNativeCon</a:t>
            </a:r>
            <a:br>
              <a:rPr lang="en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OpenInfraSummit</a:t>
            </a:r>
            <a:r>
              <a:rPr lang="en-GB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#</a:t>
            </a:r>
            <a:r>
              <a:rPr lang="en-GB" sz="16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PyTorchCon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26DCC9B-2A07-45D4-4017-DC6D471084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952" y="239316"/>
            <a:ext cx="5688679" cy="930391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conference_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083E4F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13"/>
          <p:cNvGrpSpPr/>
          <p:nvPr/>
        </p:nvGrpSpPr>
        <p:grpSpPr>
          <a:xfrm>
            <a:off x="0" y="0"/>
            <a:ext cx="12192000" cy="6861416"/>
            <a:chOff x="0" y="0"/>
            <a:chExt cx="12192000" cy="6861416"/>
          </a:xfrm>
        </p:grpSpPr>
        <p:pic>
          <p:nvPicPr>
            <p:cNvPr id="19" name="Google Shape;19;p13" descr="A green cityscape with a globe&#10;&#10;Description automatically generated"/>
            <p:cNvPicPr preferRelativeResize="0"/>
            <p:nvPr/>
          </p:nvPicPr>
          <p:blipFill rotWithShape="1">
            <a:blip r:embed="rId2">
              <a:alphaModFix/>
            </a:blip>
            <a:srcRect l="7975" r="3180"/>
            <a:stretch/>
          </p:blipFill>
          <p:spPr>
            <a:xfrm>
              <a:off x="0" y="0"/>
              <a:ext cx="12192000" cy="68614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" name="Google Shape;20;p13"/>
            <p:cNvSpPr/>
            <p:nvPr/>
          </p:nvSpPr>
          <p:spPr>
            <a:xfrm>
              <a:off x="0" y="3375600"/>
              <a:ext cx="1750000" cy="1285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415600" y="2587384"/>
            <a:ext cx="113608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E2330E7-5222-0892-9C8D-9687A11B437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952" y="239316"/>
            <a:ext cx="5688679" cy="930391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conference_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1_Section header">
    <p:bg>
      <p:bgPr>
        <a:solidFill>
          <a:srgbClr val="083E4F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>
            <a:spLocks noGrp="1"/>
          </p:cNvSpPr>
          <p:nvPr>
            <p:ph type="title"/>
          </p:nvPr>
        </p:nvSpPr>
        <p:spPr>
          <a:xfrm>
            <a:off x="415600" y="2587384"/>
            <a:ext cx="113608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26" name="Google Shape;26;p14"/>
          <p:cNvGrpSpPr/>
          <p:nvPr/>
        </p:nvGrpSpPr>
        <p:grpSpPr>
          <a:xfrm>
            <a:off x="0" y="3998132"/>
            <a:ext cx="12192000" cy="2859868"/>
            <a:chOff x="133979" y="4029559"/>
            <a:chExt cx="12058021" cy="2828441"/>
          </a:xfrm>
        </p:grpSpPr>
        <p:pic>
          <p:nvPicPr>
            <p:cNvPr id="27" name="Google Shape;27;p14"/>
            <p:cNvPicPr preferRelativeResize="0"/>
            <p:nvPr/>
          </p:nvPicPr>
          <p:blipFill rotWithShape="1">
            <a:blip r:embed="rId2">
              <a:alphaModFix/>
            </a:blip>
            <a:srcRect r="14460"/>
            <a:stretch/>
          </p:blipFill>
          <p:spPr>
            <a:xfrm>
              <a:off x="3714663" y="4029559"/>
              <a:ext cx="8477337" cy="28284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Google Shape;28;p14"/>
            <p:cNvPicPr preferRelativeResize="0"/>
            <p:nvPr/>
          </p:nvPicPr>
          <p:blipFill rotWithShape="1">
            <a:blip r:embed="rId3">
              <a:alphaModFix/>
            </a:blip>
            <a:srcRect l="64144"/>
            <a:stretch/>
          </p:blipFill>
          <p:spPr>
            <a:xfrm>
              <a:off x="133979" y="5443779"/>
              <a:ext cx="3580685" cy="141422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53859CBE-6B18-D927-EE94-D8A879AB2F7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4952" y="239316"/>
            <a:ext cx="5688679" cy="930391"/>
          </a:xfrm>
          <a:prstGeom prst="rect">
            <a:avLst/>
          </a:prstGeom>
        </p:spPr>
      </p:pic>
    </p:spTree>
  </p:cSld>
  <p:clrMapOvr>
    <a:masterClrMapping/>
  </p:clrMapOvr>
</p:sldLayout>
</file>

<file path=ppt/slideLayouts/conference_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1_Section header 2">
    <p:bg>
      <p:bgPr>
        <a:solidFill>
          <a:srgbClr val="083E4F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>
            <a:spLocks noGrp="1"/>
          </p:cNvSpPr>
          <p:nvPr>
            <p:ph type="ctrTitle"/>
          </p:nvPr>
        </p:nvSpPr>
        <p:spPr>
          <a:xfrm>
            <a:off x="531069" y="1831156"/>
            <a:ext cx="10680268" cy="2699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ubTitle" idx="1"/>
          </p:nvPr>
        </p:nvSpPr>
        <p:spPr>
          <a:xfrm>
            <a:off x="531068" y="4530407"/>
            <a:ext cx="10680268" cy="893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33"/>
              <a:buNone/>
              <a:defRPr sz="3733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33"/>
              <a:buNone/>
              <a:defRPr sz="3733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33"/>
              <a:buNone/>
              <a:defRPr sz="3733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33"/>
              <a:buNone/>
              <a:defRPr sz="3733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33"/>
              <a:buNone/>
              <a:defRPr sz="3733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33"/>
              <a:buNone/>
              <a:defRPr sz="3733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33"/>
              <a:buNone/>
              <a:defRPr sz="3733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33"/>
              <a:buNone/>
              <a:defRPr sz="3733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33"/>
              <a:buNone/>
              <a:defRPr sz="37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32" name="Google Shape;32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721097" y="604044"/>
            <a:ext cx="3454400" cy="157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15"/>
          <p:cNvPicPr preferRelativeResize="0"/>
          <p:nvPr/>
        </p:nvPicPr>
        <p:blipFill rotWithShape="1">
          <a:blip r:embed="rId2">
            <a:alphaModFix/>
          </a:blip>
          <a:srcRect l="41002" b="9974"/>
          <a:stretch/>
        </p:blipFill>
        <p:spPr>
          <a:xfrm>
            <a:off x="-1" y="5440279"/>
            <a:ext cx="2038047" cy="1417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15"/>
          <p:cNvPicPr preferRelativeResize="0"/>
          <p:nvPr/>
        </p:nvPicPr>
        <p:blipFill rotWithShape="1">
          <a:blip r:embed="rId3">
            <a:alphaModFix/>
          </a:blip>
          <a:srcRect t="40037" r="35395" b="24793"/>
          <a:stretch/>
        </p:blipFill>
        <p:spPr>
          <a:xfrm>
            <a:off x="7853935" y="-1"/>
            <a:ext cx="433806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D0016DEC-A700-C8D3-8ED7-2F40D152C3D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4952" y="239316"/>
            <a:ext cx="5688679" cy="930391"/>
          </a:xfrm>
          <a:prstGeom prst="rect">
            <a:avLst/>
          </a:prstGeom>
        </p:spPr>
      </p:pic>
    </p:spTree>
  </p:cSld>
  <p:clrMapOvr>
    <a:masterClrMapping/>
  </p:clrMapOvr>
</p:sldLayout>
</file>

<file path=ppt/slideLayouts/conference_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lt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>
                <a:solidFill>
                  <a:srgbClr val="083E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4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6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1600"/>
            </a:lvl1pPr>
            <a:lvl2pPr marL="1219200" lvl="1" indent="-42333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2pPr>
            <a:lvl3pPr marL="1828800" lvl="2" indent="-42333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3pPr>
            <a:lvl4pPr marL="2438400" lvl="3" indent="-42333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67"/>
              <a:buChar char="●"/>
              <a:defRPr/>
            </a:lvl4pPr>
            <a:lvl5pPr marL="3048000" lvl="4" indent="-42333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5pPr>
            <a:lvl6pPr marL="3657600" lvl="5" indent="-42333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6pPr>
            <a:lvl7pPr marL="4267200" lvl="6" indent="-42333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67"/>
              <a:buChar char="●"/>
              <a:defRPr/>
            </a:lvl7pPr>
            <a:lvl8pPr marL="4876800" lvl="7" indent="-42333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8pPr>
            <a:lvl9pPr marL="5486400" lvl="8" indent="-42333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11044800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854D43B-6AB1-147E-1BEF-3B7B8CA552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5600" y="6150532"/>
            <a:ext cx="3097508" cy="5066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conference_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1_Title and body"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/>
          <p:nvPr/>
        </p:nvSpPr>
        <p:spPr>
          <a:xfrm>
            <a:off x="9467" y="7500"/>
            <a:ext cx="12182533" cy="1397200"/>
          </a:xfrm>
          <a:prstGeom prst="rect">
            <a:avLst/>
          </a:prstGeom>
          <a:solidFill>
            <a:srgbClr val="083E4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7"/>
          <p:cNvSpPr txBox="1">
            <a:spLocks noGrp="1"/>
          </p:cNvSpPr>
          <p:nvPr>
            <p:ph type="title"/>
          </p:nvPr>
        </p:nvSpPr>
        <p:spPr>
          <a:xfrm>
            <a:off x="415601" y="0"/>
            <a:ext cx="6869864" cy="1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9pPr>
          </a:lstStyle>
          <a:p>
            <a:endParaRPr dirty="0"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4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6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1600"/>
            </a:lvl1pPr>
            <a:lvl2pPr marL="1219200" lvl="1" indent="-42333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2pPr>
            <a:lvl3pPr marL="1828800" lvl="2" indent="-42333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3pPr>
            <a:lvl4pPr marL="2438400" lvl="3" indent="-42333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67"/>
              <a:buChar char="●"/>
              <a:defRPr/>
            </a:lvl4pPr>
            <a:lvl5pPr marL="3048000" lvl="4" indent="-42333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5pPr>
            <a:lvl6pPr marL="3657600" lvl="5" indent="-42333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6pPr>
            <a:lvl7pPr marL="4267200" lvl="6" indent="-42333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67"/>
              <a:buChar char="●"/>
              <a:defRPr/>
            </a:lvl7pPr>
            <a:lvl8pPr marL="4876800" lvl="7" indent="-42333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8pPr>
            <a:lvl9pPr marL="5486400" lvl="8" indent="-42333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sldNum" idx="12"/>
          </p:nvPr>
        </p:nvSpPr>
        <p:spPr>
          <a:xfrm>
            <a:off x="11044800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D78742C-108D-9408-D6DB-E8F8B8A074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06375" y="361489"/>
            <a:ext cx="4264715" cy="697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conference_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lt1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>
                <a:solidFill>
                  <a:srgbClr val="083E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4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600" lvl="0" indent="-42333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600"/>
            </a:lvl1pPr>
            <a:lvl2pPr marL="12192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8288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24384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3048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36576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42672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48768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54864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50" name="Google Shape;50;p18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4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600" lvl="0" indent="-42333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600"/>
            </a:lvl1pPr>
            <a:lvl2pPr marL="12192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8288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24384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3048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36576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42672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48768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54864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sldNum" idx="12"/>
          </p:nvPr>
        </p:nvSpPr>
        <p:spPr>
          <a:xfrm>
            <a:off x="11044800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E44EE6-2B97-D0C3-B694-1E87082403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5600" y="6150532"/>
            <a:ext cx="3097508" cy="5066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conference_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>
                <a:solidFill>
                  <a:srgbClr val="083E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9"/>
          <p:cNvSpPr txBox="1">
            <a:spLocks noGrp="1"/>
          </p:cNvSpPr>
          <p:nvPr>
            <p:ph type="sldNum" idx="12"/>
          </p:nvPr>
        </p:nvSpPr>
        <p:spPr>
          <a:xfrm>
            <a:off x="11044800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85FDC8E-54F0-6F05-42EE-9D2C823888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5600" y="6150532"/>
            <a:ext cx="3097508" cy="5066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conference_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0"/>
          <p:cNvSpPr txBox="1">
            <a:spLocks noGrp="1"/>
          </p:cNvSpPr>
          <p:nvPr>
            <p:ph type="sldNum" idx="12"/>
          </p:nvPr>
        </p:nvSpPr>
        <p:spPr>
          <a:xfrm>
            <a:off x="11044800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E1DFC6C-6771-8459-E441-CFAEECF17A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5600" y="6150532"/>
            <a:ext cx="3097508" cy="5066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conference_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Logo">
    <p:bg>
      <p:bgPr>
        <a:solidFill>
          <a:srgbClr val="00737C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089" y="0"/>
            <a:ext cx="1222217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BD2A404-4005-F016-A8A5-790A1FBDB8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951" y="238015"/>
            <a:ext cx="5673420" cy="92789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conference_slideMaster1.xml.rels><?xml version="1.0" encoding="utf-8"?><Relationships xmlns="http://schemas.openxmlformats.org/package/2006/relationships"><Relationship Id="rId8" Type="http://schemas.openxmlformats.org/officeDocument/2006/relationships/slideLayout" Target="../slideLayouts/conference_slideLayout8.xml"/><Relationship Id="rId3" Type="http://schemas.openxmlformats.org/officeDocument/2006/relationships/slideLayout" Target="../slideLayouts/conference_slideLayout3.xml"/><Relationship Id="rId7" Type="http://schemas.openxmlformats.org/officeDocument/2006/relationships/slideLayout" Target="../slideLayouts/conference_slideLayout7.xml"/><Relationship Id="rId2" Type="http://schemas.openxmlformats.org/officeDocument/2006/relationships/slideLayout" Target="../slideLayouts/conference_slideLayout2.xml"/><Relationship Id="rId1" Type="http://schemas.openxmlformats.org/officeDocument/2006/relationships/slideLayout" Target="../slideLayouts/conference_slideLayout1.xml"/><Relationship Id="rId6" Type="http://schemas.openxmlformats.org/officeDocument/2006/relationships/slideLayout" Target="../slideLayouts/conference_slideLayout6.xml"/><Relationship Id="rId11" Type="http://schemas.openxmlformats.org/officeDocument/2006/relationships/theme" Target="../theme/conference_theme1.xml"/><Relationship Id="rId5" Type="http://schemas.openxmlformats.org/officeDocument/2006/relationships/slideLayout" Target="../slideLayouts/conference_slideLayout5.xml"/><Relationship Id="rId10" Type="http://schemas.openxmlformats.org/officeDocument/2006/relationships/slideLayout" Target="../slideLayouts/conference_slideLayout10.xml"/><Relationship Id="rId4" Type="http://schemas.openxmlformats.org/officeDocument/2006/relationships/slideLayout" Target="../slideLayouts/conference_slideLayout4.xml"/><Relationship Id="rId9" Type="http://schemas.openxmlformats.org/officeDocument/2006/relationships/slideLayout" Target="../slideLayouts/conference_slideLayout9.xml"/></Relationships>
</file>

<file path=ppt/slideMasters/conference_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33"/>
              <a:buFont typeface="Arial"/>
              <a:buNone/>
              <a:defRPr sz="3733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33"/>
              <a:buFont typeface="Arial"/>
              <a:buNone/>
              <a:defRPr sz="37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33"/>
              <a:buFont typeface="Arial"/>
              <a:buNone/>
              <a:defRPr sz="37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33"/>
              <a:buFont typeface="Arial"/>
              <a:buNone/>
              <a:defRPr sz="37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33"/>
              <a:buFont typeface="Arial"/>
              <a:buNone/>
              <a:defRPr sz="37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33"/>
              <a:buFont typeface="Arial"/>
              <a:buNone/>
              <a:defRPr sz="37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33"/>
              <a:buFont typeface="Arial"/>
              <a:buNone/>
              <a:defRPr sz="37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33"/>
              <a:buFont typeface="Arial"/>
              <a:buNone/>
              <a:defRPr sz="37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33"/>
              <a:buFont typeface="Arial"/>
              <a:buNone/>
              <a:defRPr sz="37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600" marR="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200" marR="0" lvl="1" indent="-42333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Font typeface="Arial"/>
              <a:buChar char="○"/>
              <a:defRPr sz="18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800" marR="0" lvl="2" indent="-42333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Font typeface="Arial"/>
              <a:buChar char="■"/>
              <a:defRPr sz="18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400" marR="0" lvl="3" indent="-42333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Font typeface="Arial"/>
              <a:buChar char="●"/>
              <a:defRPr sz="18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8000" marR="0" lvl="4" indent="-42333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Font typeface="Arial"/>
              <a:buChar char="○"/>
              <a:defRPr sz="18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600" marR="0" lvl="5" indent="-42333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Font typeface="Arial"/>
              <a:buChar char="■"/>
              <a:defRPr sz="18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200" marR="0" lvl="6" indent="-42333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Font typeface="Arial"/>
              <a:buChar char="●"/>
              <a:defRPr sz="18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800" marR="0" lvl="7" indent="-42333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Font typeface="Arial"/>
              <a:buChar char="○"/>
              <a:defRPr sz="18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400" marR="0" lvl="8" indent="-42333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Font typeface="Arial"/>
              <a:buChar char="■"/>
              <a:defRPr sz="18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sldNum" idx="12"/>
          </p:nvPr>
        </p:nvSpPr>
        <p:spPr>
          <a:xfrm>
            <a:off x="11044800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sz="1333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conference_slideLayout2.xml"/><Relationship Id="rId4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conference_slideLayout5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conference_slideLayout5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hyperlink" Target="https://www.runatlantis.io/blog/2024/april-2024-survey-results" TargetMode="External"/><Relationship Id="rId2" Type="http://schemas.openxmlformats.org/officeDocument/2006/relationships/slideLayout" Target="../slideLayouts/conference_slideLayout5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hyperlink" Target="https://www.runatlantis.io/docs" TargetMode="External"/><Relationship Id="rId2" Type="http://schemas.openxmlformats.org/officeDocument/2006/relationships/hyperlink" Target="https://github.com/runatlantis/atlantis" TargetMode="External"/><Relationship Id="rId4" Type="http://schemas.openxmlformats.org/officeDocument/2006/relationships/hyperlink" Target="https://www.runatlantis.io/" TargetMode="External"/><Relationship Id="rId5" Type="http://schemas.openxmlformats.org/officeDocument/2006/relationships/hyperlink" Target="https://docs.google.com/document/d/1EzseHmT4Zarj-_7MO8ud5mHByIJGIHS7JdoNNK9ZckU/edit" TargetMode="External"/><Relationship Id="rId6" Type="http://schemas.openxmlformats.org/officeDocument/2006/relationships/hyperlink" Target="https://www.lfopensource.cn/kubecon-cloudnativecon-openinfra-summit-pytorch-conference-china/features-add-ons/project-engagement/#project-table-directory" TargetMode="External"/><Relationship Id="rId3" Type="http://schemas.openxmlformats.org/officeDocument/2006/relationships/image" Target="../media/image-5-1.png"/><Relationship Id="rId7" Type="http://schemas.openxmlformats.org/officeDocument/2006/relationships/slideLayout" Target="../slideLayouts/conference_slideLayout5.xml"/><Relationship Id="rId8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898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LIGHTNING TALK: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66928" y="1856232"/>
            <a:ext cx="7955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Atlantis:</a:t>
            </a:r>
            <a:endParaRPr lang="en-US" sz="6000" dirty="0"/>
          </a:p>
        </p:txBody>
      </p:sp>
      <p:pic>
        <p:nvPicPr>
          <p:cNvPr id="4" name="Image 0" descr="Official Atlantis project logo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0" y="1563624"/>
            <a:ext cx="1143000" cy="1143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2898648"/>
            <a:ext cx="8229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Pull Request Automation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Cloud Native Teams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566928" y="41970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Rui Chen  ·  Atlantis Maintainer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66928" y="4672584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Shanghai, China  ·  September 8,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866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→ REVIEW → APPLY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83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pull request becomes the workflow.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05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423160"/>
            <a:ext cx="3337560" cy="1234440"/>
          </a:xfrm>
          <a:prstGeom prst="rect">
            <a:avLst/>
          </a:prstGeom>
          <a:solidFill>
            <a:srgbClr val="EAF1F3"/>
          </a:solidFill>
          <a:ln w="12700">
            <a:solidFill>
              <a:srgbClr val="EAF1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560320"/>
            <a:ext cx="29352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83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32688" y="3044952"/>
            <a:ext cx="2935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05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+ plan review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589520" y="2423160"/>
            <a:ext cx="3794760" cy="1234440"/>
          </a:xfrm>
          <a:prstGeom prst="rect">
            <a:avLst/>
          </a:prstGeom>
          <a:solidFill>
            <a:srgbClr val="EAF1F3"/>
          </a:solidFill>
          <a:ln w="12700">
            <a:solidFill>
              <a:srgbClr val="EAF1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90688" y="2560320"/>
            <a:ext cx="33924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83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Atlantis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7790688" y="3044952"/>
            <a:ext cx="3392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05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orchestration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251960" y="2788920"/>
            <a:ext cx="3154680" cy="0"/>
          </a:xfrm>
          <a:prstGeom prst="line">
            <a:avLst/>
          </a:prstGeom>
          <a:noFill/>
          <a:ln w="25400">
            <a:solidFill>
              <a:srgbClr val="086679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160520" y="228600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866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· apply request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7406640" y="3566160"/>
            <a:ext cx="-3154680" cy="0"/>
          </a:xfrm>
          <a:prstGeom prst="line">
            <a:avLst/>
          </a:prstGeom>
          <a:noFill/>
          <a:ln w="25400">
            <a:solidFill>
              <a:srgbClr val="086679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160520" y="30632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866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+ apply results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589520" y="382219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866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Configured requirements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491472" y="4370832"/>
            <a:ext cx="0" cy="347472"/>
          </a:xfrm>
          <a:prstGeom prst="line">
            <a:avLst/>
          </a:prstGeom>
          <a:noFill/>
          <a:ln w="25400">
            <a:solidFill>
              <a:srgbClr val="086679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498080" y="48006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3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/ OpenTofu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388352" y="5394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405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 · state · infrastructure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14400" y="3977640"/>
            <a:ext cx="0" cy="1353312"/>
          </a:xfrm>
          <a:prstGeom prst="line">
            <a:avLst/>
          </a:prstGeom>
          <a:noFill/>
          <a:ln w="25400">
            <a:solidFill>
              <a:srgbClr val="A6BAC1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1188720" y="4370832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866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stay with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0866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pull request.</a:t>
            </a:r>
            <a:endParaRPr lang="en-US" sz="3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866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 EXPERIENCE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83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change. One PR conversation.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05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" y="21488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3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infra: resize production database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87552" y="2926080"/>
            <a:ext cx="0" cy="2130552"/>
          </a:xfrm>
          <a:prstGeom prst="line">
            <a:avLst/>
          </a:prstGeom>
          <a:noFill/>
          <a:ln w="25400">
            <a:solidFill>
              <a:srgbClr val="A6BAC1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886968" y="2862072"/>
            <a:ext cx="201168" cy="201168"/>
          </a:xfrm>
          <a:prstGeom prst="ellipse">
            <a:avLst/>
          </a:prstGeom>
          <a:solidFill>
            <a:srgbClr val="086679"/>
          </a:solidFill>
          <a:ln w="12700">
            <a:solidFill>
              <a:srgbClr val="0866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27614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05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Atlantis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063240" y="2688336"/>
            <a:ext cx="8183880" cy="530352"/>
          </a:xfrm>
          <a:prstGeom prst="rect">
            <a:avLst/>
          </a:prstGeom>
          <a:solidFill>
            <a:srgbClr val="EAF1F3"/>
          </a:solidFill>
          <a:ln w="12700">
            <a:solidFill>
              <a:srgbClr val="EAF1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276148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83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Plan: 0 to add, 1 to change, 0 to destroy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886968" y="3566160"/>
            <a:ext cx="201168" cy="201168"/>
          </a:xfrm>
          <a:prstGeom prst="ellipse">
            <a:avLst/>
          </a:prstGeom>
          <a:solidFill>
            <a:srgbClr val="086679"/>
          </a:solidFill>
          <a:ln w="12700">
            <a:solidFill>
              <a:srgbClr val="0866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53312" y="346557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05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46120" y="3465576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083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2500" dirty="0"/>
          </a:p>
        </p:txBody>
      </p:sp>
      <p:sp>
        <p:nvSpPr>
          <p:cNvPr id="14" name="Shape 12"/>
          <p:cNvSpPr/>
          <p:nvPr/>
        </p:nvSpPr>
        <p:spPr>
          <a:xfrm>
            <a:off x="886968" y="4270248"/>
            <a:ext cx="201168" cy="201168"/>
          </a:xfrm>
          <a:prstGeom prst="ellipse">
            <a:avLst/>
          </a:prstGeom>
          <a:solidFill>
            <a:srgbClr val="086679"/>
          </a:solidFill>
          <a:ln w="12700">
            <a:solidFill>
              <a:srgbClr val="0866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53312" y="416966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05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Rui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063240" y="4096512"/>
            <a:ext cx="8183880" cy="530352"/>
          </a:xfrm>
          <a:prstGeom prst="rect">
            <a:avLst/>
          </a:prstGeom>
          <a:solidFill>
            <a:srgbClr val="EAF1F3"/>
          </a:solidFill>
          <a:ln w="12700">
            <a:solidFill>
              <a:srgbClr val="EAF1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4169664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83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atlantis apply</a:t>
            </a:r>
            <a:endParaRPr lang="en-US" sz="2500" dirty="0"/>
          </a:p>
        </p:txBody>
      </p:sp>
      <p:sp>
        <p:nvSpPr>
          <p:cNvPr id="18" name="Shape 16"/>
          <p:cNvSpPr/>
          <p:nvPr/>
        </p:nvSpPr>
        <p:spPr>
          <a:xfrm>
            <a:off x="886968" y="4974336"/>
            <a:ext cx="201168" cy="201168"/>
          </a:xfrm>
          <a:prstGeom prst="ellipse">
            <a:avLst/>
          </a:prstGeom>
          <a:solidFill>
            <a:srgbClr val="086679"/>
          </a:solidFill>
          <a:ln w="12700">
            <a:solidFill>
              <a:srgbClr val="0866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53312" y="487375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05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Atlantis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246120" y="487375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083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complete.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804672" y="565099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05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PR · approval requirement configured · apply before merge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866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+ COMMUNITY EVIDENCE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83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Atlantis in the IaC ecosystem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05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2743200" cy="1234440"/>
          </a:xfrm>
          <a:prstGeom prst="rect">
            <a:avLst/>
          </a:prstGeom>
          <a:solidFill>
            <a:srgbClr val="EAF1F3"/>
          </a:solidFill>
          <a:ln w="12700">
            <a:solidFill>
              <a:srgbClr val="EAF1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468880"/>
            <a:ext cx="23408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83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providers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32688" y="2953512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05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or self-hosted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160520" y="2331720"/>
            <a:ext cx="2743200" cy="1234440"/>
          </a:xfrm>
          <a:prstGeom prst="rect">
            <a:avLst/>
          </a:prstGeom>
          <a:solidFill>
            <a:srgbClr val="EAF1F3"/>
          </a:solidFill>
          <a:ln w="12700">
            <a:solidFill>
              <a:srgbClr val="EAF1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61688" y="2468880"/>
            <a:ext cx="23408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83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Atlantis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4361688" y="2953512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05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orchestration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3611880" y="2926080"/>
            <a:ext cx="384048" cy="0"/>
          </a:xfrm>
          <a:prstGeom prst="line">
            <a:avLst/>
          </a:prstGeom>
          <a:noFill/>
          <a:ln w="25400">
            <a:solidFill>
              <a:srgbClr val="086679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532120" y="3703320"/>
            <a:ext cx="0" cy="365760"/>
          </a:xfrm>
          <a:prstGeom prst="line">
            <a:avLst/>
          </a:prstGeom>
          <a:noFill/>
          <a:ln w="25400">
            <a:solidFill>
              <a:srgbClr val="086679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68680" y="418795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83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/ OpenTofu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868680" y="473659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866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providers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868680" y="523036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05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Alibaba Cloud · Tencent Cloud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7360920" y="2286000"/>
            <a:ext cx="0" cy="3529584"/>
          </a:xfrm>
          <a:prstGeom prst="line">
            <a:avLst/>
          </a:prstGeom>
          <a:noFill/>
          <a:ln w="25400">
            <a:solidFill>
              <a:srgbClr val="A6BAC1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7726680" y="221284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0866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354</a:t>
            </a:r>
            <a:endParaRPr lang="en-US" sz="6800" dirty="0"/>
          </a:p>
        </p:txBody>
      </p:sp>
      <p:sp>
        <p:nvSpPr>
          <p:cNvPr id="18" name="Text 16"/>
          <p:cNvSpPr/>
          <p:nvPr/>
        </p:nvSpPr>
        <p:spPr>
          <a:xfrm>
            <a:off x="7726680" y="31821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05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responses · 2024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726680" y="382219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083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leads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083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GitLab sizeable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7726680" y="491032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083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half also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083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Terragrunt</a:t>
            </a:r>
            <a:endParaRPr lang="en-US" sz="25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731520" y="5724144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u="sng" dirty="0">
                <a:solidFill>
                  <a:srgbClr val="40596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Atlantis User Survey · 2024 · n=354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866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· CNCF SANDBOX · APACHE 2.0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183112" y="6510528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05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83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is code.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66928" y="2212848"/>
            <a:ext cx="52120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900" b="1" dirty="0">
                <a:solidFill>
                  <a:srgbClr val="0866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it.</a:t>
            </a:r>
            <a:endParaRPr lang="en-US" sz="4900" dirty="0"/>
          </a:p>
          <a:p>
            <a:pPr indent="0" marL="0">
              <a:buNone/>
            </a:pPr>
            <a:r>
              <a:rPr lang="en-US" sz="4900" b="1" dirty="0">
                <a:solidFill>
                  <a:srgbClr val="0866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it.</a:t>
            </a:r>
            <a:endParaRPr lang="en-US" sz="4900" dirty="0"/>
          </a:p>
          <a:p>
            <a:pPr indent="0" marL="0">
              <a:buNone/>
            </a:pPr>
            <a:r>
              <a:rPr lang="en-US" sz="4900" b="1" dirty="0">
                <a:solidFill>
                  <a:srgbClr val="0866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it.</a:t>
            </a:r>
            <a:endParaRPr lang="en-US" sz="4900" dirty="0"/>
          </a:p>
        </p:txBody>
      </p:sp>
      <p:sp>
        <p:nvSpPr>
          <p:cNvPr id="6" name="Text 4"/>
          <p:cNvSpPr/>
          <p:nvPr/>
        </p:nvSpPr>
        <p:spPr>
          <a:xfrm>
            <a:off x="566928" y="5084064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3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pull request.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623560" y="2240280"/>
            <a:ext cx="0" cy="3547872"/>
          </a:xfrm>
          <a:prstGeom prst="line">
            <a:avLst/>
          </a:prstGeom>
          <a:noFill/>
          <a:ln w="25400">
            <a:solidFill>
              <a:srgbClr val="A6BAC1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5943600" y="2240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66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</a:t>
            </a:r>
            <a:endParaRPr lang="en-US" sz="180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5943600" y="26334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u="sng" dirty="0">
                <a:solidFill>
                  <a:srgbClr val="083E4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runatlantis.io/docs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5943600" y="32186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66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800" dirty="0"/>
          </a:p>
        </p:txBody>
      </p:sp>
      <p:sp>
        <p:nvSpPr>
          <p:cNvPr id="11" name="Text 9">
            <a:hlinkClick r:id="rId2" tooltip=""/>
          </p:cNvPr>
          <p:cNvSpPr/>
          <p:nvPr/>
        </p:nvSpPr>
        <p:spPr>
          <a:xfrm>
            <a:off x="5943600" y="356616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u="sng" dirty="0">
                <a:solidFill>
                  <a:srgbClr val="083E4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</a:t>
            </a:r>
            <a:endParaRPr lang="en-US" sz="2200" dirty="0"/>
          </a:p>
          <a:p>
            <a:pPr indent="0" marL="0">
              <a:buNone/>
            </a:pPr>
            <a:r>
              <a:rPr lang="en-US" sz="2200" u="sng" dirty="0">
                <a:solidFill>
                  <a:srgbClr val="083E4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runatlantis/atlantis</a:t>
            </a:r>
            <a:endParaRPr lang="en-US" sz="2200" dirty="0"/>
          </a:p>
        </p:txBody>
      </p:sp>
      <p:pic>
        <p:nvPicPr>
          <p:cNvPr id="12" name="Image 0" descr="QR code for https://www.runatlantis.io/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4312" y="2176272"/>
            <a:ext cx="2176272" cy="217627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943600" y="45079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66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943600" y="4846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83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Biweekly · Wed 16:00 UTC</a:t>
            </a:r>
            <a:endParaRPr lang="en-US" sz="2200" dirty="0"/>
          </a:p>
        </p:txBody>
      </p:sp>
      <p:sp>
        <p:nvSpPr>
          <p:cNvPr id="15" name="Text 12">
            <a:hlinkClick r:id="rId5" tooltip=""/>
          </p:cNvPr>
          <p:cNvSpPr/>
          <p:nvPr/>
        </p:nvSpPr>
        <p:spPr>
          <a:xfrm>
            <a:off x="5943600" y="523951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u="sng" dirty="0">
                <a:solidFill>
                  <a:srgbClr val="08667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Agenda / notes + add to calendar</a:t>
            </a:r>
            <a:endParaRPr lang="en-US" sz="2100" dirty="0"/>
          </a:p>
        </p:txBody>
      </p:sp>
      <p:sp>
        <p:nvSpPr>
          <p:cNvPr id="16" name="Text 13">
            <a:hlinkClick r:id="rId6" tooltip=""/>
          </p:cNvPr>
          <p:cNvSpPr/>
          <p:nvPr/>
        </p:nvSpPr>
        <p:spPr>
          <a:xfrm>
            <a:off x="566928" y="5815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u="sng" dirty="0">
                <a:solidFill>
                  <a:srgbClr val="40596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 Pavilion · T-10 · Tue 10:30–14:30 · Grand Ballroom I</a:t>
            </a:r>
            <a:endParaRPr lang="en-US" sz="1900" dirty="0"/>
          </a:p>
        </p:txBody>
      </p:sp>
    </p:spTree>
  </p:cSld>
  <p:clrMapOvr>
    <a:masterClrMapping/>
  </p:clrMapOvr>
</p:sld>
</file>

<file path=ppt/theme/conference_theme1.xml><?xml version="1.0" encoding="utf-8"?>
<a:theme xmlns:a="http://schemas.openxmlformats.org/drawingml/2006/main" name="OSSNA24">
  <a:themeElements>
    <a:clrScheme name="Custom 2">
      <a:dk1>
        <a:srgbClr val="000000"/>
      </a:dk1>
      <a:lt1>
        <a:srgbClr val="FFFFFF"/>
      </a:lt1>
      <a:dk2>
        <a:srgbClr val="000000"/>
      </a:dk2>
      <a:lt2>
        <a:srgbClr val="EEEEEE"/>
      </a:lt2>
      <a:accent1>
        <a:srgbClr val="083E4F"/>
      </a:accent1>
      <a:accent2>
        <a:srgbClr val="262267"/>
      </a:accent2>
      <a:accent3>
        <a:srgbClr val="305BA9"/>
      </a:accent3>
      <a:accent4>
        <a:srgbClr val="B0DDFF"/>
      </a:accent4>
      <a:accent5>
        <a:srgbClr val="FFC217"/>
      </a:accent5>
      <a:accent6>
        <a:srgbClr val="FFA35F"/>
      </a:accent6>
      <a:hlink>
        <a:srgbClr val="FF7F15"/>
      </a:hlink>
      <a:folHlink>
        <a:srgbClr val="FFA35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Atlantis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Lightning Talk: Atlantis: Terraform Pull Request Automation for Cloud Native Teams</dc:title>
  <dc:subject>Five-minute CNCF Project Lightning Talk</dc:subject>
  <dc:creator>Rui Chen</dc:creator>
  <cp:lastModifiedBy>Rui Chen</cp:lastModifiedBy>
  <cp:revision>1</cp:revision>
  <dcterms:created xsi:type="dcterms:W3CDTF">2026-09-08T01:01:21Z</dcterms:created>
  <dcterms:modified xsi:type="dcterms:W3CDTF">2026-09-08T01:01:21Z</dcterms:modified>
</cp:coreProperties>
</file>